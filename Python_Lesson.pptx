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90" r:id="rId5"/>
    <p:sldId id="293" r:id="rId6"/>
    <p:sldId id="295" r:id="rId7"/>
    <p:sldId id="296" r:id="rId8"/>
    <p:sldId id="297" r:id="rId9"/>
    <p:sldId id="261" r:id="rId10"/>
    <p:sldId id="267" r:id="rId11"/>
    <p:sldId id="266" r:id="rId12"/>
    <p:sldId id="268" r:id="rId13"/>
    <p:sldId id="264" r:id="rId14"/>
    <p:sldId id="265" r:id="rId15"/>
    <p:sldId id="270" r:id="rId16"/>
    <p:sldId id="271" r:id="rId17"/>
    <p:sldId id="298" r:id="rId18"/>
    <p:sldId id="299" r:id="rId19"/>
    <p:sldId id="300"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D0B381F-0D83-D15B-4933-E72AAC03CE51}">
          <p14:sldIdLst>
            <p14:sldId id="256"/>
            <p14:sldId id="257"/>
          </p14:sldIdLst>
        </p14:section>
        <p14:section name="Foundations" id="{3D41914A-515D-326A-ACA1-ACE08BFF972A}">
          <p14:sldIdLst>
            <p14:sldId id="258"/>
            <p14:sldId id="290"/>
            <p14:sldId id="293"/>
            <p14:sldId id="295"/>
            <p14:sldId id="296"/>
            <p14:sldId id="297"/>
            <p14:sldId id="261"/>
          </p14:sldIdLst>
        </p14:section>
        <p14:section name="Your Machine" id="{353450CA-9BDF-264E-59EF-4DC52F628B59}">
          <p14:sldIdLst>
            <p14:sldId id="267"/>
            <p14:sldId id="266"/>
            <p14:sldId id="268"/>
            <p14:sldId id="264"/>
            <p14:sldId id="265"/>
          </p14:sldIdLst>
        </p14:section>
        <p14:section name="Running Code" id="{E6BEF864-ADF1-F6E0-26EF-E3D846557859}">
          <p14:sldIdLst>
            <p14:sldId id="270"/>
            <p14:sldId id="271"/>
            <p14:sldId id="298"/>
            <p14:sldId id="299"/>
            <p14:sldId id="300"/>
            <p14:sldId id="273"/>
            <p14:sldId id="274"/>
          </p14:sldIdLst>
        </p14:section>
        <p14:section name="Git &amp; GitHub" id="{9F5D3D80-AC0B-EED3-1C35-C0FC6D6011BE}">
          <p14:sldIdLst>
            <p14:sldId id="275"/>
            <p14:sldId id="276"/>
            <p14:sldId id="277"/>
            <p14:sldId id="278"/>
            <p14:sldId id="279"/>
            <p14:sldId id="280"/>
          </p14:sldIdLst>
        </p14:section>
        <p14:section name="Final Task" id="{F122D17F-CE77-6EF7-6EBC-8A1601869D4E}">
          <p14:sldIdLst>
            <p14:sldId id="281"/>
            <p14:sldId id="282"/>
            <p14:sldId id="283"/>
            <p14:sldId id="284"/>
            <p14:sldId id="285"/>
            <p14:sldId id="286"/>
            <p14:sldId id="287"/>
          </p14:sldIdLst>
        </p14:section>
        <p14:section name="Recap" id="{E411D4BB-4CE9-1648-8599-9F518E3B31E3}">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70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lesson takes you from 'what is Python?' to running a real open-source tool from GitHub: the Signal Android backup decryptor.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Each builds on the one before, and the final task 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ideas you need before touching the keyboard.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language is the umbrella term for any language used to communicate with a computer. Programming languages give instructions. Markup languages (HTML, XML) label content: HTML describes web pages, XML stores and transports data in a structured way. CSS styles how things look. SQL queries databases. Shell languages like PowerShell let you type commands, which you'll use later in this lesson. Only programming languages are divided into high-level and low-level.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33188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programming language is a set of words, symbols and rules for writing instructions a computer can follow. One common way to group them is by level, also called generations. 1GL machine code and 2GL assembly are low-level: close to the hardware. 3GL general-purpose languages such as C, C++, Java and Python, 4GL very high-level languages such as SQL, and 5GL logic/AI languages such as Prolog are high-level. Python is a 3GL.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78973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Paradigm means the style of writing code. Imperative: you tell the computer how, step by step. Procedural/structured programming organises steps into procedures and uses only sequence, selection (if/else) and loops. Object-oriented programming bundles data and the actions on it into objects. Declarative: you describe what result you want. Functional programming combines pure functions; logic programming uses facts and rules. Python is multi-paradigm: it supports structured, object-oriented and functional styles. Translation: compiled languages are translated ahead of time into an .exe; interpreted languages are translated while running; Java and C# compile to bytecode that a virtual machine runs. Python is usually called interpreted, and behind the scenes it also compiles to bytecode, as the 'How Python Code Gets Executed' slide shows.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08162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the previous slides together. Among computer languages, Python is a programming language: it gives instructions, unlike markup (HTML, XML), style (CSS) or query (SQL) languages. By level, it is high-level, a third-generation (3GL) language. By translation, it is interpreted: python.exe reads and runs your code while it runs, and behind the scenes it first turns your code into bytecode for the Python Virtual Machine. By paradigm, it is multi-paradigm: you can write structured, object-oriented or functional code. It was created by Guido van Rossum and first released in 1991.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45383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Python file ends in .py. Write the code in any editor (VS Code, or even Notepad) and save it as add.py. Run it one of three ways. A) VS Code: install the Python extension, open add.py and click the Run (▶) button at the top-right; the output appears in the terminal panel. B) Command Prompt: cd into the folder where add.py is saved, then type python add.py. C) PowerShell: exactly the same command. All three print: The sum is 8. Bonus: make it interactive with a = int(input("First number: ")) and b = int(input("Second number: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79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Python first compiles your .py file into bytecode: a simplified, in-between set of instructions that is easier for a computer than Python code but is not machine code. Bytecode is often saved as a .pyc file (Python Compiled) in a __pycache__ folder, so the next run can skip that step. A virtual machine is a program that behaves like a pretend computer: the Python Virtual Machine (PVM), inside python.exe, reads the bytecode and carries out each instruction. Key takeaway: a Python program cannot run by itself; it always needs python.exe, which is why you install Python. Try: import dis; dis.dis(some_function) to see bytecode.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typing python opens the Microsoft Store: Settings → Apps → Advanced app settings → App execution aliases, and turn off the two python entries.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use .. a lot in the final task: ..\unlocked means 'a folder called unlocked, one level up'.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PATH is a short list of places to look. If python.exe isn't in any of them, Windows gives up, even if Python is installed.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getting your Windows computer ready.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PowerShell accepts most CMD-style commands too. Tab completion saves a lot of typos.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actually running Python.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hello.py contains: name = input("What's your name? ") then print(f"Hello, {name}! Python is working.").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module is simply one .py file containing reusable code such as functions; you use it with import. Python ships with many built-in modules like math, random and sys. A package is a folder that groups several modules together; the __init__.py file marks the folder as a package. Packages written by other people are installed with pip, which is the next slide. To make your own module: save mytools.py with an add function, save main.py in the same folder with import mytools, then run python main.py and it prints 8. To make it a package, put the module in a folder with an __init__.py file and import it with from mathkit.basic import add. Two ways to import: import math, then use math.sqrt(16) with the module name in front; or from mytools import add, then call add(5, 3) directly.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60507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Arguments are extra words typed after the script name. import sys loads Python's system tools, and sys.argv is the list of everything typed after the word python. Running python greet.py Alice gives the list ['greet.py', 'Alice']. Python counts from 0, so sys.argv[0] is always the script's name and sys.argv[1] is the first real argument. Try python greet.py Peter: the output changes without editing the code.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69578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8's add.py had the numbers written inside the code. Using sys.argv, the same program adds any two numbers you type: python add.py 5 3 prints 8, python add.py 10 20 prints 30. Arguments always arrive as text, so int() converts them to numbers before adding. The Signal tool works the same way: sys.argv[1] is the backup file and sys.argv[2] is the output folder. That is how one program works for everyone's backup.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55154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-m pip guarantees pip installs into the same Python you'll run, which avoids confusing 'I installed it but it's not found' problems.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requirements are illustrative; open the real requirements.txt after cloning to see what the Signal tool actually needs. Activation changes your prompt to show (.venv).</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how code is versioned and shared.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Git from git-scm.com/download/win. The installer adds Git to PATH for you, the same idea as Part 7.</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git status often. git show HEAD~1:hello.py views the previous version of a file without changing anything.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source: the code is public, so anyone can read it, check it's safe, and suggest improvements. The Signal tool's README thanks two outside contributors.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clone URL comes from the green Code button, HTTPS tab.</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in, read the README, venv, install, run. Memorise this sequence and most Python projects become approachable.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the capstone.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scrambles data so only someone with the key can read it. The tool simply applies your key.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passphrase is shown only once. Treat it like a password.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python or git is 'not recognized', go back to the PATH slides.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tool complains that the output folder doesn't exist, create it first: mkdir ..\unlocked.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Browser for SQLite is free at sqlitebrowser.org. Browse the tables to find messages.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signalbackup-tools (github.com/bepaald/signalbackup-tools) is actively maintained and can export to readable formats.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Next steps: try the Part-by-Part exercises in LESSON.md, then explore other Python projects on GitHub using the same routine.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93776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926080"/>
            <a:ext cx="4937760" cy="91440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548640" y="2971800"/>
            <a:ext cx="7132320" cy="8229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
        <p:nvSpPr>
          <p:cNvPr id="5" name="Text 0"/>
          <p:cNvSpPr>
            <a:spLocks noGrp="1"/>
          </p:cNvSpPr>
          <p:nvPr>
            <p:ph type="body" idx="103" hasCustomPrompt="1"/>
          </p:nvPr>
        </p:nvSpPr>
        <p:spPr>
          <a:xfrm>
            <a:off x="548640" y="4069080"/>
            <a:ext cx="8046720" cy="365760"/>
          </a:xfrm>
          <a:prstGeom prst="rect">
            <a:avLst/>
          </a:prstGeom>
          <a:noFill/>
          <a:ln/>
        </p:spPr>
        <p:txBody>
          <a:bodyPr wrap="square" rtlCol="0"/>
          <a:lstStyle>
            <a:lvl1pPr marL="0" indent="0">
              <a:buNone/>
              <a:defRPr lang="en-US" sz="1400" dirty="0">
                <a:solidFill>
                  <a:schemeClr val="accent5"/>
                </a:solidFill>
              </a:defRPr>
            </a:lvl1pPr>
          </a:lstStyle>
          <a:p>
            <a:pPr marL="0" indent="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From Zero to Running Code · Python, Git &amp; GitHub</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From Zero to Running Code · Python, Git &amp; GitHub</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2103120" y="1114864"/>
            <a:ext cx="4937760" cy="1554480"/>
          </a:xfrm>
          <a:prstGeom prst="rect">
            <a:avLst/>
          </a:prstGeom>
          <a:noFill/>
          <a:ln/>
        </p:spPr>
        <p:txBody>
          <a:bodyPr wrap="square" lIns="0" tIns="0" rIns="0" bIns="0" rtlCol="0" anchor="b"/>
          <a:lstStyle/>
          <a:p>
            <a:pPr marL="0" indent="0" algn="l">
              <a:buNone/>
            </a:pPr>
            <a:r>
              <a:rPr lang="en-US" sz="4000" b="1" dirty="0">
                <a:solidFill>
                  <a:schemeClr val="bg1"/>
                </a:solidFill>
              </a:rPr>
              <a:t>Python Foundation</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1600">
        <p14:glitter pattern="hexago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The Roadmap</a:t>
            </a:r>
            <a:endParaRPr lang="en-US" sz="3200" dirty="0"/>
          </a:p>
        </p:txBody>
      </p:sp>
      <p:sp>
        <p:nvSpPr>
          <p:cNvPr id="3" name="Card 8"/>
          <p:cNvSpPr/>
          <p:nvPr/>
        </p:nvSpPr>
        <p:spPr>
          <a:xfrm>
            <a:off x="466344" y="2148840"/>
            <a:ext cx="1554480" cy="137160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Badge 9"/>
          <p:cNvSpPr/>
          <p:nvPr/>
        </p:nvSpPr>
        <p:spPr>
          <a:xfrm>
            <a:off x="630936" y="2331720"/>
            <a:ext cx="457200" cy="457200"/>
          </a:xfrm>
          <a:prstGeom prst="ellipse">
            <a:avLst/>
          </a:prstGeom>
          <a:solidFill>
            <a:schemeClr val="accent2"/>
          </a:solidFill>
          <a:ln w="12700">
            <a:solidFill>
              <a:schemeClr val="accent2"/>
            </a:solidFill>
            <a:prstDash val="solid"/>
          </a:ln>
        </p:spPr>
        <p:txBody>
          <a:bodyPr/>
          <a:lstStyle/>
          <a:p>
            <a:endParaRPr lang="en-ZM"/>
          </a:p>
        </p:txBody>
      </p:sp>
      <p:sp>
        <p:nvSpPr>
          <p:cNvPr id="5" name="Text 10"/>
          <p:cNvSpPr txBox="1"/>
          <p:nvPr/>
        </p:nvSpPr>
        <p:spPr>
          <a:xfrm>
            <a:off x="630936" y="2331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11"/>
          <p:cNvSpPr txBox="1"/>
          <p:nvPr/>
        </p:nvSpPr>
        <p:spPr>
          <a:xfrm>
            <a:off x="630936" y="2926080"/>
            <a:ext cx="1280160" cy="365760"/>
          </a:xfrm>
          <a:prstGeom prst="rect">
            <a:avLst/>
          </a:prstGeom>
          <a:noFill/>
          <a:ln/>
        </p:spPr>
        <p:txBody>
          <a:bodyPr wrap="square" lIns="0" tIns="0" rIns="0" bIns="0" rtlCol="0" anchor="t"/>
          <a:lstStyle/>
          <a:p>
            <a:pPr marL="0" indent="0">
              <a:buNone/>
            </a:pPr>
            <a:r>
              <a:rPr lang="en-US" sz="1600" b="1" dirty="0">
                <a:solidFill>
                  <a:schemeClr val="tx1"/>
                </a:solidFill>
              </a:rPr>
              <a:t>Foundations</a:t>
            </a:r>
            <a:endParaRPr lang="en-US" sz="1600" dirty="0"/>
          </a:p>
        </p:txBody>
      </p:sp>
      <p:sp>
        <p:nvSpPr>
          <p:cNvPr id="8" name="Card 13"/>
          <p:cNvSpPr/>
          <p:nvPr/>
        </p:nvSpPr>
        <p:spPr>
          <a:xfrm>
            <a:off x="2130552" y="2148840"/>
            <a:ext cx="1358236" cy="137160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9" name="Badge 14"/>
          <p:cNvSpPr/>
          <p:nvPr/>
        </p:nvSpPr>
        <p:spPr>
          <a:xfrm>
            <a:off x="2295144" y="2331720"/>
            <a:ext cx="457200" cy="457200"/>
          </a:xfrm>
          <a:prstGeom prst="ellipse">
            <a:avLst/>
          </a:prstGeom>
          <a:solidFill>
            <a:schemeClr val="accent2"/>
          </a:solidFill>
          <a:ln w="12700">
            <a:solidFill>
              <a:schemeClr val="accent2"/>
            </a:solidFill>
            <a:prstDash val="solid"/>
          </a:ln>
        </p:spPr>
        <p:txBody>
          <a:bodyPr/>
          <a:lstStyle/>
          <a:p>
            <a:endParaRPr lang="en-ZM"/>
          </a:p>
        </p:txBody>
      </p:sp>
      <p:sp>
        <p:nvSpPr>
          <p:cNvPr id="10" name="Text 15"/>
          <p:cNvSpPr txBox="1"/>
          <p:nvPr/>
        </p:nvSpPr>
        <p:spPr>
          <a:xfrm>
            <a:off x="2295144" y="2331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1" name="Text 16"/>
          <p:cNvSpPr txBox="1"/>
          <p:nvPr/>
        </p:nvSpPr>
        <p:spPr>
          <a:xfrm>
            <a:off x="2295144" y="2926080"/>
            <a:ext cx="1280160" cy="365760"/>
          </a:xfrm>
          <a:prstGeom prst="rect">
            <a:avLst/>
          </a:prstGeom>
          <a:noFill/>
          <a:ln/>
        </p:spPr>
        <p:txBody>
          <a:bodyPr wrap="square" lIns="0" tIns="0" rIns="0" bIns="0" rtlCol="0" anchor="t"/>
          <a:lstStyle/>
          <a:p>
            <a:pPr marL="0" indent="0">
              <a:buNone/>
            </a:pPr>
            <a:r>
              <a:rPr lang="en-US" sz="1600" b="1" dirty="0">
                <a:solidFill>
                  <a:schemeClr val="tx1"/>
                </a:solidFill>
              </a:rPr>
              <a:t>Your Machine</a:t>
            </a:r>
            <a:endParaRPr lang="en-US" sz="1600" dirty="0"/>
          </a:p>
        </p:txBody>
      </p:sp>
      <p:sp>
        <p:nvSpPr>
          <p:cNvPr id="13" name="Card 18"/>
          <p:cNvSpPr/>
          <p:nvPr/>
        </p:nvSpPr>
        <p:spPr>
          <a:xfrm>
            <a:off x="3575304" y="2148840"/>
            <a:ext cx="1938528" cy="137160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4" name="Badge 19"/>
          <p:cNvSpPr/>
          <p:nvPr/>
        </p:nvSpPr>
        <p:spPr>
          <a:xfrm>
            <a:off x="3959352" y="2331720"/>
            <a:ext cx="457200" cy="457200"/>
          </a:xfrm>
          <a:prstGeom prst="ellipse">
            <a:avLst/>
          </a:prstGeom>
          <a:solidFill>
            <a:schemeClr val="accent2"/>
          </a:solidFill>
          <a:ln w="12700">
            <a:solidFill>
              <a:schemeClr val="accent2"/>
            </a:solidFill>
            <a:prstDash val="solid"/>
          </a:ln>
        </p:spPr>
        <p:txBody>
          <a:bodyPr/>
          <a:lstStyle/>
          <a:p>
            <a:endParaRPr lang="en-ZM"/>
          </a:p>
        </p:txBody>
      </p:sp>
      <p:sp>
        <p:nvSpPr>
          <p:cNvPr id="15" name="Text 20"/>
          <p:cNvSpPr txBox="1"/>
          <p:nvPr/>
        </p:nvSpPr>
        <p:spPr>
          <a:xfrm>
            <a:off x="3959352" y="2331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6" name="Text 21"/>
          <p:cNvSpPr txBox="1"/>
          <p:nvPr/>
        </p:nvSpPr>
        <p:spPr>
          <a:xfrm>
            <a:off x="3630168" y="2926080"/>
            <a:ext cx="1883664" cy="365760"/>
          </a:xfrm>
          <a:prstGeom prst="rect">
            <a:avLst/>
          </a:prstGeom>
          <a:noFill/>
          <a:ln/>
        </p:spPr>
        <p:txBody>
          <a:bodyPr wrap="square" lIns="0" tIns="0" rIns="0" bIns="0" rtlCol="0" anchor="t"/>
          <a:lstStyle/>
          <a:p>
            <a:pPr marL="0" indent="0">
              <a:buNone/>
            </a:pPr>
            <a:r>
              <a:rPr lang="en-US" sz="1600" b="1" dirty="0">
                <a:solidFill>
                  <a:schemeClr val="tx1"/>
                </a:solidFill>
              </a:rPr>
              <a:t>Running python Code</a:t>
            </a:r>
            <a:endParaRPr lang="en-US" sz="1600" dirty="0"/>
          </a:p>
        </p:txBody>
      </p:sp>
      <p:sp>
        <p:nvSpPr>
          <p:cNvPr id="18" name="Card 23"/>
          <p:cNvSpPr/>
          <p:nvPr/>
        </p:nvSpPr>
        <p:spPr>
          <a:xfrm>
            <a:off x="5600348" y="2148840"/>
            <a:ext cx="1413100" cy="137160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9" name="Badge 24"/>
          <p:cNvSpPr/>
          <p:nvPr/>
        </p:nvSpPr>
        <p:spPr>
          <a:xfrm>
            <a:off x="5623560" y="2331720"/>
            <a:ext cx="457200" cy="457200"/>
          </a:xfrm>
          <a:prstGeom prst="ellipse">
            <a:avLst/>
          </a:prstGeom>
          <a:solidFill>
            <a:schemeClr val="accent2"/>
          </a:solidFill>
          <a:ln w="12700">
            <a:solidFill>
              <a:schemeClr val="accent2"/>
            </a:solidFill>
            <a:prstDash val="solid"/>
          </a:ln>
        </p:spPr>
        <p:txBody>
          <a:bodyPr/>
          <a:lstStyle/>
          <a:p>
            <a:endParaRPr lang="en-ZM"/>
          </a:p>
        </p:txBody>
      </p:sp>
      <p:sp>
        <p:nvSpPr>
          <p:cNvPr id="20" name="Text 25"/>
          <p:cNvSpPr txBox="1"/>
          <p:nvPr/>
        </p:nvSpPr>
        <p:spPr>
          <a:xfrm>
            <a:off x="5623560" y="2331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1" name="Text 26"/>
          <p:cNvSpPr txBox="1"/>
          <p:nvPr/>
        </p:nvSpPr>
        <p:spPr>
          <a:xfrm>
            <a:off x="5733288" y="2926080"/>
            <a:ext cx="1280160" cy="365760"/>
          </a:xfrm>
          <a:prstGeom prst="rect">
            <a:avLst/>
          </a:prstGeom>
          <a:noFill/>
          <a:ln/>
        </p:spPr>
        <p:txBody>
          <a:bodyPr wrap="square" lIns="0" tIns="0" rIns="0" bIns="0" rtlCol="0" anchor="t"/>
          <a:lstStyle/>
          <a:p>
            <a:pPr marL="0" indent="0">
              <a:buNone/>
            </a:pPr>
            <a:r>
              <a:rPr lang="en-US" sz="1600" b="1" dirty="0">
                <a:solidFill>
                  <a:schemeClr val="tx1"/>
                </a:solidFill>
              </a:rPr>
              <a:t>Git &amp; GitHub</a:t>
            </a:r>
            <a:endParaRPr lang="en-US" sz="1600" dirty="0"/>
          </a:p>
        </p:txBody>
      </p:sp>
      <p:sp>
        <p:nvSpPr>
          <p:cNvPr id="23" name="Card 28"/>
          <p:cNvSpPr/>
          <p:nvPr/>
        </p:nvSpPr>
        <p:spPr>
          <a:xfrm>
            <a:off x="7123176" y="2148840"/>
            <a:ext cx="1554480" cy="137160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24" name="Badge 29"/>
          <p:cNvSpPr/>
          <p:nvPr/>
        </p:nvSpPr>
        <p:spPr>
          <a:xfrm>
            <a:off x="7287768" y="2331720"/>
            <a:ext cx="457200" cy="457200"/>
          </a:xfrm>
          <a:prstGeom prst="ellipse">
            <a:avLst/>
          </a:prstGeom>
          <a:solidFill>
            <a:schemeClr val="accent4"/>
          </a:solidFill>
          <a:ln w="12700">
            <a:solidFill>
              <a:schemeClr val="accent4"/>
            </a:solidFill>
            <a:prstDash val="solid"/>
          </a:ln>
        </p:spPr>
        <p:txBody>
          <a:bodyPr/>
          <a:lstStyle/>
          <a:p>
            <a:endParaRPr lang="en-ZM"/>
          </a:p>
        </p:txBody>
      </p:sp>
      <p:sp>
        <p:nvSpPr>
          <p:cNvPr id="25" name="Text 30"/>
          <p:cNvSpPr txBox="1"/>
          <p:nvPr/>
        </p:nvSpPr>
        <p:spPr>
          <a:xfrm>
            <a:off x="7287768" y="2331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6" name="Text 31"/>
          <p:cNvSpPr txBox="1"/>
          <p:nvPr/>
        </p:nvSpPr>
        <p:spPr>
          <a:xfrm>
            <a:off x="7287768" y="2926080"/>
            <a:ext cx="1280160" cy="365760"/>
          </a:xfrm>
          <a:prstGeom prst="rect">
            <a:avLst/>
          </a:prstGeom>
          <a:noFill/>
          <a:ln/>
        </p:spPr>
        <p:txBody>
          <a:bodyPr wrap="square" lIns="0" tIns="0" rIns="0" bIns="0" rtlCol="0" anchor="t"/>
          <a:lstStyle/>
          <a:p>
            <a:pPr marL="0" indent="0">
              <a:buNone/>
            </a:pPr>
            <a:r>
              <a:rPr lang="en-US" sz="1600" b="1" dirty="0">
                <a:solidFill>
                  <a:schemeClr val="tx1"/>
                </a:solidFill>
              </a:rPr>
              <a:t>Final Task</a:t>
            </a:r>
            <a:endParaRPr lang="en-US" sz="1600" dirty="0"/>
          </a:p>
        </p:txBody>
      </p:sp>
      <p:sp>
        <p:nvSpPr>
          <p:cNvPr id="28"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lIns="0" tIns="0" rIns="0" bIns="0" rtlCol="0" anchor="b"/>
          <a:lstStyle/>
          <a:p>
            <a:pPr marL="0" indent="0">
              <a:buNone/>
            </a:pPr>
            <a:r>
              <a:rPr lang="en-US" sz="6000" b="1" dirty="0">
                <a:solidFill>
                  <a:schemeClr val="accent1"/>
                </a:solidFill>
              </a:rPr>
              <a:t>01</a:t>
            </a: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Foundations</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1800">
        <p14:honeycomb/>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Computer Language</a:t>
            </a:r>
            <a:endParaRPr lang="en-US" sz="32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
        <p:nvSpPr>
          <p:cNvPr id="3" name="Card 1"/>
          <p:cNvSpPr/>
          <p:nvPr/>
        </p:nvSpPr>
        <p:spPr>
          <a:xfrm>
            <a:off x="457200" y="1097280"/>
            <a:ext cx="8229600" cy="685800"/>
          </a:xfrm>
          <a:prstGeom prst="roundRect">
            <a:avLst>
              <a:gd name="adj" fmla="val 10667"/>
            </a:avLst>
          </a:prstGeom>
          <a:solidFill>
            <a:schemeClr val="tx1"/>
          </a:solidFill>
          <a:ln w="12700">
            <a:solidFill>
              <a:schemeClr val="tx1"/>
            </a:solidFill>
            <a:prstDash val="solid"/>
          </a:ln>
        </p:spPr>
        <p:txBody>
          <a:bodyPr/>
          <a:lstStyle/>
          <a:p>
            <a:endParaRPr lang="en-ZM"/>
          </a:p>
        </p:txBody>
      </p:sp>
      <p:sp>
        <p:nvSpPr>
          <p:cNvPr id="4" name="Text 2"/>
          <p:cNvSpPr txBox="1"/>
          <p:nvPr/>
        </p:nvSpPr>
        <p:spPr>
          <a:xfrm>
            <a:off x="685800" y="1097280"/>
            <a:ext cx="7772400" cy="685800"/>
          </a:xfrm>
          <a:prstGeom prst="rect">
            <a:avLst/>
          </a:prstGeom>
          <a:noFill/>
          <a:ln/>
        </p:spPr>
        <p:txBody>
          <a:bodyPr wrap="square" lIns="0" tIns="0" rIns="0" bIns="0" rtlCol="0" anchor="ctr"/>
          <a:lstStyle/>
          <a:p>
            <a:pPr marL="0" indent="0">
              <a:buNone/>
            </a:pPr>
            <a:r>
              <a:rPr lang="en-US" sz="1600" b="1" dirty="0">
                <a:solidFill>
                  <a:schemeClr val="accent1"/>
                </a:solidFill>
              </a:rPr>
              <a:t>Computer language </a:t>
            </a:r>
            <a:r>
              <a:rPr lang="en-US" sz="1600" dirty="0">
                <a:solidFill>
                  <a:schemeClr val="bg1"/>
                </a:solidFill>
              </a:rPr>
              <a:t>is the big umbrella. It covers any language used to communicate with a computer, including:</a:t>
            </a:r>
            <a:endParaRPr lang="en-US" sz="1600" dirty="0"/>
          </a:p>
        </p:txBody>
      </p:sp>
      <p:graphicFrame>
        <p:nvGraphicFramePr>
          <p:cNvPr id="5" name="Table 3"/>
          <p:cNvGraphicFramePr>
            <a:graphicFrameLocks noGrp="1"/>
          </p:cNvGraphicFramePr>
          <p:nvPr>
            <p:extLst>
              <p:ext uri="{D42A27DB-BD31-4B8C-83A1-F6EECF244321}">
                <p14:modId xmlns:p14="http://schemas.microsoft.com/office/powerpoint/2010/main" val="2936322240"/>
              </p:ext>
            </p:extLst>
          </p:nvPr>
        </p:nvGraphicFramePr>
        <p:xfrm>
          <a:off x="457200" y="1901952"/>
          <a:ext cx="8229600" cy="2511552"/>
        </p:xfrm>
        <a:graphic>
          <a:graphicData uri="http://schemas.openxmlformats.org/drawingml/2006/table">
            <a:tbl>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93192">
                <a:tc>
                  <a:txBody>
                    <a:bodyPr/>
                    <a:lstStyle/>
                    <a:p>
                      <a:pPr marL="0" indent="0">
                        <a:buNone/>
                      </a:pPr>
                      <a:r>
                        <a:rPr lang="en-US" sz="1300" b="1" dirty="0">
                          <a:solidFill>
                            <a:schemeClr val="bg1"/>
                          </a:solidFill>
                        </a:rPr>
                        <a:t>Kind</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What it does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Examples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chemeClr val="tx1"/>
                          </a:solidFill>
                        </a:rPr>
                        <a:t>Programming languages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300" dirty="0">
                          <a:solidFill>
                            <a:schemeClr val="tx1"/>
                          </a:solidFill>
                        </a:rPr>
                        <a:t>Give the computer step-by-step instructions to do things: calculate, decide, repeat</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tx1"/>
                          </a:solidFill>
                        </a:rPr>
                        <a:t>Python, C, Java, Assembly</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chemeClr val="tx1"/>
                          </a:solidFill>
                        </a:rPr>
                        <a:t>Markup languages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Label and structure content. HTML builds web pages; XML stores and shares data</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HTML, XML</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chemeClr val="tx1"/>
                          </a:solidFill>
                        </a:rPr>
                        <a:t>Style languages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Control how content looks: colours, fonts, layout</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CSS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chemeClr val="tx1"/>
                          </a:solidFill>
                        </a:rPr>
                        <a:t>Query languages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Ask a database for data, or change it</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SQL</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chemeClr val="tx1"/>
                          </a:solidFill>
                        </a:rPr>
                        <a:t>Command (shell) languages</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Type commands to control the computer directly</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PowerShell, CMD, Bash</a:t>
                      </a:r>
                      <a:endParaRPr lang="en-US" sz="1300" dirty="0"/>
                    </a:p>
                  </a:txBody>
                  <a:tcPr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6" name="Text 4"/>
          <p:cNvSpPr txBox="1"/>
          <p:nvPr/>
        </p:nvSpPr>
        <p:spPr>
          <a:xfrm>
            <a:off x="457200" y="4507992"/>
            <a:ext cx="8229600" cy="228600"/>
          </a:xfrm>
          <a:prstGeom prst="rect">
            <a:avLst/>
          </a:prstGeom>
          <a:noFill/>
          <a:ln/>
        </p:spPr>
        <p:txBody>
          <a:bodyPr wrap="square" lIns="0" tIns="0" rIns="0" bIns="0" rtlCol="0" anchor="t"/>
          <a:lstStyle/>
          <a:p>
            <a:pPr marL="0" indent="0">
              <a:buNone/>
            </a:pPr>
            <a:r>
              <a:rPr lang="en-US" sz="1200" i="1" dirty="0">
                <a:solidFill>
                  <a:schemeClr val="tx2"/>
                </a:solidFill>
              </a:rPr>
              <a:t>High-level and low-level (next slide) are the two types of programming languages, the highlighted row.</a:t>
            </a:r>
            <a:endParaRPr lang="en-US" sz="1200" dirty="0"/>
          </a:p>
        </p:txBody>
      </p:sp>
    </p:spTree>
    <p:extLst>
      <p:ext uri="{BB962C8B-B14F-4D97-AF65-F5344CB8AC3E}">
        <p14:creationId xmlns:p14="http://schemas.microsoft.com/office/powerpoint/2010/main" val="4013898401"/>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Programming Language</a:t>
            </a:r>
            <a:endParaRPr lang="en-US" sz="3200" dirty="0"/>
          </a:p>
        </p:txBody>
      </p:sp>
      <p:sp>
        <p:nvSpPr>
          <p:cNvPr id="37"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3" name="Card 1"/>
          <p:cNvSpPr/>
          <p:nvPr/>
        </p:nvSpPr>
        <p:spPr>
          <a:xfrm>
            <a:off x="457200" y="1051560"/>
            <a:ext cx="8229600" cy="548640"/>
          </a:xfrm>
          <a:prstGeom prst="roundRect">
            <a:avLst>
              <a:gd name="adj" fmla="val 13333"/>
            </a:avLst>
          </a:prstGeom>
          <a:solidFill>
            <a:schemeClr val="tx1"/>
          </a:solidFill>
          <a:ln w="12700">
            <a:solidFill>
              <a:schemeClr val="tx1"/>
            </a:solidFill>
            <a:prstDash val="solid"/>
          </a:ln>
        </p:spPr>
        <p:txBody>
          <a:bodyPr/>
          <a:lstStyle/>
          <a:p>
            <a:endParaRPr lang="en-ZM"/>
          </a:p>
        </p:txBody>
      </p:sp>
      <p:sp>
        <p:nvSpPr>
          <p:cNvPr id="4" name="Text 2"/>
          <p:cNvSpPr txBox="1"/>
          <p:nvPr/>
        </p:nvSpPr>
        <p:spPr>
          <a:xfrm>
            <a:off x="685800" y="1051560"/>
            <a:ext cx="7772400" cy="548640"/>
          </a:xfrm>
          <a:prstGeom prst="rect">
            <a:avLst/>
          </a:prstGeom>
          <a:noFill/>
          <a:ln/>
        </p:spPr>
        <p:txBody>
          <a:bodyPr wrap="square" lIns="0" tIns="0" rIns="0" bIns="0" rtlCol="0" anchor="ctr"/>
          <a:lstStyle/>
          <a:p>
            <a:pPr marL="0" indent="0">
              <a:buNone/>
            </a:pPr>
            <a:r>
              <a:rPr lang="en-US" sz="1500" b="1" dirty="0">
                <a:solidFill>
                  <a:schemeClr val="accent1"/>
                </a:solidFill>
              </a:rPr>
              <a:t>A programming language </a:t>
            </a:r>
            <a:r>
              <a:rPr lang="en-US" sz="1500" dirty="0">
                <a:solidFill>
                  <a:schemeClr val="bg1"/>
                </a:solidFill>
              </a:rPr>
              <a:t>is a set of words, symbols and rules for writing instructions a computer can follow.</a:t>
            </a:r>
            <a:endParaRPr lang="en-US" sz="1500" dirty="0"/>
          </a:p>
        </p:txBody>
      </p:sp>
      <p:sp>
        <p:nvSpPr>
          <p:cNvPr id="5" name="Text 3"/>
          <p:cNvSpPr txBox="1"/>
          <p:nvPr/>
        </p:nvSpPr>
        <p:spPr>
          <a:xfrm>
            <a:off x="457200" y="1719072"/>
            <a:ext cx="4572000" cy="274320"/>
          </a:xfrm>
          <a:prstGeom prst="rect">
            <a:avLst/>
          </a:prstGeom>
          <a:noFill/>
          <a:ln/>
        </p:spPr>
        <p:txBody>
          <a:bodyPr wrap="square" lIns="0" tIns="0" rIns="0" bIns="0" rtlCol="0" anchor="ctr"/>
          <a:lstStyle/>
          <a:p>
            <a:pPr marL="0" indent="0">
              <a:buNone/>
            </a:pPr>
            <a:r>
              <a:rPr lang="en-US" sz="1600" b="1" dirty="0">
                <a:solidFill>
                  <a:schemeClr val="tx1"/>
                </a:solidFill>
              </a:rPr>
              <a:t>Grouped by level (generations)</a:t>
            </a:r>
            <a:endParaRPr lang="en-US" sz="1600" dirty="0"/>
          </a:p>
        </p:txBody>
      </p:sp>
      <p:sp>
        <p:nvSpPr>
          <p:cNvPr id="6" name="Text 4"/>
          <p:cNvSpPr txBox="1"/>
          <p:nvPr/>
        </p:nvSpPr>
        <p:spPr>
          <a:xfrm>
            <a:off x="5943600" y="1719072"/>
            <a:ext cx="2743200" cy="274320"/>
          </a:xfrm>
          <a:prstGeom prst="rect">
            <a:avLst/>
          </a:prstGeom>
          <a:noFill/>
          <a:ln/>
        </p:spPr>
        <p:txBody>
          <a:bodyPr wrap="square" lIns="0" tIns="0" rIns="0" bIns="0" rtlCol="0" anchor="ctr"/>
          <a:lstStyle/>
          <a:p>
            <a:pPr marL="0" indent="0" algn="r">
              <a:buNone/>
            </a:pPr>
            <a:r>
              <a:rPr lang="en-US" sz="1200" b="1" dirty="0">
                <a:solidFill>
                  <a:schemeClr val="accent2"/>
                </a:solidFill>
              </a:rPr>
              <a:t>● </a:t>
            </a:r>
            <a:r>
              <a:rPr lang="en-US" sz="1200" b="1" dirty="0">
                <a:solidFill>
                  <a:schemeClr val="tx2"/>
                </a:solidFill>
              </a:rPr>
              <a:t>Low-level    </a:t>
            </a:r>
            <a:r>
              <a:rPr lang="en-US" sz="1200" b="1" dirty="0">
                <a:solidFill>
                  <a:schemeClr val="accent3"/>
                </a:solidFill>
              </a:rPr>
              <a:t>● </a:t>
            </a:r>
            <a:r>
              <a:rPr lang="en-US" sz="1200" b="1" dirty="0">
                <a:solidFill>
                  <a:schemeClr val="tx2"/>
                </a:solidFill>
              </a:rPr>
              <a:t>High-level</a:t>
            </a:r>
            <a:endParaRPr lang="en-US" sz="1200" dirty="0"/>
          </a:p>
        </p:txBody>
      </p:sp>
      <p:sp>
        <p:nvSpPr>
          <p:cNvPr id="7" name="Card 5"/>
          <p:cNvSpPr/>
          <p:nvPr/>
        </p:nvSpPr>
        <p:spPr>
          <a:xfrm>
            <a:off x="457200" y="2075688"/>
            <a:ext cx="8229600" cy="438912"/>
          </a:xfrm>
          <a:prstGeom prst="roundRect">
            <a:avLst>
              <a:gd name="adj" fmla="val 16667"/>
            </a:avLst>
          </a:prstGeom>
          <a:solidFill>
            <a:schemeClr val="bg2"/>
          </a:solidFill>
          <a:ln w="12700">
            <a:solidFill>
              <a:schemeClr val="bg2"/>
            </a:solidFill>
            <a:prstDash val="solid"/>
          </a:ln>
        </p:spPr>
        <p:txBody>
          <a:bodyPr/>
          <a:lstStyle/>
          <a:p>
            <a:endParaRPr lang="en-ZM"/>
          </a:p>
        </p:txBody>
      </p:sp>
      <p:sp>
        <p:nvSpPr>
          <p:cNvPr id="8" name="Card 6"/>
          <p:cNvSpPr/>
          <p:nvPr/>
        </p:nvSpPr>
        <p:spPr>
          <a:xfrm>
            <a:off x="548640" y="2167128"/>
            <a:ext cx="502920" cy="256032"/>
          </a:xfrm>
          <a:prstGeom prst="roundRect">
            <a:avLst>
              <a:gd name="adj" fmla="val 28571"/>
            </a:avLst>
          </a:prstGeom>
          <a:solidFill>
            <a:schemeClr val="accent2"/>
          </a:solidFill>
          <a:ln w="12700">
            <a:solidFill>
              <a:schemeClr val="accent2"/>
            </a:solidFill>
            <a:prstDash val="solid"/>
          </a:ln>
        </p:spPr>
        <p:txBody>
          <a:bodyPr/>
          <a:lstStyle/>
          <a:p>
            <a:endParaRPr lang="en-ZM"/>
          </a:p>
        </p:txBody>
      </p:sp>
      <p:sp>
        <p:nvSpPr>
          <p:cNvPr id="9" name="Text 7"/>
          <p:cNvSpPr txBox="1"/>
          <p:nvPr/>
        </p:nvSpPr>
        <p:spPr>
          <a:xfrm>
            <a:off x="548640" y="2167128"/>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rPr>
              <a:t>1GL</a:t>
            </a:r>
            <a:endParaRPr lang="en-US" sz="1100" dirty="0"/>
          </a:p>
        </p:txBody>
      </p:sp>
      <p:sp>
        <p:nvSpPr>
          <p:cNvPr id="10" name="Text 8"/>
          <p:cNvSpPr txBox="1"/>
          <p:nvPr/>
        </p:nvSpPr>
        <p:spPr>
          <a:xfrm>
            <a:off x="1188720" y="2075688"/>
            <a:ext cx="1463040" cy="438912"/>
          </a:xfrm>
          <a:prstGeom prst="rect">
            <a:avLst/>
          </a:prstGeom>
          <a:noFill/>
          <a:ln/>
        </p:spPr>
        <p:txBody>
          <a:bodyPr wrap="square" lIns="0" tIns="0" rIns="0" bIns="0" rtlCol="0" anchor="ctr"/>
          <a:lstStyle/>
          <a:p>
            <a:pPr marL="0" indent="0">
              <a:buNone/>
            </a:pPr>
            <a:r>
              <a:rPr lang="en-US" sz="1400" b="1" dirty="0">
                <a:solidFill>
                  <a:schemeClr val="tx1"/>
                </a:solidFill>
              </a:rPr>
              <a:t>Machine code</a:t>
            </a:r>
            <a:endParaRPr lang="en-US" sz="1400" dirty="0"/>
          </a:p>
        </p:txBody>
      </p:sp>
      <p:sp>
        <p:nvSpPr>
          <p:cNvPr id="11" name="Text 9"/>
          <p:cNvSpPr txBox="1"/>
          <p:nvPr/>
        </p:nvSpPr>
        <p:spPr>
          <a:xfrm>
            <a:off x="2697480" y="2075688"/>
            <a:ext cx="4343400" cy="438912"/>
          </a:xfrm>
          <a:prstGeom prst="rect">
            <a:avLst/>
          </a:prstGeom>
          <a:noFill/>
          <a:ln/>
        </p:spPr>
        <p:txBody>
          <a:bodyPr wrap="square" lIns="0" tIns="0" rIns="0" bIns="0" rtlCol="0" anchor="ctr"/>
          <a:lstStyle/>
          <a:p>
            <a:pPr marL="0" indent="0">
              <a:buNone/>
            </a:pPr>
            <a:r>
              <a:rPr lang="en-US" sz="1300" dirty="0">
                <a:solidFill>
                  <a:schemeClr val="tx1"/>
                </a:solidFill>
              </a:rPr>
              <a:t>Binary 1s and 0s that the processor runs directly. No translation needed.</a:t>
            </a:r>
            <a:endParaRPr lang="en-US" sz="1300" dirty="0"/>
          </a:p>
        </p:txBody>
      </p:sp>
      <p:sp>
        <p:nvSpPr>
          <p:cNvPr id="12" name="Text 10"/>
          <p:cNvSpPr txBox="1"/>
          <p:nvPr/>
        </p:nvSpPr>
        <p:spPr>
          <a:xfrm>
            <a:off x="7132320" y="2075688"/>
            <a:ext cx="1463040" cy="438912"/>
          </a:xfrm>
          <a:prstGeom prst="rect">
            <a:avLst/>
          </a:prstGeom>
          <a:noFill/>
          <a:ln/>
        </p:spPr>
        <p:txBody>
          <a:bodyPr wrap="square" lIns="0" tIns="0" rIns="0" bIns="0" rtlCol="0" anchor="ctr"/>
          <a:lstStyle/>
          <a:p>
            <a:pPr marL="0" indent="0">
              <a:buNone/>
            </a:pPr>
            <a:r>
              <a:rPr lang="en-US" sz="1300" b="1" dirty="0">
                <a:solidFill>
                  <a:schemeClr val="tx2"/>
                </a:solidFill>
              </a:rPr>
              <a:t>10110000</a:t>
            </a:r>
            <a:endParaRPr lang="en-US" sz="1400" dirty="0"/>
          </a:p>
        </p:txBody>
      </p:sp>
      <p:sp>
        <p:nvSpPr>
          <p:cNvPr id="13" name="Card 11"/>
          <p:cNvSpPr/>
          <p:nvPr/>
        </p:nvSpPr>
        <p:spPr>
          <a:xfrm>
            <a:off x="457200" y="2569464"/>
            <a:ext cx="8229600" cy="438912"/>
          </a:xfrm>
          <a:prstGeom prst="roundRect">
            <a:avLst>
              <a:gd name="adj" fmla="val 16667"/>
            </a:avLst>
          </a:prstGeom>
          <a:solidFill>
            <a:schemeClr val="bg1"/>
          </a:solidFill>
          <a:ln w="12700">
            <a:solidFill>
              <a:schemeClr val="bg1"/>
            </a:solidFill>
            <a:prstDash val="solid"/>
          </a:ln>
        </p:spPr>
        <p:txBody>
          <a:bodyPr/>
          <a:lstStyle/>
          <a:p>
            <a:endParaRPr lang="en-ZM"/>
          </a:p>
        </p:txBody>
      </p:sp>
      <p:sp>
        <p:nvSpPr>
          <p:cNvPr id="14" name="Card 12"/>
          <p:cNvSpPr/>
          <p:nvPr/>
        </p:nvSpPr>
        <p:spPr>
          <a:xfrm>
            <a:off x="548640" y="2660904"/>
            <a:ext cx="502920" cy="256032"/>
          </a:xfrm>
          <a:prstGeom prst="roundRect">
            <a:avLst>
              <a:gd name="adj" fmla="val 28571"/>
            </a:avLst>
          </a:prstGeom>
          <a:solidFill>
            <a:schemeClr val="accent2"/>
          </a:solidFill>
          <a:ln w="12700">
            <a:solidFill>
              <a:schemeClr val="accent2"/>
            </a:solidFill>
            <a:prstDash val="solid"/>
          </a:ln>
        </p:spPr>
        <p:txBody>
          <a:bodyPr/>
          <a:lstStyle/>
          <a:p>
            <a:endParaRPr lang="en-ZM"/>
          </a:p>
        </p:txBody>
      </p:sp>
      <p:sp>
        <p:nvSpPr>
          <p:cNvPr id="15" name="Text 13"/>
          <p:cNvSpPr txBox="1"/>
          <p:nvPr/>
        </p:nvSpPr>
        <p:spPr>
          <a:xfrm>
            <a:off x="548640" y="2660904"/>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rPr>
              <a:t>2GL</a:t>
            </a:r>
            <a:endParaRPr lang="en-US" sz="1100" dirty="0"/>
          </a:p>
        </p:txBody>
      </p:sp>
      <p:sp>
        <p:nvSpPr>
          <p:cNvPr id="16" name="Text 14"/>
          <p:cNvSpPr txBox="1"/>
          <p:nvPr/>
        </p:nvSpPr>
        <p:spPr>
          <a:xfrm>
            <a:off x="1188720" y="2569464"/>
            <a:ext cx="1463040" cy="438912"/>
          </a:xfrm>
          <a:prstGeom prst="rect">
            <a:avLst/>
          </a:prstGeom>
          <a:noFill/>
          <a:ln/>
        </p:spPr>
        <p:txBody>
          <a:bodyPr wrap="square" lIns="0" tIns="0" rIns="0" bIns="0" rtlCol="0" anchor="ctr"/>
          <a:lstStyle/>
          <a:p>
            <a:pPr marL="0" indent="0">
              <a:buNone/>
            </a:pPr>
            <a:r>
              <a:rPr lang="en-US" sz="1400" b="1" dirty="0">
                <a:solidFill>
                  <a:schemeClr val="tx1"/>
                </a:solidFill>
              </a:rPr>
              <a:t>Assembly</a:t>
            </a:r>
            <a:endParaRPr lang="en-US" sz="1400" dirty="0"/>
          </a:p>
        </p:txBody>
      </p:sp>
      <p:sp>
        <p:nvSpPr>
          <p:cNvPr id="17" name="Text 15"/>
          <p:cNvSpPr txBox="1"/>
          <p:nvPr/>
        </p:nvSpPr>
        <p:spPr>
          <a:xfrm>
            <a:off x="2697480" y="2569464"/>
            <a:ext cx="4343400" cy="438912"/>
          </a:xfrm>
          <a:prstGeom prst="rect">
            <a:avLst/>
          </a:prstGeom>
          <a:noFill/>
          <a:ln/>
        </p:spPr>
        <p:txBody>
          <a:bodyPr wrap="square" lIns="0" tIns="0" rIns="0" bIns="0" rtlCol="0" anchor="ctr"/>
          <a:lstStyle/>
          <a:p>
            <a:pPr marL="0" indent="0">
              <a:buNone/>
            </a:pPr>
            <a:r>
              <a:rPr lang="en-US" sz="1300" dirty="0">
                <a:solidFill>
                  <a:schemeClr val="tx1"/>
                </a:solidFill>
              </a:rPr>
              <a:t>Short words (mnemonics) stand for machine instructions. An assembler converts them.</a:t>
            </a:r>
            <a:endParaRPr lang="en-US" sz="1300" dirty="0"/>
          </a:p>
        </p:txBody>
      </p:sp>
      <p:sp>
        <p:nvSpPr>
          <p:cNvPr id="18" name="Text 16"/>
          <p:cNvSpPr txBox="1"/>
          <p:nvPr/>
        </p:nvSpPr>
        <p:spPr>
          <a:xfrm>
            <a:off x="7132320" y="2569464"/>
            <a:ext cx="1463040" cy="438912"/>
          </a:xfrm>
          <a:prstGeom prst="rect">
            <a:avLst/>
          </a:prstGeom>
          <a:noFill/>
          <a:ln/>
        </p:spPr>
        <p:txBody>
          <a:bodyPr wrap="square" lIns="0" tIns="0" rIns="0" bIns="0" rtlCol="0" anchor="ctr"/>
          <a:lstStyle/>
          <a:p>
            <a:pPr marL="0" indent="0">
              <a:buNone/>
            </a:pPr>
            <a:r>
              <a:rPr lang="en-US" sz="1300" b="1" dirty="0">
                <a:solidFill>
                  <a:schemeClr val="tx2"/>
                </a:solidFill>
              </a:rPr>
              <a:t>MOV, ADD</a:t>
            </a:r>
            <a:endParaRPr lang="en-US" sz="1400" dirty="0"/>
          </a:p>
        </p:txBody>
      </p:sp>
      <p:sp>
        <p:nvSpPr>
          <p:cNvPr id="19" name="Card 17"/>
          <p:cNvSpPr/>
          <p:nvPr/>
        </p:nvSpPr>
        <p:spPr>
          <a:xfrm>
            <a:off x="457200" y="3063240"/>
            <a:ext cx="8229600" cy="438912"/>
          </a:xfrm>
          <a:prstGeom prst="roundRect">
            <a:avLst>
              <a:gd name="adj" fmla="val 16667"/>
            </a:avLst>
          </a:prstGeom>
          <a:solidFill>
            <a:schemeClr val="bg2"/>
          </a:solidFill>
          <a:ln w="12700">
            <a:solidFill>
              <a:schemeClr val="bg2"/>
            </a:solidFill>
            <a:prstDash val="solid"/>
          </a:ln>
        </p:spPr>
        <p:txBody>
          <a:bodyPr/>
          <a:lstStyle/>
          <a:p>
            <a:endParaRPr lang="en-ZM"/>
          </a:p>
        </p:txBody>
      </p:sp>
      <p:sp>
        <p:nvSpPr>
          <p:cNvPr id="20" name="Card 18"/>
          <p:cNvSpPr/>
          <p:nvPr/>
        </p:nvSpPr>
        <p:spPr>
          <a:xfrm>
            <a:off x="548640" y="3154680"/>
            <a:ext cx="502920" cy="256032"/>
          </a:xfrm>
          <a:prstGeom prst="roundRect">
            <a:avLst>
              <a:gd name="adj" fmla="val 28571"/>
            </a:avLst>
          </a:prstGeom>
          <a:solidFill>
            <a:schemeClr val="accent3"/>
          </a:solidFill>
          <a:ln w="12700">
            <a:solidFill>
              <a:schemeClr val="accent3"/>
            </a:solidFill>
            <a:prstDash val="solid"/>
          </a:ln>
        </p:spPr>
        <p:txBody>
          <a:bodyPr/>
          <a:lstStyle/>
          <a:p>
            <a:endParaRPr lang="en-ZM"/>
          </a:p>
        </p:txBody>
      </p:sp>
      <p:sp>
        <p:nvSpPr>
          <p:cNvPr id="21" name="Text 19"/>
          <p:cNvSpPr txBox="1"/>
          <p:nvPr/>
        </p:nvSpPr>
        <p:spPr>
          <a:xfrm>
            <a:off x="548640" y="3154680"/>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rPr>
              <a:t>3GL</a:t>
            </a:r>
            <a:endParaRPr lang="en-US" sz="1100" dirty="0"/>
          </a:p>
        </p:txBody>
      </p:sp>
      <p:sp>
        <p:nvSpPr>
          <p:cNvPr id="22" name="Text 20"/>
          <p:cNvSpPr txBox="1"/>
          <p:nvPr/>
        </p:nvSpPr>
        <p:spPr>
          <a:xfrm>
            <a:off x="1188720" y="3063240"/>
            <a:ext cx="1463040" cy="438912"/>
          </a:xfrm>
          <a:prstGeom prst="rect">
            <a:avLst/>
          </a:prstGeom>
          <a:noFill/>
          <a:ln/>
        </p:spPr>
        <p:txBody>
          <a:bodyPr wrap="square" lIns="0" tIns="0" rIns="0" bIns="0" rtlCol="0" anchor="ctr"/>
          <a:lstStyle/>
          <a:p>
            <a:pPr marL="0" indent="0">
              <a:buNone/>
            </a:pPr>
            <a:r>
              <a:rPr lang="en-US" sz="1400" b="1" dirty="0">
                <a:solidFill>
                  <a:schemeClr val="tx1"/>
                </a:solidFill>
              </a:rPr>
              <a:t>General-purpose</a:t>
            </a:r>
            <a:endParaRPr lang="en-US" sz="1400" dirty="0"/>
          </a:p>
        </p:txBody>
      </p:sp>
      <p:sp>
        <p:nvSpPr>
          <p:cNvPr id="23" name="Text 21"/>
          <p:cNvSpPr txBox="1"/>
          <p:nvPr/>
        </p:nvSpPr>
        <p:spPr>
          <a:xfrm>
            <a:off x="2697480" y="3063240"/>
            <a:ext cx="4343400" cy="438912"/>
          </a:xfrm>
          <a:prstGeom prst="rect">
            <a:avLst/>
          </a:prstGeom>
          <a:noFill/>
          <a:ln/>
        </p:spPr>
        <p:txBody>
          <a:bodyPr wrap="square" lIns="0" tIns="0" rIns="0" bIns="0" rtlCol="0" anchor="ctr"/>
          <a:lstStyle/>
          <a:p>
            <a:pPr marL="0" indent="0">
              <a:buNone/>
            </a:pPr>
            <a:r>
              <a:rPr lang="en-US" sz="1300" dirty="0">
                <a:solidFill>
                  <a:schemeClr val="tx1"/>
                </a:solidFill>
              </a:rPr>
              <a:t>English-like code for almost any task. A compiler or interpreter translates it.</a:t>
            </a:r>
            <a:endParaRPr lang="en-US" sz="1300" dirty="0"/>
          </a:p>
        </p:txBody>
      </p:sp>
      <p:sp>
        <p:nvSpPr>
          <p:cNvPr id="24" name="Text 22"/>
          <p:cNvSpPr txBox="1"/>
          <p:nvPr/>
        </p:nvSpPr>
        <p:spPr>
          <a:xfrm>
            <a:off x="7132320" y="3063240"/>
            <a:ext cx="1463040" cy="438912"/>
          </a:xfrm>
          <a:prstGeom prst="rect">
            <a:avLst/>
          </a:prstGeom>
          <a:noFill/>
          <a:ln/>
        </p:spPr>
        <p:txBody>
          <a:bodyPr wrap="square" lIns="0" tIns="0" rIns="0" bIns="0" rtlCol="0" anchor="ctr"/>
          <a:lstStyle/>
          <a:p>
            <a:pPr marL="0" indent="0">
              <a:buNone/>
            </a:pPr>
            <a:r>
              <a:rPr lang="en-US" sz="1300" b="1" dirty="0">
                <a:solidFill>
                  <a:schemeClr val="tx2"/>
                </a:solidFill>
              </a:rPr>
              <a:t>C, C++, Java, </a:t>
            </a:r>
            <a:r>
              <a:rPr lang="en-US" sz="1300" b="1" dirty="0">
                <a:solidFill>
                  <a:schemeClr val="accent2"/>
                </a:solidFill>
              </a:rPr>
              <a:t>Python</a:t>
            </a:r>
            <a:endParaRPr lang="en-US" sz="1400" dirty="0"/>
          </a:p>
        </p:txBody>
      </p:sp>
      <p:sp>
        <p:nvSpPr>
          <p:cNvPr id="25" name="Card 23"/>
          <p:cNvSpPr/>
          <p:nvPr/>
        </p:nvSpPr>
        <p:spPr>
          <a:xfrm>
            <a:off x="457200" y="3557016"/>
            <a:ext cx="8229600" cy="438912"/>
          </a:xfrm>
          <a:prstGeom prst="roundRect">
            <a:avLst>
              <a:gd name="adj" fmla="val 16667"/>
            </a:avLst>
          </a:prstGeom>
          <a:solidFill>
            <a:schemeClr val="bg1"/>
          </a:solidFill>
          <a:ln w="12700">
            <a:solidFill>
              <a:schemeClr val="bg1"/>
            </a:solidFill>
            <a:prstDash val="solid"/>
          </a:ln>
        </p:spPr>
        <p:txBody>
          <a:bodyPr/>
          <a:lstStyle/>
          <a:p>
            <a:endParaRPr lang="en-ZM"/>
          </a:p>
        </p:txBody>
      </p:sp>
      <p:sp>
        <p:nvSpPr>
          <p:cNvPr id="26" name="Card 24"/>
          <p:cNvSpPr/>
          <p:nvPr/>
        </p:nvSpPr>
        <p:spPr>
          <a:xfrm>
            <a:off x="548640" y="3648456"/>
            <a:ext cx="502920" cy="256032"/>
          </a:xfrm>
          <a:prstGeom prst="roundRect">
            <a:avLst>
              <a:gd name="adj" fmla="val 28571"/>
            </a:avLst>
          </a:prstGeom>
          <a:solidFill>
            <a:schemeClr val="accent3"/>
          </a:solidFill>
          <a:ln w="12700">
            <a:solidFill>
              <a:schemeClr val="accent3"/>
            </a:solidFill>
            <a:prstDash val="solid"/>
          </a:ln>
        </p:spPr>
        <p:txBody>
          <a:bodyPr/>
          <a:lstStyle/>
          <a:p>
            <a:endParaRPr lang="en-ZM"/>
          </a:p>
        </p:txBody>
      </p:sp>
      <p:sp>
        <p:nvSpPr>
          <p:cNvPr id="27" name="Text 25"/>
          <p:cNvSpPr txBox="1"/>
          <p:nvPr/>
        </p:nvSpPr>
        <p:spPr>
          <a:xfrm>
            <a:off x="548640" y="3648456"/>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rPr>
              <a:t>4GL</a:t>
            </a:r>
            <a:endParaRPr lang="en-US" sz="1100" dirty="0"/>
          </a:p>
        </p:txBody>
      </p:sp>
      <p:sp>
        <p:nvSpPr>
          <p:cNvPr id="28" name="Text 26"/>
          <p:cNvSpPr txBox="1"/>
          <p:nvPr/>
        </p:nvSpPr>
        <p:spPr>
          <a:xfrm>
            <a:off x="1188720" y="3557016"/>
            <a:ext cx="1463040" cy="438912"/>
          </a:xfrm>
          <a:prstGeom prst="rect">
            <a:avLst/>
          </a:prstGeom>
          <a:noFill/>
          <a:ln/>
        </p:spPr>
        <p:txBody>
          <a:bodyPr wrap="square" lIns="0" tIns="0" rIns="0" bIns="0" rtlCol="0" anchor="ctr"/>
          <a:lstStyle/>
          <a:p>
            <a:pPr marL="0" indent="0">
              <a:buNone/>
            </a:pPr>
            <a:r>
              <a:rPr lang="en-US" sz="1400" b="1" dirty="0">
                <a:solidFill>
                  <a:schemeClr val="tx1"/>
                </a:solidFill>
              </a:rPr>
              <a:t>Very high-level</a:t>
            </a:r>
            <a:endParaRPr lang="en-US" sz="1400" dirty="0"/>
          </a:p>
        </p:txBody>
      </p:sp>
      <p:sp>
        <p:nvSpPr>
          <p:cNvPr id="29" name="Text 27"/>
          <p:cNvSpPr txBox="1"/>
          <p:nvPr/>
        </p:nvSpPr>
        <p:spPr>
          <a:xfrm>
            <a:off x="2697480" y="3557016"/>
            <a:ext cx="4343400" cy="438912"/>
          </a:xfrm>
          <a:prstGeom prst="rect">
            <a:avLst/>
          </a:prstGeom>
          <a:noFill/>
          <a:ln/>
        </p:spPr>
        <p:txBody>
          <a:bodyPr wrap="square" lIns="0" tIns="0" rIns="0" bIns="0" rtlCol="0" anchor="ctr"/>
          <a:lstStyle/>
          <a:p>
            <a:pPr marL="0" indent="0">
              <a:buNone/>
            </a:pPr>
            <a:r>
              <a:rPr lang="en-US" sz="1300" dirty="0">
                <a:solidFill>
                  <a:schemeClr val="tx1"/>
                </a:solidFill>
              </a:rPr>
              <a:t>Say what result you want, often from a database. Much less code needed.</a:t>
            </a:r>
            <a:endParaRPr lang="en-US" sz="1300" dirty="0"/>
          </a:p>
        </p:txBody>
      </p:sp>
      <p:sp>
        <p:nvSpPr>
          <p:cNvPr id="30" name="Text 28"/>
          <p:cNvSpPr txBox="1"/>
          <p:nvPr/>
        </p:nvSpPr>
        <p:spPr>
          <a:xfrm>
            <a:off x="7132320" y="3557016"/>
            <a:ext cx="1463040" cy="438912"/>
          </a:xfrm>
          <a:prstGeom prst="rect">
            <a:avLst/>
          </a:prstGeom>
          <a:noFill/>
          <a:ln/>
        </p:spPr>
        <p:txBody>
          <a:bodyPr wrap="square" lIns="0" tIns="0" rIns="0" bIns="0" rtlCol="0" anchor="ctr"/>
          <a:lstStyle/>
          <a:p>
            <a:pPr marL="0" indent="0">
              <a:buNone/>
            </a:pPr>
            <a:r>
              <a:rPr lang="en-US" sz="1300" b="1" dirty="0">
                <a:solidFill>
                  <a:schemeClr val="tx2"/>
                </a:solidFill>
              </a:rPr>
              <a:t>SQL</a:t>
            </a:r>
            <a:endParaRPr lang="en-US" sz="1400" dirty="0"/>
          </a:p>
        </p:txBody>
      </p:sp>
      <p:sp>
        <p:nvSpPr>
          <p:cNvPr id="31" name="Card 29"/>
          <p:cNvSpPr/>
          <p:nvPr/>
        </p:nvSpPr>
        <p:spPr>
          <a:xfrm>
            <a:off x="457200" y="4050792"/>
            <a:ext cx="8229600" cy="438912"/>
          </a:xfrm>
          <a:prstGeom prst="roundRect">
            <a:avLst>
              <a:gd name="adj" fmla="val 16667"/>
            </a:avLst>
          </a:prstGeom>
          <a:solidFill>
            <a:schemeClr val="bg2"/>
          </a:solidFill>
          <a:ln w="12700">
            <a:solidFill>
              <a:schemeClr val="bg2"/>
            </a:solidFill>
            <a:prstDash val="solid"/>
          </a:ln>
        </p:spPr>
        <p:txBody>
          <a:bodyPr/>
          <a:lstStyle/>
          <a:p>
            <a:endParaRPr lang="en-ZM"/>
          </a:p>
        </p:txBody>
      </p:sp>
      <p:sp>
        <p:nvSpPr>
          <p:cNvPr id="32" name="Card 30"/>
          <p:cNvSpPr/>
          <p:nvPr/>
        </p:nvSpPr>
        <p:spPr>
          <a:xfrm>
            <a:off x="548640" y="4142232"/>
            <a:ext cx="502920" cy="256032"/>
          </a:xfrm>
          <a:prstGeom prst="roundRect">
            <a:avLst>
              <a:gd name="adj" fmla="val 28571"/>
            </a:avLst>
          </a:prstGeom>
          <a:solidFill>
            <a:schemeClr val="accent3"/>
          </a:solidFill>
          <a:ln w="12700">
            <a:solidFill>
              <a:schemeClr val="accent3"/>
            </a:solidFill>
            <a:prstDash val="solid"/>
          </a:ln>
        </p:spPr>
        <p:txBody>
          <a:bodyPr/>
          <a:lstStyle/>
          <a:p>
            <a:endParaRPr lang="en-ZM"/>
          </a:p>
        </p:txBody>
      </p:sp>
      <p:sp>
        <p:nvSpPr>
          <p:cNvPr id="33" name="Text 31"/>
          <p:cNvSpPr txBox="1"/>
          <p:nvPr/>
        </p:nvSpPr>
        <p:spPr>
          <a:xfrm>
            <a:off x="548640" y="4142232"/>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rPr>
              <a:t>5GL</a:t>
            </a:r>
            <a:endParaRPr lang="en-US" sz="1100" dirty="0"/>
          </a:p>
        </p:txBody>
      </p:sp>
      <p:sp>
        <p:nvSpPr>
          <p:cNvPr id="34" name="Text 32"/>
          <p:cNvSpPr txBox="1"/>
          <p:nvPr/>
        </p:nvSpPr>
        <p:spPr>
          <a:xfrm>
            <a:off x="1188720" y="4050792"/>
            <a:ext cx="1463040" cy="438912"/>
          </a:xfrm>
          <a:prstGeom prst="rect">
            <a:avLst/>
          </a:prstGeom>
          <a:noFill/>
          <a:ln/>
        </p:spPr>
        <p:txBody>
          <a:bodyPr wrap="square" lIns="0" tIns="0" rIns="0" bIns="0" rtlCol="0" anchor="ctr"/>
          <a:lstStyle/>
          <a:p>
            <a:pPr marL="0" indent="0">
              <a:buNone/>
            </a:pPr>
            <a:r>
              <a:rPr lang="en-US" sz="1400" b="1" dirty="0">
                <a:solidFill>
                  <a:schemeClr val="tx1"/>
                </a:solidFill>
              </a:rPr>
              <a:t>Logic / AI</a:t>
            </a:r>
            <a:endParaRPr lang="en-US" sz="1400" dirty="0"/>
          </a:p>
        </p:txBody>
      </p:sp>
      <p:sp>
        <p:nvSpPr>
          <p:cNvPr id="35" name="Text 33"/>
          <p:cNvSpPr txBox="1"/>
          <p:nvPr/>
        </p:nvSpPr>
        <p:spPr>
          <a:xfrm>
            <a:off x="2697480" y="4050792"/>
            <a:ext cx="4343400" cy="438912"/>
          </a:xfrm>
          <a:prstGeom prst="rect">
            <a:avLst/>
          </a:prstGeom>
          <a:noFill/>
          <a:ln/>
        </p:spPr>
        <p:txBody>
          <a:bodyPr wrap="square" lIns="0" tIns="0" rIns="0" bIns="0" rtlCol="0" anchor="ctr"/>
          <a:lstStyle/>
          <a:p>
            <a:pPr marL="0" indent="0">
              <a:buNone/>
            </a:pPr>
            <a:r>
              <a:rPr lang="en-US" sz="1300" dirty="0">
                <a:solidFill>
                  <a:schemeClr val="tx1"/>
                </a:solidFill>
              </a:rPr>
              <a:t>Describe the problem with facts and rules; the computer works out the answer.</a:t>
            </a:r>
            <a:endParaRPr lang="en-US" sz="1300" dirty="0"/>
          </a:p>
        </p:txBody>
      </p:sp>
      <p:sp>
        <p:nvSpPr>
          <p:cNvPr id="36" name="Text 34"/>
          <p:cNvSpPr txBox="1"/>
          <p:nvPr/>
        </p:nvSpPr>
        <p:spPr>
          <a:xfrm>
            <a:off x="7132320" y="4091940"/>
            <a:ext cx="1463040" cy="438912"/>
          </a:xfrm>
          <a:prstGeom prst="rect">
            <a:avLst/>
          </a:prstGeom>
          <a:noFill/>
          <a:ln/>
        </p:spPr>
        <p:txBody>
          <a:bodyPr wrap="square" lIns="0" tIns="0" rIns="0" bIns="0" rtlCol="0" anchor="ctr"/>
          <a:lstStyle/>
          <a:p>
            <a:pPr marL="0" indent="0">
              <a:buNone/>
            </a:pPr>
            <a:r>
              <a:rPr lang="en-US" sz="1300" b="1" dirty="0">
                <a:solidFill>
                  <a:schemeClr val="tx2"/>
                </a:solidFill>
              </a:rPr>
              <a:t>Prolog</a:t>
            </a:r>
            <a:endParaRPr lang="en-US" sz="1400" dirty="0"/>
          </a:p>
        </p:txBody>
      </p:sp>
    </p:spTree>
    <p:extLst>
      <p:ext uri="{BB962C8B-B14F-4D97-AF65-F5344CB8AC3E}">
        <p14:creationId xmlns:p14="http://schemas.microsoft.com/office/powerpoint/2010/main" val="2489702389"/>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Paradigms and Translation</a:t>
            </a:r>
            <a:endParaRPr lang="en-US" sz="3200" dirty="0"/>
          </a:p>
        </p:txBody>
      </p:sp>
      <p:sp>
        <p:nvSpPr>
          <p:cNvPr id="3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
        <p:nvSpPr>
          <p:cNvPr id="3" name="Text 35"/>
          <p:cNvSpPr txBox="1"/>
          <p:nvPr/>
        </p:nvSpPr>
        <p:spPr>
          <a:xfrm>
            <a:off x="457200" y="1097280"/>
            <a:ext cx="3931920" cy="292608"/>
          </a:xfrm>
          <a:prstGeom prst="rect">
            <a:avLst/>
          </a:prstGeom>
          <a:noFill/>
          <a:ln/>
        </p:spPr>
        <p:txBody>
          <a:bodyPr wrap="square" lIns="0" tIns="0" rIns="0" bIns="0" rtlCol="0" anchor="ctr"/>
          <a:lstStyle/>
          <a:p>
            <a:pPr marL="0" indent="0">
              <a:buNone/>
            </a:pPr>
            <a:r>
              <a:rPr lang="en-US" sz="1600" b="1" dirty="0">
                <a:solidFill>
                  <a:schemeClr val="tx1"/>
                </a:solidFill>
              </a:rPr>
              <a:t>Grouped by paradigm (style)</a:t>
            </a:r>
            <a:endParaRPr lang="en-US" sz="1600" dirty="0"/>
          </a:p>
        </p:txBody>
      </p:sp>
      <p:sp>
        <p:nvSpPr>
          <p:cNvPr id="4" name="Text 36"/>
          <p:cNvSpPr txBox="1"/>
          <p:nvPr/>
        </p:nvSpPr>
        <p:spPr>
          <a:xfrm>
            <a:off x="457200" y="1444752"/>
            <a:ext cx="3931920" cy="256032"/>
          </a:xfrm>
          <a:prstGeom prst="rect">
            <a:avLst/>
          </a:prstGeom>
          <a:noFill/>
          <a:ln/>
        </p:spPr>
        <p:txBody>
          <a:bodyPr wrap="square" lIns="0" tIns="0" rIns="0" bIns="0" rtlCol="0" anchor="ctr"/>
          <a:lstStyle/>
          <a:p>
            <a:pPr marL="0" indent="0">
              <a:buNone/>
            </a:pPr>
            <a:r>
              <a:rPr lang="en-US" sz="1200" b="1" dirty="0">
                <a:solidFill>
                  <a:schemeClr val="accent3"/>
                </a:solidFill>
              </a:rPr>
              <a:t>Imperative: </a:t>
            </a:r>
            <a:r>
              <a:rPr lang="en-US" sz="1200" dirty="0">
                <a:solidFill>
                  <a:schemeClr val="tx2"/>
                </a:solidFill>
              </a:rPr>
              <a:t>tell the computer HOW, step by step</a:t>
            </a:r>
            <a:endParaRPr lang="en-US" sz="1200" dirty="0"/>
          </a:p>
        </p:txBody>
      </p:sp>
      <p:sp>
        <p:nvSpPr>
          <p:cNvPr id="5" name="Card 37"/>
          <p:cNvSpPr/>
          <p:nvPr/>
        </p:nvSpPr>
        <p:spPr>
          <a:xfrm>
            <a:off x="457200" y="1737360"/>
            <a:ext cx="3931920" cy="548640"/>
          </a:xfrm>
          <a:prstGeom prst="roundRect">
            <a:avLst>
              <a:gd name="adj" fmla="val 1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6" name="Text 38"/>
          <p:cNvSpPr txBox="1"/>
          <p:nvPr/>
        </p:nvSpPr>
        <p:spPr>
          <a:xfrm>
            <a:off x="594360" y="1792224"/>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Procedural / Structured</a:t>
            </a:r>
            <a:endParaRPr lang="en-US" sz="1300" dirty="0"/>
          </a:p>
        </p:txBody>
      </p:sp>
      <p:sp>
        <p:nvSpPr>
          <p:cNvPr id="7" name="Text 39"/>
          <p:cNvSpPr txBox="1"/>
          <p:nvPr/>
        </p:nvSpPr>
        <p:spPr>
          <a:xfrm>
            <a:off x="2286000" y="1792224"/>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C, Pascal, </a:t>
            </a:r>
            <a:r>
              <a:rPr lang="en-US" sz="1100" b="1" dirty="0">
                <a:solidFill>
                  <a:schemeClr val="accent2"/>
                </a:solidFill>
              </a:rPr>
              <a:t>Python</a:t>
            </a:r>
            <a:endParaRPr lang="en-US" sz="1400" dirty="0"/>
          </a:p>
        </p:txBody>
      </p:sp>
      <p:sp>
        <p:nvSpPr>
          <p:cNvPr id="8" name="Text 40"/>
          <p:cNvSpPr txBox="1"/>
          <p:nvPr/>
        </p:nvSpPr>
        <p:spPr>
          <a:xfrm>
            <a:off x="594360" y="2029968"/>
            <a:ext cx="3657600" cy="219456"/>
          </a:xfrm>
          <a:prstGeom prst="rect">
            <a:avLst/>
          </a:prstGeom>
          <a:noFill/>
          <a:ln/>
        </p:spPr>
        <p:txBody>
          <a:bodyPr wrap="square" lIns="0" tIns="0" rIns="0" bIns="0" rtlCol="0" anchor="t"/>
          <a:lstStyle/>
          <a:p>
            <a:pPr marL="0" indent="0">
              <a:buNone/>
            </a:pPr>
            <a:r>
              <a:rPr lang="en-GB" sz="1200">
                <a:solidFill>
                  <a:schemeClr val="tx2"/>
                </a:solidFill>
              </a:rPr>
              <a:t>Step-by-step procedures using sequence, if/else, loops.</a:t>
            </a:r>
            <a:endParaRPr lang="en-US" sz="1200" dirty="0"/>
          </a:p>
        </p:txBody>
      </p:sp>
      <p:sp>
        <p:nvSpPr>
          <p:cNvPr id="9" name="Card 41"/>
          <p:cNvSpPr/>
          <p:nvPr/>
        </p:nvSpPr>
        <p:spPr>
          <a:xfrm>
            <a:off x="457200" y="2331720"/>
            <a:ext cx="3931920" cy="548640"/>
          </a:xfrm>
          <a:prstGeom prst="roundRect">
            <a:avLst>
              <a:gd name="adj" fmla="val 1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0" name="Text 42"/>
          <p:cNvSpPr txBox="1"/>
          <p:nvPr/>
        </p:nvSpPr>
        <p:spPr>
          <a:xfrm>
            <a:off x="594360" y="2386584"/>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Object-oriented</a:t>
            </a:r>
            <a:endParaRPr lang="en-US" sz="1300" dirty="0"/>
          </a:p>
        </p:txBody>
      </p:sp>
      <p:sp>
        <p:nvSpPr>
          <p:cNvPr id="11" name="Text 43"/>
          <p:cNvSpPr txBox="1"/>
          <p:nvPr/>
        </p:nvSpPr>
        <p:spPr>
          <a:xfrm>
            <a:off x="2286000" y="2386584"/>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Java, C++, </a:t>
            </a:r>
            <a:r>
              <a:rPr lang="en-US" sz="1100" b="1" dirty="0">
                <a:solidFill>
                  <a:schemeClr val="accent2"/>
                </a:solidFill>
              </a:rPr>
              <a:t>Python</a:t>
            </a:r>
            <a:endParaRPr lang="en-US" sz="1400" dirty="0"/>
          </a:p>
        </p:txBody>
      </p:sp>
      <p:sp>
        <p:nvSpPr>
          <p:cNvPr id="12" name="Text 44"/>
          <p:cNvSpPr txBox="1"/>
          <p:nvPr/>
        </p:nvSpPr>
        <p:spPr>
          <a:xfrm>
            <a:off x="594360" y="2624328"/>
            <a:ext cx="3657600" cy="219456"/>
          </a:xfrm>
          <a:prstGeom prst="rect">
            <a:avLst/>
          </a:prstGeom>
          <a:noFill/>
          <a:ln/>
        </p:spPr>
        <p:txBody>
          <a:bodyPr wrap="square" lIns="0" tIns="0" rIns="0" bIns="0" rtlCol="0" anchor="t"/>
          <a:lstStyle/>
          <a:p>
            <a:pPr marL="0" indent="0">
              <a:buNone/>
            </a:pPr>
            <a:r>
              <a:rPr lang="en-US" sz="1200" dirty="0">
                <a:solidFill>
                  <a:schemeClr val="tx2"/>
                </a:solidFill>
              </a:rPr>
              <a:t>Data and actions bundled into objects, e.g. a Car.</a:t>
            </a:r>
            <a:endParaRPr lang="en-US" sz="1200" dirty="0"/>
          </a:p>
        </p:txBody>
      </p:sp>
      <p:sp>
        <p:nvSpPr>
          <p:cNvPr id="13" name="Text 45"/>
          <p:cNvSpPr txBox="1"/>
          <p:nvPr/>
        </p:nvSpPr>
        <p:spPr>
          <a:xfrm>
            <a:off x="457200" y="2944368"/>
            <a:ext cx="3931920" cy="256032"/>
          </a:xfrm>
          <a:prstGeom prst="rect">
            <a:avLst/>
          </a:prstGeom>
          <a:noFill/>
          <a:ln/>
        </p:spPr>
        <p:txBody>
          <a:bodyPr wrap="square" lIns="0" tIns="0" rIns="0" bIns="0" rtlCol="0" anchor="ctr"/>
          <a:lstStyle/>
          <a:p>
            <a:pPr marL="0" indent="0">
              <a:buNone/>
            </a:pPr>
            <a:r>
              <a:rPr lang="en-US" sz="1200" b="1" dirty="0">
                <a:solidFill>
                  <a:schemeClr val="accent3"/>
                </a:solidFill>
              </a:rPr>
              <a:t>Declarative: </a:t>
            </a:r>
            <a:r>
              <a:rPr lang="en-US" sz="1200" dirty="0">
                <a:solidFill>
                  <a:schemeClr val="tx2"/>
                </a:solidFill>
              </a:rPr>
              <a:t>tell the computer WHAT result you want</a:t>
            </a:r>
            <a:endParaRPr lang="en-US" sz="1200" dirty="0"/>
          </a:p>
        </p:txBody>
      </p:sp>
      <p:sp>
        <p:nvSpPr>
          <p:cNvPr id="14" name="Card 46"/>
          <p:cNvSpPr/>
          <p:nvPr/>
        </p:nvSpPr>
        <p:spPr>
          <a:xfrm>
            <a:off x="457200" y="3236976"/>
            <a:ext cx="3931920" cy="548640"/>
          </a:xfrm>
          <a:prstGeom prst="roundRect">
            <a:avLst>
              <a:gd name="adj" fmla="val 1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5" name="Text 47"/>
          <p:cNvSpPr txBox="1"/>
          <p:nvPr/>
        </p:nvSpPr>
        <p:spPr>
          <a:xfrm>
            <a:off x="594360" y="3291840"/>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Functional</a:t>
            </a:r>
            <a:endParaRPr lang="en-US" sz="1300" dirty="0"/>
          </a:p>
        </p:txBody>
      </p:sp>
      <p:sp>
        <p:nvSpPr>
          <p:cNvPr id="16" name="Text 48"/>
          <p:cNvSpPr txBox="1"/>
          <p:nvPr/>
        </p:nvSpPr>
        <p:spPr>
          <a:xfrm>
            <a:off x="2286000" y="3291840"/>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Haskell, Lisp, </a:t>
            </a:r>
            <a:r>
              <a:rPr lang="en-US" sz="1100" b="1" dirty="0">
                <a:solidFill>
                  <a:schemeClr val="accent2"/>
                </a:solidFill>
              </a:rPr>
              <a:t>Python</a:t>
            </a:r>
            <a:endParaRPr lang="en-US" sz="1400" dirty="0"/>
          </a:p>
        </p:txBody>
      </p:sp>
      <p:sp>
        <p:nvSpPr>
          <p:cNvPr id="17" name="Text 49"/>
          <p:cNvSpPr txBox="1"/>
          <p:nvPr/>
        </p:nvSpPr>
        <p:spPr>
          <a:xfrm>
            <a:off x="594360" y="3529584"/>
            <a:ext cx="3657600" cy="219456"/>
          </a:xfrm>
          <a:prstGeom prst="rect">
            <a:avLst/>
          </a:prstGeom>
          <a:noFill/>
          <a:ln/>
        </p:spPr>
        <p:txBody>
          <a:bodyPr wrap="square" lIns="0" tIns="0" rIns="0" bIns="0" rtlCol="0" anchor="t"/>
          <a:lstStyle/>
          <a:p>
            <a:pPr marL="0" indent="0">
              <a:buNone/>
            </a:pPr>
            <a:r>
              <a:rPr lang="en-US" sz="1200" dirty="0">
                <a:solidFill>
                  <a:schemeClr val="tx2"/>
                </a:solidFill>
              </a:rPr>
              <a:t>Combines functions; same input always gives same output.</a:t>
            </a:r>
            <a:endParaRPr lang="en-US" sz="1200" dirty="0"/>
          </a:p>
        </p:txBody>
      </p:sp>
      <p:sp>
        <p:nvSpPr>
          <p:cNvPr id="18" name="Card 50"/>
          <p:cNvSpPr/>
          <p:nvPr/>
        </p:nvSpPr>
        <p:spPr>
          <a:xfrm>
            <a:off x="457200" y="3831336"/>
            <a:ext cx="3931920" cy="548640"/>
          </a:xfrm>
          <a:prstGeom prst="roundRect">
            <a:avLst>
              <a:gd name="adj" fmla="val 1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9" name="Text 51"/>
          <p:cNvSpPr txBox="1"/>
          <p:nvPr/>
        </p:nvSpPr>
        <p:spPr>
          <a:xfrm>
            <a:off x="594360" y="3886200"/>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Logic</a:t>
            </a:r>
            <a:endParaRPr lang="en-US" sz="1300" dirty="0"/>
          </a:p>
        </p:txBody>
      </p:sp>
      <p:sp>
        <p:nvSpPr>
          <p:cNvPr id="20" name="Text 52"/>
          <p:cNvSpPr txBox="1"/>
          <p:nvPr/>
        </p:nvSpPr>
        <p:spPr>
          <a:xfrm>
            <a:off x="2286000" y="3886200"/>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Prolog</a:t>
            </a:r>
            <a:endParaRPr lang="en-US" sz="1400" dirty="0"/>
          </a:p>
        </p:txBody>
      </p:sp>
      <p:sp>
        <p:nvSpPr>
          <p:cNvPr id="21" name="Text 53"/>
          <p:cNvSpPr txBox="1"/>
          <p:nvPr/>
        </p:nvSpPr>
        <p:spPr>
          <a:xfrm>
            <a:off x="594360" y="4123944"/>
            <a:ext cx="3657600" cy="219456"/>
          </a:xfrm>
          <a:prstGeom prst="rect">
            <a:avLst/>
          </a:prstGeom>
          <a:noFill/>
          <a:ln/>
        </p:spPr>
        <p:txBody>
          <a:bodyPr wrap="square" lIns="0" tIns="0" rIns="0" bIns="0" rtlCol="0" anchor="t"/>
          <a:lstStyle/>
          <a:p>
            <a:pPr marL="0" indent="0">
              <a:buNone/>
            </a:pPr>
            <a:r>
              <a:rPr lang="en-US" sz="1200" dirty="0">
                <a:solidFill>
                  <a:schemeClr val="tx2"/>
                </a:solidFill>
              </a:rPr>
              <a:t>State facts and rules; the computer reasons out answers.</a:t>
            </a:r>
            <a:endParaRPr lang="en-US" sz="1200" dirty="0"/>
          </a:p>
        </p:txBody>
      </p:sp>
      <p:sp>
        <p:nvSpPr>
          <p:cNvPr id="22" name="Text 54"/>
          <p:cNvSpPr txBox="1"/>
          <p:nvPr/>
        </p:nvSpPr>
        <p:spPr>
          <a:xfrm>
            <a:off x="4754880" y="1097280"/>
            <a:ext cx="3931920" cy="292608"/>
          </a:xfrm>
          <a:prstGeom prst="rect">
            <a:avLst/>
          </a:prstGeom>
          <a:noFill/>
          <a:ln/>
        </p:spPr>
        <p:txBody>
          <a:bodyPr wrap="square" lIns="0" tIns="0" rIns="0" bIns="0" rtlCol="0" anchor="ctr"/>
          <a:lstStyle/>
          <a:p>
            <a:pPr marL="0" indent="0">
              <a:buNone/>
            </a:pPr>
            <a:r>
              <a:rPr lang="en-US" sz="1600" b="1" dirty="0">
                <a:solidFill>
                  <a:schemeClr val="tx1"/>
                </a:solidFill>
              </a:rPr>
              <a:t>Grouped by translation</a:t>
            </a:r>
            <a:endParaRPr lang="en-US" sz="1600" dirty="0"/>
          </a:p>
        </p:txBody>
      </p:sp>
      <p:sp>
        <p:nvSpPr>
          <p:cNvPr id="23" name="Card 55"/>
          <p:cNvSpPr/>
          <p:nvPr/>
        </p:nvSpPr>
        <p:spPr>
          <a:xfrm>
            <a:off x="4754880" y="1444752"/>
            <a:ext cx="393192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24" name="Text 56"/>
          <p:cNvSpPr txBox="1"/>
          <p:nvPr/>
        </p:nvSpPr>
        <p:spPr>
          <a:xfrm>
            <a:off x="4892040" y="1499616"/>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Compiled</a:t>
            </a:r>
            <a:endParaRPr lang="en-US" sz="1300" dirty="0"/>
          </a:p>
        </p:txBody>
      </p:sp>
      <p:sp>
        <p:nvSpPr>
          <p:cNvPr id="25" name="Text 57"/>
          <p:cNvSpPr txBox="1"/>
          <p:nvPr/>
        </p:nvSpPr>
        <p:spPr>
          <a:xfrm>
            <a:off x="6583680" y="1499616"/>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C, C++, Rust, Go</a:t>
            </a:r>
            <a:endParaRPr lang="en-US" sz="1400" dirty="0"/>
          </a:p>
        </p:txBody>
      </p:sp>
      <p:sp>
        <p:nvSpPr>
          <p:cNvPr id="26" name="Text 58"/>
          <p:cNvSpPr txBox="1"/>
          <p:nvPr/>
        </p:nvSpPr>
        <p:spPr>
          <a:xfrm>
            <a:off x="4892040" y="1737360"/>
            <a:ext cx="3657600" cy="585216"/>
          </a:xfrm>
          <a:prstGeom prst="rect">
            <a:avLst/>
          </a:prstGeom>
          <a:noFill/>
          <a:ln/>
        </p:spPr>
        <p:txBody>
          <a:bodyPr wrap="square" lIns="0" tIns="0" rIns="0" bIns="0" rtlCol="0" anchor="t"/>
          <a:lstStyle/>
          <a:p>
            <a:pPr marL="0" indent="0">
              <a:buNone/>
            </a:pPr>
            <a:r>
              <a:rPr lang="en-US" sz="1200" dirty="0">
                <a:solidFill>
                  <a:schemeClr val="tx2"/>
                </a:solidFill>
              </a:rPr>
              <a:t>A compiler translates the whole program into machine code before it runs, producing an app (.exe). Very fast to run.</a:t>
            </a:r>
            <a:endParaRPr lang="en-US" sz="1200" dirty="0"/>
          </a:p>
        </p:txBody>
      </p:sp>
      <p:sp>
        <p:nvSpPr>
          <p:cNvPr id="27" name="Card 59"/>
          <p:cNvSpPr/>
          <p:nvPr/>
        </p:nvSpPr>
        <p:spPr>
          <a:xfrm>
            <a:off x="4754880" y="2432304"/>
            <a:ext cx="393192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28" name="Text 60"/>
          <p:cNvSpPr txBox="1"/>
          <p:nvPr/>
        </p:nvSpPr>
        <p:spPr>
          <a:xfrm>
            <a:off x="4892040" y="2487168"/>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Interpreted</a:t>
            </a:r>
            <a:endParaRPr lang="en-US" sz="1300" dirty="0"/>
          </a:p>
        </p:txBody>
      </p:sp>
      <p:sp>
        <p:nvSpPr>
          <p:cNvPr id="29" name="Text 61"/>
          <p:cNvSpPr txBox="1"/>
          <p:nvPr/>
        </p:nvSpPr>
        <p:spPr>
          <a:xfrm>
            <a:off x="6583680" y="2487168"/>
            <a:ext cx="1965960" cy="237744"/>
          </a:xfrm>
          <a:prstGeom prst="rect">
            <a:avLst/>
          </a:prstGeom>
          <a:noFill/>
          <a:ln/>
        </p:spPr>
        <p:txBody>
          <a:bodyPr wrap="square" lIns="0" tIns="0" rIns="0" bIns="0" rtlCol="0" anchor="ctr"/>
          <a:lstStyle/>
          <a:p>
            <a:pPr marL="0" indent="0" algn="r">
              <a:buNone/>
            </a:pPr>
            <a:r>
              <a:rPr lang="en-US" sz="1100" b="1" dirty="0">
                <a:solidFill>
                  <a:schemeClr val="accent2"/>
                </a:solidFill>
              </a:rPr>
              <a:t>Python, </a:t>
            </a:r>
            <a:r>
              <a:rPr lang="en-US" sz="1100" b="1" dirty="0">
                <a:solidFill>
                  <a:schemeClr val="tx2"/>
                </a:solidFill>
              </a:rPr>
              <a:t>JavaScript, PHP</a:t>
            </a:r>
            <a:endParaRPr lang="en-US" sz="1400" dirty="0"/>
          </a:p>
        </p:txBody>
      </p:sp>
      <p:sp>
        <p:nvSpPr>
          <p:cNvPr id="30" name="Text 62"/>
          <p:cNvSpPr txBox="1"/>
          <p:nvPr/>
        </p:nvSpPr>
        <p:spPr>
          <a:xfrm>
            <a:off x="4892040" y="2724912"/>
            <a:ext cx="3657600" cy="585216"/>
          </a:xfrm>
          <a:prstGeom prst="rect">
            <a:avLst/>
          </a:prstGeom>
          <a:noFill/>
          <a:ln/>
        </p:spPr>
        <p:txBody>
          <a:bodyPr wrap="square" lIns="0" tIns="0" rIns="0" bIns="0" rtlCol="0" anchor="t"/>
          <a:lstStyle/>
          <a:p>
            <a:pPr marL="0" indent="0">
              <a:buNone/>
            </a:pPr>
            <a:r>
              <a:rPr lang="en-US" sz="1200" dirty="0">
                <a:solidFill>
                  <a:schemeClr val="tx2"/>
                </a:solidFill>
              </a:rPr>
              <a:t>An interpreter reads and runs the code line by line while it runs. Easy to test and change, but slower.</a:t>
            </a:r>
            <a:endParaRPr lang="en-US" sz="1200" dirty="0"/>
          </a:p>
        </p:txBody>
      </p:sp>
      <p:sp>
        <p:nvSpPr>
          <p:cNvPr id="31" name="Card 63"/>
          <p:cNvSpPr/>
          <p:nvPr/>
        </p:nvSpPr>
        <p:spPr>
          <a:xfrm>
            <a:off x="4754880" y="3419856"/>
            <a:ext cx="393192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32" name="Text 64"/>
          <p:cNvSpPr txBox="1"/>
          <p:nvPr/>
        </p:nvSpPr>
        <p:spPr>
          <a:xfrm>
            <a:off x="4892040" y="3474720"/>
            <a:ext cx="2286000" cy="237744"/>
          </a:xfrm>
          <a:prstGeom prst="rect">
            <a:avLst/>
          </a:prstGeom>
          <a:noFill/>
          <a:ln/>
        </p:spPr>
        <p:txBody>
          <a:bodyPr wrap="square" lIns="0" tIns="0" rIns="0" bIns="0" rtlCol="0" anchor="ctr"/>
          <a:lstStyle/>
          <a:p>
            <a:pPr marL="0" indent="0">
              <a:buNone/>
            </a:pPr>
            <a:r>
              <a:rPr lang="en-US" sz="1300" b="1" dirty="0">
                <a:solidFill>
                  <a:schemeClr val="tx1"/>
                </a:solidFill>
              </a:rPr>
              <a:t>Bytecode + virtual machine</a:t>
            </a:r>
            <a:endParaRPr lang="en-US" sz="1300" dirty="0"/>
          </a:p>
        </p:txBody>
      </p:sp>
      <p:sp>
        <p:nvSpPr>
          <p:cNvPr id="33" name="Text 65"/>
          <p:cNvSpPr txBox="1"/>
          <p:nvPr/>
        </p:nvSpPr>
        <p:spPr>
          <a:xfrm>
            <a:off x="6583680" y="3474720"/>
            <a:ext cx="1965960" cy="237744"/>
          </a:xfrm>
          <a:prstGeom prst="rect">
            <a:avLst/>
          </a:prstGeom>
          <a:noFill/>
          <a:ln/>
        </p:spPr>
        <p:txBody>
          <a:bodyPr wrap="square" lIns="0" tIns="0" rIns="0" bIns="0" rtlCol="0" anchor="ctr"/>
          <a:lstStyle/>
          <a:p>
            <a:pPr marL="0" indent="0" algn="r">
              <a:buNone/>
            </a:pPr>
            <a:r>
              <a:rPr lang="en-US" sz="1100" b="1" dirty="0">
                <a:solidFill>
                  <a:schemeClr val="tx2"/>
                </a:solidFill>
              </a:rPr>
              <a:t>Java, C#, Kotlin</a:t>
            </a:r>
            <a:endParaRPr lang="en-US" sz="1400" dirty="0"/>
          </a:p>
        </p:txBody>
      </p:sp>
      <p:sp>
        <p:nvSpPr>
          <p:cNvPr id="34" name="Text 66"/>
          <p:cNvSpPr txBox="1"/>
          <p:nvPr/>
        </p:nvSpPr>
        <p:spPr>
          <a:xfrm>
            <a:off x="4892040" y="3712464"/>
            <a:ext cx="3657600" cy="630936"/>
          </a:xfrm>
          <a:prstGeom prst="rect">
            <a:avLst/>
          </a:prstGeom>
          <a:noFill/>
          <a:ln/>
        </p:spPr>
        <p:txBody>
          <a:bodyPr wrap="square" lIns="0" tIns="0" rIns="0" bIns="0" rtlCol="0" anchor="t"/>
          <a:lstStyle/>
          <a:p>
            <a:pPr marL="0" indent="0">
              <a:buNone/>
            </a:pPr>
            <a:r>
              <a:rPr lang="en-US" sz="1200" dirty="0">
                <a:solidFill>
                  <a:schemeClr val="tx2"/>
                </a:solidFill>
              </a:rPr>
              <a:t>Compiled to in-between “bytecode”, then a virtual machine (VM) runs it. The same code works on any computer with the VM.</a:t>
            </a:r>
            <a:endParaRPr lang="en-US" sz="1200" dirty="0"/>
          </a:p>
        </p:txBody>
      </p:sp>
    </p:spTree>
    <p:extLst>
      <p:ext uri="{BB962C8B-B14F-4D97-AF65-F5344CB8AC3E}">
        <p14:creationId xmlns:p14="http://schemas.microsoft.com/office/powerpoint/2010/main" val="2272719742"/>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Python</a:t>
            </a:r>
            <a:endParaRPr lang="en-US" sz="3200" dirty="0"/>
          </a:p>
        </p:txBody>
      </p:sp>
      <p:sp>
        <p:nvSpPr>
          <p:cNvPr id="29"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
        <p:nvSpPr>
          <p:cNvPr id="3" name="Card 1"/>
          <p:cNvSpPr/>
          <p:nvPr/>
        </p:nvSpPr>
        <p:spPr>
          <a:xfrm>
            <a:off x="457200" y="1051560"/>
            <a:ext cx="8229600" cy="685800"/>
          </a:xfrm>
          <a:prstGeom prst="roundRect">
            <a:avLst>
              <a:gd name="adj" fmla="val 10667"/>
            </a:avLst>
          </a:prstGeom>
          <a:solidFill>
            <a:schemeClr val="tx1"/>
          </a:solidFill>
          <a:ln w="12700">
            <a:solidFill>
              <a:schemeClr val="tx1"/>
            </a:solidFill>
            <a:prstDash val="solid"/>
          </a:ln>
        </p:spPr>
        <p:txBody>
          <a:bodyPr/>
          <a:lstStyle/>
          <a:p>
            <a:endParaRPr lang="en-ZM"/>
          </a:p>
        </p:txBody>
      </p:sp>
      <p:sp>
        <p:nvSpPr>
          <p:cNvPr id="4" name="Text 2"/>
          <p:cNvSpPr txBox="1"/>
          <p:nvPr/>
        </p:nvSpPr>
        <p:spPr>
          <a:xfrm>
            <a:off x="685800" y="1051560"/>
            <a:ext cx="7772400" cy="685800"/>
          </a:xfrm>
          <a:prstGeom prst="rect">
            <a:avLst/>
          </a:prstGeom>
          <a:noFill/>
          <a:ln/>
        </p:spPr>
        <p:txBody>
          <a:bodyPr wrap="square" lIns="0" tIns="0" rIns="0" bIns="0" rtlCol="0" anchor="ctr"/>
          <a:lstStyle/>
          <a:p>
            <a:pPr marL="0" indent="0">
              <a:buNone/>
            </a:pPr>
            <a:r>
              <a:rPr lang="en-US" sz="1500" b="1" dirty="0">
                <a:solidFill>
                  <a:schemeClr val="accent1"/>
                </a:solidFill>
              </a:rPr>
              <a:t>Python </a:t>
            </a:r>
            <a:r>
              <a:rPr lang="en-US" sz="1500" dirty="0">
                <a:solidFill>
                  <a:schemeClr val="bg1"/>
                </a:solidFill>
              </a:rPr>
              <a:t>is a high-level, interpreted, general-purpose programming language, created by Guido van Rossum in 1991. It is known for code that reads almost like English.</a:t>
            </a:r>
            <a:endParaRPr lang="en-US" sz="1500" dirty="0"/>
          </a:p>
        </p:txBody>
      </p:sp>
      <p:sp>
        <p:nvSpPr>
          <p:cNvPr id="5" name="Card 3"/>
          <p:cNvSpPr/>
          <p:nvPr/>
        </p:nvSpPr>
        <p:spPr>
          <a:xfrm>
            <a:off x="457200" y="192024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6" name="Text 4"/>
          <p:cNvSpPr txBox="1"/>
          <p:nvPr/>
        </p:nvSpPr>
        <p:spPr>
          <a:xfrm>
            <a:off x="621792" y="202996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LANGUAGE TYPE</a:t>
            </a:r>
            <a:endParaRPr lang="en-US" sz="1100" dirty="0"/>
          </a:p>
        </p:txBody>
      </p:sp>
      <p:sp>
        <p:nvSpPr>
          <p:cNvPr id="7" name="Text 5"/>
          <p:cNvSpPr txBox="1"/>
          <p:nvPr/>
        </p:nvSpPr>
        <p:spPr>
          <a:xfrm>
            <a:off x="621792" y="2249424"/>
            <a:ext cx="2377440" cy="329184"/>
          </a:xfrm>
          <a:prstGeom prst="rect">
            <a:avLst/>
          </a:prstGeom>
          <a:noFill/>
          <a:ln/>
        </p:spPr>
        <p:txBody>
          <a:bodyPr wrap="square" lIns="0" tIns="0" rIns="0" bIns="0" rtlCol="0" anchor="ctr"/>
          <a:lstStyle/>
          <a:p>
            <a:pPr marL="0" indent="0">
              <a:buNone/>
            </a:pPr>
            <a:r>
              <a:rPr lang="en-US" sz="1800" b="1">
                <a:solidFill>
                  <a:schemeClr val="accent2"/>
                </a:solidFill>
                <a:latin typeface="Cambria" pitchFamily="34" charset="0"/>
                <a:ea typeface="Cambria" pitchFamily="34" charset="-122"/>
                <a:cs typeface="Cambria" pitchFamily="34" charset="-120"/>
              </a:rPr>
              <a:t>Programming</a:t>
            </a:r>
            <a:endParaRPr lang="en-US" sz="1800" dirty="0"/>
          </a:p>
        </p:txBody>
      </p:sp>
      <p:sp>
        <p:nvSpPr>
          <p:cNvPr id="8" name="Text 6"/>
          <p:cNvSpPr txBox="1"/>
          <p:nvPr/>
        </p:nvSpPr>
        <p:spPr>
          <a:xfrm>
            <a:off x="621792" y="2615184"/>
            <a:ext cx="2377440" cy="502920"/>
          </a:xfrm>
          <a:prstGeom prst="rect">
            <a:avLst/>
          </a:prstGeom>
          <a:noFill/>
          <a:ln/>
        </p:spPr>
        <p:txBody>
          <a:bodyPr wrap="square" lIns="0" tIns="0" rIns="0" bIns="0" rtlCol="0" anchor="t"/>
          <a:lstStyle/>
          <a:p>
            <a:pPr marL="0" indent="0">
              <a:buNone/>
            </a:pPr>
            <a:r>
              <a:rPr lang="en-US" sz="1200" dirty="0">
                <a:solidFill>
                  <a:schemeClr val="tx2"/>
                </a:solidFill>
              </a:rPr>
              <a:t>Gives the computer step-by-step instructions, unlike HTML or SQL.</a:t>
            </a:r>
            <a:endParaRPr lang="en-US" sz="1200" dirty="0"/>
          </a:p>
        </p:txBody>
      </p:sp>
      <p:sp>
        <p:nvSpPr>
          <p:cNvPr id="9" name="Card 7"/>
          <p:cNvSpPr/>
          <p:nvPr/>
        </p:nvSpPr>
        <p:spPr>
          <a:xfrm>
            <a:off x="3246120" y="192024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0" name="Text 8"/>
          <p:cNvSpPr txBox="1"/>
          <p:nvPr/>
        </p:nvSpPr>
        <p:spPr>
          <a:xfrm>
            <a:off x="3410712" y="202996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LEVEL</a:t>
            </a:r>
            <a:endParaRPr lang="en-US" sz="1100" dirty="0"/>
          </a:p>
        </p:txBody>
      </p:sp>
      <p:sp>
        <p:nvSpPr>
          <p:cNvPr id="11" name="Text 9"/>
          <p:cNvSpPr txBox="1"/>
          <p:nvPr/>
        </p:nvSpPr>
        <p:spPr>
          <a:xfrm>
            <a:off x="3410712" y="2249424"/>
            <a:ext cx="2377440" cy="329184"/>
          </a:xfrm>
          <a:prstGeom prst="rect">
            <a:avLst/>
          </a:prstGeom>
          <a:noFill/>
          <a:ln/>
        </p:spPr>
        <p:txBody>
          <a:bodyPr wrap="square" lIns="0" tIns="0" rIns="0" bIns="0" rtlCol="0" anchor="ctr"/>
          <a:lstStyle/>
          <a:p>
            <a:pPr marL="0" indent="0">
              <a:buNone/>
            </a:pPr>
            <a:r>
              <a:rPr lang="en-US" sz="1800" b="1" dirty="0">
                <a:solidFill>
                  <a:schemeClr val="accent2"/>
                </a:solidFill>
                <a:latin typeface="Cambria" pitchFamily="34" charset="0"/>
                <a:ea typeface="Cambria" pitchFamily="34" charset="-122"/>
                <a:cs typeface="Cambria" pitchFamily="34" charset="-120"/>
              </a:rPr>
              <a:t>High-level (3GL)</a:t>
            </a:r>
            <a:endParaRPr lang="en-US" sz="1800" dirty="0"/>
          </a:p>
        </p:txBody>
      </p:sp>
      <p:sp>
        <p:nvSpPr>
          <p:cNvPr id="12" name="Text 10"/>
          <p:cNvSpPr txBox="1"/>
          <p:nvPr/>
        </p:nvSpPr>
        <p:spPr>
          <a:xfrm>
            <a:off x="3410712" y="2615184"/>
            <a:ext cx="2377440" cy="502920"/>
          </a:xfrm>
          <a:prstGeom prst="rect">
            <a:avLst/>
          </a:prstGeom>
          <a:noFill/>
          <a:ln/>
        </p:spPr>
        <p:txBody>
          <a:bodyPr wrap="square" lIns="0" tIns="0" rIns="0" bIns="0" rtlCol="0" anchor="t"/>
          <a:lstStyle/>
          <a:p>
            <a:pPr marL="0" indent="0">
              <a:buNone/>
            </a:pPr>
            <a:r>
              <a:rPr lang="en-US" sz="1200" dirty="0">
                <a:solidFill>
                  <a:schemeClr val="tx2"/>
                </a:solidFill>
              </a:rPr>
              <a:t>Uses English-like words such as print, if and for, not 1s and 0s.</a:t>
            </a:r>
            <a:endParaRPr lang="en-US" sz="1200" dirty="0"/>
          </a:p>
        </p:txBody>
      </p:sp>
      <p:sp>
        <p:nvSpPr>
          <p:cNvPr id="13" name="Card 11"/>
          <p:cNvSpPr/>
          <p:nvPr/>
        </p:nvSpPr>
        <p:spPr>
          <a:xfrm>
            <a:off x="6035040" y="192024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4" name="Text 12"/>
          <p:cNvSpPr txBox="1"/>
          <p:nvPr/>
        </p:nvSpPr>
        <p:spPr>
          <a:xfrm>
            <a:off x="6199632" y="202996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TRANSLATION</a:t>
            </a:r>
            <a:endParaRPr lang="en-US" sz="1100" dirty="0"/>
          </a:p>
        </p:txBody>
      </p:sp>
      <p:sp>
        <p:nvSpPr>
          <p:cNvPr id="15" name="Text 13"/>
          <p:cNvSpPr txBox="1"/>
          <p:nvPr/>
        </p:nvSpPr>
        <p:spPr>
          <a:xfrm>
            <a:off x="6199632" y="2249424"/>
            <a:ext cx="2377440" cy="329184"/>
          </a:xfrm>
          <a:prstGeom prst="rect">
            <a:avLst/>
          </a:prstGeom>
          <a:noFill/>
          <a:ln/>
        </p:spPr>
        <p:txBody>
          <a:bodyPr wrap="square" lIns="0" tIns="0" rIns="0" bIns="0" rtlCol="0" anchor="ctr"/>
          <a:lstStyle/>
          <a:p>
            <a:pPr marL="0" indent="0">
              <a:buNone/>
            </a:pPr>
            <a:r>
              <a:rPr lang="en-US" sz="1800" b="1" dirty="0">
                <a:solidFill>
                  <a:schemeClr val="accent2"/>
                </a:solidFill>
                <a:latin typeface="Cambria" pitchFamily="34" charset="0"/>
                <a:ea typeface="Cambria" pitchFamily="34" charset="-122"/>
                <a:cs typeface="Cambria" pitchFamily="34" charset="-120"/>
              </a:rPr>
              <a:t>Interpreted</a:t>
            </a:r>
            <a:endParaRPr lang="en-US" sz="1800" dirty="0"/>
          </a:p>
        </p:txBody>
      </p:sp>
      <p:sp>
        <p:nvSpPr>
          <p:cNvPr id="16" name="Text 14"/>
          <p:cNvSpPr txBox="1"/>
          <p:nvPr/>
        </p:nvSpPr>
        <p:spPr>
          <a:xfrm>
            <a:off x="6199632" y="2615184"/>
            <a:ext cx="2377440" cy="502920"/>
          </a:xfrm>
          <a:prstGeom prst="rect">
            <a:avLst/>
          </a:prstGeom>
          <a:noFill/>
          <a:ln/>
        </p:spPr>
        <p:txBody>
          <a:bodyPr wrap="square" lIns="0" tIns="0" rIns="0" bIns="0" rtlCol="0" anchor="t"/>
          <a:lstStyle/>
          <a:p>
            <a:pPr marL="0" indent="0">
              <a:buNone/>
            </a:pPr>
            <a:r>
              <a:rPr lang="en-GB" sz="1200">
                <a:solidFill>
                  <a:schemeClr val="tx2"/>
                </a:solidFill>
              </a:rPr>
              <a:t>python.exe runs your code line by line (via bytecode).</a:t>
            </a:r>
            <a:endParaRPr lang="en-US" sz="1200" dirty="0"/>
          </a:p>
        </p:txBody>
      </p:sp>
      <p:sp>
        <p:nvSpPr>
          <p:cNvPr id="17" name="Card 15"/>
          <p:cNvSpPr/>
          <p:nvPr/>
        </p:nvSpPr>
        <p:spPr>
          <a:xfrm>
            <a:off x="457200" y="324612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8" name="Text 16"/>
          <p:cNvSpPr txBox="1"/>
          <p:nvPr/>
        </p:nvSpPr>
        <p:spPr>
          <a:xfrm>
            <a:off x="621792" y="335584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PARADIGM</a:t>
            </a:r>
            <a:endParaRPr lang="en-US" sz="1100" dirty="0"/>
          </a:p>
        </p:txBody>
      </p:sp>
      <p:sp>
        <p:nvSpPr>
          <p:cNvPr id="19" name="Text 17"/>
          <p:cNvSpPr txBox="1"/>
          <p:nvPr/>
        </p:nvSpPr>
        <p:spPr>
          <a:xfrm>
            <a:off x="621792" y="3575304"/>
            <a:ext cx="2377440" cy="329184"/>
          </a:xfrm>
          <a:prstGeom prst="rect">
            <a:avLst/>
          </a:prstGeom>
          <a:noFill/>
          <a:ln/>
        </p:spPr>
        <p:txBody>
          <a:bodyPr wrap="square" lIns="0" tIns="0" rIns="0" bIns="0" rtlCol="0" anchor="ctr"/>
          <a:lstStyle/>
          <a:p>
            <a:pPr marL="0" indent="0">
              <a:buNone/>
            </a:pPr>
            <a:r>
              <a:rPr lang="en-US" sz="1800" b="1" dirty="0">
                <a:solidFill>
                  <a:schemeClr val="accent2"/>
                </a:solidFill>
                <a:latin typeface="Cambria" pitchFamily="34" charset="0"/>
                <a:ea typeface="Cambria" pitchFamily="34" charset="-122"/>
                <a:cs typeface="Cambria" pitchFamily="34" charset="-120"/>
              </a:rPr>
              <a:t>Multi-paradigm</a:t>
            </a:r>
            <a:endParaRPr lang="en-US" sz="1800" dirty="0"/>
          </a:p>
        </p:txBody>
      </p:sp>
      <p:sp>
        <p:nvSpPr>
          <p:cNvPr id="20" name="Text 18"/>
          <p:cNvSpPr txBox="1"/>
          <p:nvPr/>
        </p:nvSpPr>
        <p:spPr>
          <a:xfrm>
            <a:off x="621792" y="3941064"/>
            <a:ext cx="2377440" cy="502920"/>
          </a:xfrm>
          <a:prstGeom prst="rect">
            <a:avLst/>
          </a:prstGeom>
          <a:noFill/>
          <a:ln/>
        </p:spPr>
        <p:txBody>
          <a:bodyPr wrap="square" lIns="0" tIns="0" rIns="0" bIns="0" rtlCol="0" anchor="t"/>
          <a:lstStyle/>
          <a:p>
            <a:pPr marL="0" indent="0">
              <a:buNone/>
            </a:pPr>
            <a:r>
              <a:rPr lang="en-US" sz="1200" dirty="0">
                <a:solidFill>
                  <a:schemeClr val="tx2"/>
                </a:solidFill>
              </a:rPr>
              <a:t>Supports structured, object-oriented and functional styles.</a:t>
            </a:r>
            <a:endParaRPr lang="en-US" sz="1200" dirty="0"/>
          </a:p>
        </p:txBody>
      </p:sp>
      <p:sp>
        <p:nvSpPr>
          <p:cNvPr id="21" name="Card 19"/>
          <p:cNvSpPr/>
          <p:nvPr/>
        </p:nvSpPr>
        <p:spPr>
          <a:xfrm>
            <a:off x="3246120" y="324612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22" name="Text 20"/>
          <p:cNvSpPr txBox="1"/>
          <p:nvPr/>
        </p:nvSpPr>
        <p:spPr>
          <a:xfrm>
            <a:off x="3410712" y="335584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USED FOR</a:t>
            </a:r>
            <a:endParaRPr lang="en-US" sz="1100" dirty="0"/>
          </a:p>
        </p:txBody>
      </p:sp>
      <p:sp>
        <p:nvSpPr>
          <p:cNvPr id="23" name="Text 21"/>
          <p:cNvSpPr txBox="1"/>
          <p:nvPr/>
        </p:nvSpPr>
        <p:spPr>
          <a:xfrm>
            <a:off x="3410712" y="3575304"/>
            <a:ext cx="2377440" cy="329184"/>
          </a:xfrm>
          <a:prstGeom prst="rect">
            <a:avLst/>
          </a:prstGeom>
          <a:noFill/>
          <a:ln/>
        </p:spPr>
        <p:txBody>
          <a:bodyPr wrap="square" lIns="0" tIns="0" rIns="0" bIns="0" rtlCol="0" anchor="ctr"/>
          <a:lstStyle/>
          <a:p>
            <a:pPr marL="0" indent="0">
              <a:buNone/>
            </a:pPr>
            <a:r>
              <a:rPr lang="en-US" sz="1800" b="1" dirty="0">
                <a:solidFill>
                  <a:schemeClr val="accent2"/>
                </a:solidFill>
                <a:latin typeface="Cambria" pitchFamily="34" charset="0"/>
                <a:ea typeface="Cambria" pitchFamily="34" charset="-122"/>
                <a:cs typeface="Cambria" pitchFamily="34" charset="-120"/>
              </a:rPr>
              <a:t>Almost everything</a:t>
            </a:r>
            <a:endParaRPr lang="en-US" sz="1800" dirty="0"/>
          </a:p>
        </p:txBody>
      </p:sp>
      <p:sp>
        <p:nvSpPr>
          <p:cNvPr id="24" name="Text 22"/>
          <p:cNvSpPr txBox="1"/>
          <p:nvPr/>
        </p:nvSpPr>
        <p:spPr>
          <a:xfrm>
            <a:off x="3410712" y="3941064"/>
            <a:ext cx="2377440" cy="502920"/>
          </a:xfrm>
          <a:prstGeom prst="rect">
            <a:avLst/>
          </a:prstGeom>
          <a:noFill/>
          <a:ln/>
        </p:spPr>
        <p:txBody>
          <a:bodyPr wrap="square" lIns="0" tIns="0" rIns="0" bIns="0" rtlCol="0" anchor="t"/>
          <a:lstStyle/>
          <a:p>
            <a:pPr marL="0" indent="0">
              <a:buNone/>
            </a:pPr>
            <a:r>
              <a:rPr lang="en-GB" sz="1200">
                <a:solidFill>
                  <a:schemeClr val="tx2"/>
                </a:solidFill>
              </a:rPr>
              <a:t>Automation, websites, data, AI, and tools like the Signal decryptor.</a:t>
            </a:r>
            <a:endParaRPr lang="en-US" sz="1200" dirty="0"/>
          </a:p>
        </p:txBody>
      </p:sp>
      <p:sp>
        <p:nvSpPr>
          <p:cNvPr id="25" name="Card 23"/>
          <p:cNvSpPr/>
          <p:nvPr/>
        </p:nvSpPr>
        <p:spPr>
          <a:xfrm>
            <a:off x="6035040" y="3246120"/>
            <a:ext cx="2651760" cy="1234440"/>
          </a:xfrm>
          <a:prstGeom prst="roundRect">
            <a:avLst>
              <a:gd name="adj" fmla="val 592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26" name="Text 24"/>
          <p:cNvSpPr txBox="1"/>
          <p:nvPr/>
        </p:nvSpPr>
        <p:spPr>
          <a:xfrm>
            <a:off x="6199632" y="3355848"/>
            <a:ext cx="2377440" cy="201168"/>
          </a:xfrm>
          <a:prstGeom prst="rect">
            <a:avLst/>
          </a:prstGeom>
          <a:noFill/>
          <a:ln/>
        </p:spPr>
        <p:txBody>
          <a:bodyPr wrap="square" lIns="0" tIns="0" rIns="0" bIns="0" rtlCol="0" anchor="t"/>
          <a:lstStyle/>
          <a:p>
            <a:pPr marL="0" indent="0">
              <a:buNone/>
            </a:pPr>
            <a:r>
              <a:rPr lang="en-US" sz="1100" b="1" kern="0" spc="100" dirty="0">
                <a:solidFill>
                  <a:schemeClr val="accent3"/>
                </a:solidFill>
              </a:rPr>
              <a:t>KNOWN FOR</a:t>
            </a:r>
            <a:endParaRPr lang="en-US" sz="1100" dirty="0"/>
          </a:p>
        </p:txBody>
      </p:sp>
      <p:sp>
        <p:nvSpPr>
          <p:cNvPr id="27" name="Text 25"/>
          <p:cNvSpPr txBox="1"/>
          <p:nvPr/>
        </p:nvSpPr>
        <p:spPr>
          <a:xfrm>
            <a:off x="6199632" y="3575304"/>
            <a:ext cx="2377440" cy="329184"/>
          </a:xfrm>
          <a:prstGeom prst="rect">
            <a:avLst/>
          </a:prstGeom>
          <a:noFill/>
          <a:ln/>
        </p:spPr>
        <p:txBody>
          <a:bodyPr wrap="square" lIns="0" tIns="0" rIns="0" bIns="0" rtlCol="0" anchor="ctr"/>
          <a:lstStyle/>
          <a:p>
            <a:pPr marL="0" indent="0">
              <a:buNone/>
            </a:pPr>
            <a:r>
              <a:rPr lang="en-US" sz="1800" b="1" dirty="0">
                <a:solidFill>
                  <a:schemeClr val="accent2"/>
                </a:solidFill>
                <a:latin typeface="Cambria" pitchFamily="34" charset="0"/>
                <a:ea typeface="Cambria" pitchFamily="34" charset="-122"/>
                <a:cs typeface="Cambria" pitchFamily="34" charset="-120"/>
              </a:rPr>
              <a:t>Readability</a:t>
            </a:r>
            <a:endParaRPr lang="en-US" sz="1800" dirty="0"/>
          </a:p>
        </p:txBody>
      </p:sp>
      <p:sp>
        <p:nvSpPr>
          <p:cNvPr id="28" name="Text 26"/>
          <p:cNvSpPr txBox="1"/>
          <p:nvPr/>
        </p:nvSpPr>
        <p:spPr>
          <a:xfrm>
            <a:off x="6199632" y="3941064"/>
            <a:ext cx="2377440" cy="502920"/>
          </a:xfrm>
          <a:prstGeom prst="rect">
            <a:avLst/>
          </a:prstGeom>
          <a:noFill/>
          <a:ln/>
        </p:spPr>
        <p:txBody>
          <a:bodyPr wrap="square" lIns="0" tIns="0" rIns="0" bIns="0" rtlCol="0" anchor="t"/>
          <a:lstStyle/>
          <a:p>
            <a:pPr marL="0" indent="0">
              <a:buNone/>
            </a:pPr>
            <a:r>
              <a:rPr lang="en-US" sz="1200" dirty="0">
                <a:solidFill>
                  <a:schemeClr val="tx2"/>
                </a:solidFill>
              </a:rPr>
              <a:t>Indentation instead of { } braces, and a huge library of free packages.</a:t>
            </a:r>
            <a:endParaRPr lang="en-US" sz="1200" dirty="0"/>
          </a:p>
        </p:txBody>
      </p:sp>
    </p:spTree>
    <p:extLst>
      <p:ext uri="{BB962C8B-B14F-4D97-AF65-F5344CB8AC3E}">
        <p14:creationId xmlns:p14="http://schemas.microsoft.com/office/powerpoint/2010/main" val="3767071238"/>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Your First Python File</a:t>
            </a:r>
            <a:endParaRPr lang="en-US" sz="3200" dirty="0"/>
          </a:p>
        </p:txBody>
      </p:sp>
      <p:sp>
        <p:nvSpPr>
          <p:cNvPr id="32"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
        <p:nvSpPr>
          <p:cNvPr id="3" name="Card 1"/>
          <p:cNvSpPr/>
          <p:nvPr/>
        </p:nvSpPr>
        <p:spPr>
          <a:xfrm>
            <a:off x="457200" y="1097280"/>
            <a:ext cx="3931920" cy="658368"/>
          </a:xfrm>
          <a:prstGeom prst="roundRect">
            <a:avLst>
              <a:gd name="adj" fmla="val 11111"/>
            </a:avLst>
          </a:prstGeom>
          <a:solidFill>
            <a:schemeClr val="accent1"/>
          </a:solidFill>
          <a:ln w="12700">
            <a:solidFill>
              <a:schemeClr val="accent1"/>
            </a:solidFill>
            <a:prstDash val="solid"/>
          </a:ln>
        </p:spPr>
        <p:txBody>
          <a:bodyPr/>
          <a:lstStyle/>
          <a:p>
            <a:endParaRPr lang="en-ZM"/>
          </a:p>
        </p:txBody>
      </p:sp>
      <p:sp>
        <p:nvSpPr>
          <p:cNvPr id="4" name="Card 2"/>
          <p:cNvSpPr/>
          <p:nvPr/>
        </p:nvSpPr>
        <p:spPr>
          <a:xfrm>
            <a:off x="594360" y="1216152"/>
            <a:ext cx="777240" cy="420624"/>
          </a:xfrm>
          <a:prstGeom prst="roundRect">
            <a:avLst>
              <a:gd name="adj" fmla="val 17391"/>
            </a:avLst>
          </a:prstGeom>
          <a:solidFill>
            <a:schemeClr val="tx1"/>
          </a:solidFill>
          <a:ln w="12700">
            <a:solidFill>
              <a:schemeClr val="tx1"/>
            </a:solidFill>
            <a:prstDash val="solid"/>
          </a:ln>
        </p:spPr>
        <p:txBody>
          <a:bodyPr/>
          <a:lstStyle/>
          <a:p>
            <a:endParaRPr lang="en-ZM"/>
          </a:p>
        </p:txBody>
      </p:sp>
      <p:sp>
        <p:nvSpPr>
          <p:cNvPr id="5" name="Text 3"/>
          <p:cNvSpPr txBox="1"/>
          <p:nvPr/>
        </p:nvSpPr>
        <p:spPr>
          <a:xfrm>
            <a:off x="594360" y="1216152"/>
            <a:ext cx="777240" cy="420624"/>
          </a:xfrm>
          <a:prstGeom prst="rect">
            <a:avLst/>
          </a:prstGeom>
          <a:noFill/>
          <a:ln/>
        </p:spPr>
        <p:txBody>
          <a:bodyPr wrap="square" lIns="0" tIns="0" rIns="0" bIns="0" rtlCol="0" anchor="ctr"/>
          <a:lstStyle/>
          <a:p>
            <a:pPr marL="0" indent="0" algn="ctr">
              <a:buNone/>
            </a:pPr>
            <a:r>
              <a:rPr lang="en-US" sz="1800" b="1" dirty="0">
                <a:solidFill>
                  <a:schemeClr val="accent1"/>
                </a:solidFill>
                <a:latin typeface="Courier New" pitchFamily="34" charset="0"/>
                <a:ea typeface="Courier New" pitchFamily="34" charset="-122"/>
                <a:cs typeface="Courier New" pitchFamily="34" charset="-120"/>
              </a:rPr>
              <a:t>.py</a:t>
            </a:r>
            <a:endParaRPr lang="en-US" sz="1800" dirty="0"/>
          </a:p>
        </p:txBody>
      </p:sp>
      <p:sp>
        <p:nvSpPr>
          <p:cNvPr id="6" name="Text 4"/>
          <p:cNvSpPr txBox="1"/>
          <p:nvPr/>
        </p:nvSpPr>
        <p:spPr>
          <a:xfrm>
            <a:off x="1508760" y="1133856"/>
            <a:ext cx="2834640" cy="585216"/>
          </a:xfrm>
          <a:prstGeom prst="rect">
            <a:avLst/>
          </a:prstGeom>
          <a:noFill/>
          <a:ln/>
        </p:spPr>
        <p:txBody>
          <a:bodyPr wrap="square" lIns="0" tIns="0" rIns="0" bIns="0" rtlCol="0" anchor="ctr"/>
          <a:lstStyle/>
          <a:p>
            <a:pPr marL="0" indent="0">
              <a:buNone/>
            </a:pPr>
            <a:r>
              <a:rPr lang="en-US" sz="1300" b="1" dirty="0">
                <a:solidFill>
                  <a:schemeClr val="tx1"/>
                </a:solidFill>
              </a:rPr>
              <a:t>Python files end in .py</a:t>
            </a:r>
            <a:endParaRPr lang="en-US" sz="1300" dirty="0"/>
          </a:p>
          <a:p>
            <a:pPr marL="0" indent="0">
              <a:buNone/>
            </a:pPr>
            <a:r>
              <a:rPr lang="en-US" sz="1300" dirty="0">
                <a:solidFill>
                  <a:schemeClr val="tx1"/>
                </a:solidFill>
              </a:rPr>
              <a:t>e.g. add.py, hello.py, decrypt_backup.py</a:t>
            </a:r>
            <a:endParaRPr lang="en-US" sz="1300" dirty="0"/>
          </a:p>
        </p:txBody>
      </p:sp>
      <p:sp>
        <p:nvSpPr>
          <p:cNvPr id="7" name="Text 5"/>
          <p:cNvSpPr txBox="1"/>
          <p:nvPr/>
        </p:nvSpPr>
        <p:spPr>
          <a:xfrm>
            <a:off x="457200" y="187452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1. Write the code, save it as add.py</a:t>
            </a:r>
            <a:endParaRPr lang="en-US" sz="1500" dirty="0"/>
          </a:p>
        </p:txBody>
      </p:sp>
      <p:sp>
        <p:nvSpPr>
          <p:cNvPr id="8" name="Terminal 6"/>
          <p:cNvSpPr/>
          <p:nvPr/>
        </p:nvSpPr>
        <p:spPr>
          <a:xfrm>
            <a:off x="457200" y="2212848"/>
            <a:ext cx="3931920" cy="2286000"/>
          </a:xfrm>
          <a:prstGeom prst="roundRect">
            <a:avLst>
              <a:gd name="adj" fmla="val 3200"/>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9" name="Dot 7"/>
          <p:cNvSpPr/>
          <p:nvPr/>
        </p:nvSpPr>
        <p:spPr>
          <a:xfrm>
            <a:off x="603504" y="2322576"/>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0" name="Dot 8"/>
          <p:cNvSpPr/>
          <p:nvPr/>
        </p:nvSpPr>
        <p:spPr>
          <a:xfrm>
            <a:off x="758952" y="2322576"/>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1" name="Dot 9"/>
          <p:cNvSpPr/>
          <p:nvPr/>
        </p:nvSpPr>
        <p:spPr>
          <a:xfrm>
            <a:off x="914400" y="2322576"/>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2" name="Text 10"/>
          <p:cNvSpPr txBox="1"/>
          <p:nvPr/>
        </p:nvSpPr>
        <p:spPr>
          <a:xfrm>
            <a:off x="1143000" y="2276856"/>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add.py</a:t>
            </a:r>
            <a:endParaRPr lang="en-US" sz="1000" dirty="0"/>
          </a:p>
        </p:txBody>
      </p:sp>
      <p:sp>
        <p:nvSpPr>
          <p:cNvPr id="13" name="Code 11"/>
          <p:cNvSpPr txBox="1"/>
          <p:nvPr/>
        </p:nvSpPr>
        <p:spPr>
          <a:xfrm>
            <a:off x="621792" y="2542032"/>
            <a:ext cx="3657600" cy="1865376"/>
          </a:xfrm>
          <a:prstGeom prst="rect">
            <a:avLst/>
          </a:prstGeom>
          <a:noFill/>
          <a:ln/>
        </p:spPr>
        <p:txBody>
          <a:bodyPr wrap="square" lIns="0" tIns="0" rIns="0" bIns="0" rtlCol="0" anchor="t"/>
          <a:lstStyle/>
          <a:p>
            <a:pPr marL="0" indent="0">
              <a:buNone/>
            </a:pPr>
            <a:r>
              <a:rPr lang="en-US" sz="1300" dirty="0">
                <a:solidFill>
                  <a:schemeClr val="accent5"/>
                </a:solidFill>
                <a:latin typeface="Courier New" pitchFamily="34" charset="0"/>
                <a:ea typeface="Courier New" pitchFamily="34" charset="-122"/>
                <a:cs typeface="Courier New" pitchFamily="34" charset="-120"/>
              </a:rPr>
              <a:t># add.py: adds two numbers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a = 5</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b = 3</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total = a + b</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print("The sum is", total)</a:t>
            </a:r>
            <a:endParaRPr lang="en-US" sz="1300" dirty="0"/>
          </a:p>
        </p:txBody>
      </p:sp>
      <p:sp>
        <p:nvSpPr>
          <p:cNvPr id="14" name="Text 12"/>
          <p:cNvSpPr txBox="1"/>
          <p:nvPr/>
        </p:nvSpPr>
        <p:spPr>
          <a:xfrm>
            <a:off x="4754880" y="109728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2. Run it: pick any one way</a:t>
            </a:r>
            <a:endParaRPr lang="en-US" sz="1500" dirty="0"/>
          </a:p>
        </p:txBody>
      </p:sp>
      <p:sp>
        <p:nvSpPr>
          <p:cNvPr id="15" name="Card 13"/>
          <p:cNvSpPr/>
          <p:nvPr/>
        </p:nvSpPr>
        <p:spPr>
          <a:xfrm>
            <a:off x="4754880" y="1463040"/>
            <a:ext cx="393192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6" name="Badge 14"/>
          <p:cNvSpPr/>
          <p:nvPr/>
        </p:nvSpPr>
        <p:spPr>
          <a:xfrm>
            <a:off x="4892040" y="1572768"/>
            <a:ext cx="329184" cy="329184"/>
          </a:xfrm>
          <a:prstGeom prst="ellipse">
            <a:avLst/>
          </a:prstGeom>
          <a:solidFill>
            <a:schemeClr val="accent2"/>
          </a:solidFill>
          <a:ln w="12700">
            <a:solidFill>
              <a:schemeClr val="accent2"/>
            </a:solidFill>
            <a:prstDash val="solid"/>
          </a:ln>
        </p:spPr>
        <p:txBody>
          <a:bodyPr/>
          <a:lstStyle/>
          <a:p>
            <a:endParaRPr lang="en-ZM"/>
          </a:p>
        </p:txBody>
      </p:sp>
      <p:sp>
        <p:nvSpPr>
          <p:cNvPr id="17" name="Text 15"/>
          <p:cNvSpPr txBox="1"/>
          <p:nvPr/>
        </p:nvSpPr>
        <p:spPr>
          <a:xfrm>
            <a:off x="4892040" y="157276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A</a:t>
            </a:r>
            <a:endParaRPr lang="en-US" sz="1200" dirty="0"/>
          </a:p>
        </p:txBody>
      </p:sp>
      <p:sp>
        <p:nvSpPr>
          <p:cNvPr id="18" name="Text 16"/>
          <p:cNvSpPr txBox="1"/>
          <p:nvPr/>
        </p:nvSpPr>
        <p:spPr>
          <a:xfrm>
            <a:off x="5321808" y="1572768"/>
            <a:ext cx="3291840" cy="329184"/>
          </a:xfrm>
          <a:prstGeom prst="rect">
            <a:avLst/>
          </a:prstGeom>
          <a:noFill/>
          <a:ln/>
        </p:spPr>
        <p:txBody>
          <a:bodyPr wrap="square" lIns="0" tIns="0" rIns="0" bIns="0" rtlCol="0" anchor="ctr"/>
          <a:lstStyle/>
          <a:p>
            <a:pPr marL="0" indent="0">
              <a:buNone/>
            </a:pPr>
            <a:r>
              <a:rPr lang="en-US" sz="1400" b="1" dirty="0">
                <a:solidFill>
                  <a:schemeClr val="tx1"/>
                </a:solidFill>
              </a:rPr>
              <a:t>In an editor (VS Code)</a:t>
            </a:r>
            <a:endParaRPr lang="en-US" sz="1400" dirty="0"/>
          </a:p>
        </p:txBody>
      </p:sp>
      <p:sp>
        <p:nvSpPr>
          <p:cNvPr id="19" name="Text 17"/>
          <p:cNvSpPr txBox="1"/>
          <p:nvPr/>
        </p:nvSpPr>
        <p:spPr>
          <a:xfrm>
            <a:off x="4892040" y="1920240"/>
            <a:ext cx="3657600" cy="420624"/>
          </a:xfrm>
          <a:prstGeom prst="rect">
            <a:avLst/>
          </a:prstGeom>
          <a:noFill/>
          <a:ln/>
        </p:spPr>
        <p:txBody>
          <a:bodyPr wrap="square" lIns="0" tIns="0" rIns="0" bIns="0" rtlCol="0" anchor="t"/>
          <a:lstStyle/>
          <a:p>
            <a:pPr marL="0" indent="0">
              <a:buNone/>
            </a:pPr>
            <a:r>
              <a:rPr lang="en-US" sz="1200" dirty="0">
                <a:solidFill>
                  <a:schemeClr val="tx2"/>
                </a:solidFill>
              </a:rPr>
              <a:t>Open add.py and click </a:t>
            </a:r>
            <a:r>
              <a:rPr lang="en-US" sz="1200" b="1" dirty="0">
                <a:solidFill>
                  <a:schemeClr val="tx2"/>
                </a:solidFill>
              </a:rPr>
              <a:t>▶ Run Python File</a:t>
            </a:r>
            <a:r>
              <a:rPr lang="en-US" sz="1200" dirty="0">
                <a:solidFill>
                  <a:schemeClr val="tx2"/>
                </a:solidFill>
              </a:rPr>
              <a:t> (top-right). The result shows in the panel below.</a:t>
            </a:r>
            <a:endParaRPr lang="en-US" sz="1200" dirty="0"/>
          </a:p>
        </p:txBody>
      </p:sp>
      <p:sp>
        <p:nvSpPr>
          <p:cNvPr id="20" name="Terminal 18"/>
          <p:cNvSpPr/>
          <p:nvPr/>
        </p:nvSpPr>
        <p:spPr>
          <a:xfrm>
            <a:off x="4754880" y="2487168"/>
            <a:ext cx="3931920" cy="896112"/>
          </a:xfrm>
          <a:prstGeom prst="roundRect">
            <a:avLst>
              <a:gd name="adj" fmla="val 8163"/>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1" name="Dot 19"/>
          <p:cNvSpPr/>
          <p:nvPr/>
        </p:nvSpPr>
        <p:spPr>
          <a:xfrm>
            <a:off x="4901184" y="2596896"/>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2" name="Dot 20"/>
          <p:cNvSpPr/>
          <p:nvPr/>
        </p:nvSpPr>
        <p:spPr>
          <a:xfrm>
            <a:off x="5056632" y="2596896"/>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3" name="Dot 21"/>
          <p:cNvSpPr/>
          <p:nvPr/>
        </p:nvSpPr>
        <p:spPr>
          <a:xfrm>
            <a:off x="5212080" y="2596896"/>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4" name="Text 22"/>
          <p:cNvSpPr txBox="1"/>
          <p:nvPr/>
        </p:nvSpPr>
        <p:spPr>
          <a:xfrm>
            <a:off x="5440680" y="2551176"/>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B · Command Prompt (CMD)</a:t>
            </a:r>
            <a:endParaRPr lang="en-US" sz="1000" dirty="0"/>
          </a:p>
        </p:txBody>
      </p:sp>
      <p:sp>
        <p:nvSpPr>
          <p:cNvPr id="25" name="Code 23"/>
          <p:cNvSpPr txBox="1"/>
          <p:nvPr/>
        </p:nvSpPr>
        <p:spPr>
          <a:xfrm>
            <a:off x="4919472" y="2816352"/>
            <a:ext cx="3657600" cy="475488"/>
          </a:xfrm>
          <a:prstGeom prst="rect">
            <a:avLst/>
          </a:prstGeom>
          <a:noFill/>
          <a:ln/>
        </p:spPr>
        <p:txBody>
          <a:bodyPr wrap="square" lIns="0" tIns="0" rIns="0" bIns="0" rtlCol="0" anchor="t"/>
          <a:lstStyle/>
          <a:p>
            <a:pPr marL="0" indent="0">
              <a:buNone/>
            </a:pPr>
            <a:r>
              <a:rPr lang="en-GB" sz="1200">
                <a:solidFill>
                  <a:srgbClr val="FFD43B"/>
                </a:solidFill>
                <a:latin typeface="Courier New" pitchFamily="34" charset="0"/>
                <a:ea typeface="Courier New" pitchFamily="34" charset="-122"/>
                <a:cs typeface="Courier New" pitchFamily="34" charset="-120"/>
              </a:rPr>
              <a:t>C:\practice&gt; python add.py</a:t>
            </a:r>
            <a:endParaRPr lang="en-US" sz="1200" dirty="0">
              <a:solidFill>
                <a:srgbClr val="FFD43B"/>
              </a:solidFill>
            </a:endParaRPr>
          </a:p>
          <a:p>
            <a:pPr marL="0" indent="0">
              <a:buNone/>
            </a:pPr>
            <a:r>
              <a:rPr lang="en-US" sz="1200" dirty="0">
                <a:solidFill>
                  <a:schemeClr val="accent3"/>
                </a:solidFill>
                <a:latin typeface="Courier New" pitchFamily="34" charset="0"/>
                <a:ea typeface="Courier New" pitchFamily="34" charset="-122"/>
                <a:cs typeface="Courier New" pitchFamily="34" charset="-120"/>
              </a:rPr>
              <a:t>The sum is 8</a:t>
            </a:r>
            <a:endParaRPr lang="en-US" sz="1200" dirty="0"/>
          </a:p>
        </p:txBody>
      </p:sp>
      <p:sp>
        <p:nvSpPr>
          <p:cNvPr id="26" name="Terminal 24"/>
          <p:cNvSpPr/>
          <p:nvPr/>
        </p:nvSpPr>
        <p:spPr>
          <a:xfrm>
            <a:off x="4754880" y="3493008"/>
            <a:ext cx="3931920" cy="1024128"/>
          </a:xfrm>
          <a:prstGeom prst="roundRect">
            <a:avLst>
              <a:gd name="adj" fmla="val 7143"/>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7" name="Dot 25"/>
          <p:cNvSpPr/>
          <p:nvPr/>
        </p:nvSpPr>
        <p:spPr>
          <a:xfrm>
            <a:off x="4901184" y="3602736"/>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8" name="Dot 26"/>
          <p:cNvSpPr/>
          <p:nvPr/>
        </p:nvSpPr>
        <p:spPr>
          <a:xfrm>
            <a:off x="5056632" y="3602736"/>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9" name="Dot 27"/>
          <p:cNvSpPr/>
          <p:nvPr/>
        </p:nvSpPr>
        <p:spPr>
          <a:xfrm>
            <a:off x="5212080" y="3602736"/>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30" name="Text 28"/>
          <p:cNvSpPr txBox="1"/>
          <p:nvPr/>
        </p:nvSpPr>
        <p:spPr>
          <a:xfrm>
            <a:off x="5440680" y="3557016"/>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C · PowerShell</a:t>
            </a:r>
            <a:endParaRPr lang="en-US" sz="1000" dirty="0"/>
          </a:p>
        </p:txBody>
      </p:sp>
      <p:sp>
        <p:nvSpPr>
          <p:cNvPr id="31" name="Code 29"/>
          <p:cNvSpPr txBox="1"/>
          <p:nvPr/>
        </p:nvSpPr>
        <p:spPr>
          <a:xfrm>
            <a:off x="4919472" y="3822192"/>
            <a:ext cx="3657600" cy="603504"/>
          </a:xfrm>
          <a:prstGeom prst="rect">
            <a:avLst/>
          </a:prstGeom>
          <a:noFill/>
          <a:ln/>
        </p:spPr>
        <p:txBody>
          <a:bodyPr wrap="square" lIns="0" tIns="0" rIns="0" bIns="0" rtlCol="0" anchor="t"/>
          <a:lstStyle/>
          <a:p>
            <a:pPr marL="0" indent="0">
              <a:buNone/>
            </a:pPr>
            <a:r>
              <a:rPr lang="en-GB" sz="1200">
                <a:solidFill>
                  <a:schemeClr val="accent1"/>
                </a:solidFill>
                <a:latin typeface="Courier New" pitchFamily="34" charset="0"/>
                <a:ea typeface="Courier New" pitchFamily="34" charset="-122"/>
                <a:cs typeface="Courier New" pitchFamily="34" charset="-120"/>
              </a:rPr>
              <a:t>PS&gt; cd ~\Downloads\signal\practice</a:t>
            </a:r>
            <a:endParaRPr lang="en-US" sz="1200" dirty="0"/>
          </a:p>
          <a:p>
            <a:pPr marL="0" indent="0">
              <a:buNone/>
            </a:pPr>
            <a:r>
              <a:rPr lang="en-US" sz="1200" dirty="0">
                <a:solidFill>
                  <a:schemeClr val="accent1"/>
                </a:solidFill>
                <a:latin typeface="Courier New" pitchFamily="34" charset="0"/>
                <a:ea typeface="Courier New" pitchFamily="34" charset="-122"/>
                <a:cs typeface="Courier New" pitchFamily="34" charset="-120"/>
              </a:rPr>
              <a:t>PS&gt; python add.py</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The sum is 8</a:t>
            </a:r>
            <a:endParaRPr lang="en-US" sz="1200" dirty="0"/>
          </a:p>
        </p:txBody>
      </p:sp>
    </p:spTree>
    <p:extLst>
      <p:ext uri="{BB962C8B-B14F-4D97-AF65-F5344CB8AC3E}">
        <p14:creationId xmlns:p14="http://schemas.microsoft.com/office/powerpoint/2010/main" val="3940623702"/>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bg/>
                                          </p:spTgt>
                                        </p:tgtEl>
                                        <p:attrNameLst>
                                          <p:attrName>style.visibility</p:attrName>
                                        </p:attrNameLst>
                                      </p:cBhvr>
                                      <p:to>
                                        <p:strVal val="visible"/>
                                      </p:to>
                                    </p:set>
                                    <p:animEffect transition="in" filter="wipe(left)">
                                      <p:cBhvr>
                                        <p:cTn id="7" dur="350"/>
                                        <p:tgtEl>
                                          <p:spTgt spid="1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down)">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wipe(down)">
                                      <p:cBhvr>
                                        <p:cTn id="17" dur="500"/>
                                        <p:tgtEl>
                                          <p:spTgt spid="1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wipe(down)">
                                      <p:cBhvr>
                                        <p:cTn id="22" dur="500"/>
                                        <p:tgtEl>
                                          <p:spTgt spid="1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xEl>
                                              <p:pRg st="3" end="3"/>
                                            </p:txEl>
                                          </p:spTgt>
                                        </p:tgtEl>
                                        <p:attrNameLst>
                                          <p:attrName>style.visibility</p:attrName>
                                        </p:attrNameLst>
                                      </p:cBhvr>
                                      <p:to>
                                        <p:strVal val="visible"/>
                                      </p:to>
                                    </p:set>
                                    <p:animEffect transition="in" filter="wipe(down)">
                                      <p:cBhvr>
                                        <p:cTn id="27" dur="500"/>
                                        <p:tgtEl>
                                          <p:spTgt spid="1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xEl>
                                              <p:pRg st="4" end="4"/>
                                            </p:txEl>
                                          </p:spTgt>
                                        </p:tgtEl>
                                        <p:attrNameLst>
                                          <p:attrName>style.visibility</p:attrName>
                                        </p:attrNameLst>
                                      </p:cBhvr>
                                      <p:to>
                                        <p:strVal val="visible"/>
                                      </p:to>
                                    </p:set>
                                    <p:animEffect transition="in" filter="wipe(down)">
                                      <p:cBhvr>
                                        <p:cTn id="32" dur="500"/>
                                        <p:tgtEl>
                                          <p:spTgt spid="13">
                                            <p:txEl>
                                              <p:pRg st="4" end="4"/>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5">
                                            <p:bg/>
                                          </p:spTgt>
                                        </p:tgtEl>
                                        <p:attrNameLst>
                                          <p:attrName>style.visibility</p:attrName>
                                        </p:attrNameLst>
                                      </p:cBhvr>
                                      <p:to>
                                        <p:strVal val="visible"/>
                                      </p:to>
                                    </p:set>
                                    <p:animEffect transition="in" filter="wipe(left)">
                                      <p:cBhvr>
                                        <p:cTn id="36" dur="350"/>
                                        <p:tgtEl>
                                          <p:spTgt spid="25">
                                            <p:bg/>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5">
                                            <p:txEl>
                                              <p:pRg st="0" end="0"/>
                                            </p:txEl>
                                          </p:spTgt>
                                        </p:tgtEl>
                                        <p:attrNameLst>
                                          <p:attrName>style.visibility</p:attrName>
                                        </p:attrNameLst>
                                      </p:cBhvr>
                                      <p:to>
                                        <p:strVal val="visible"/>
                                      </p:to>
                                    </p:set>
                                    <p:animEffect transition="in" filter="wipe(down)">
                                      <p:cBhvr>
                                        <p:cTn id="41" dur="500"/>
                                        <p:tgtEl>
                                          <p:spTgt spid="2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
                                            <p:txEl>
                                              <p:pRg st="1" end="1"/>
                                            </p:txEl>
                                          </p:spTgt>
                                        </p:tgtEl>
                                        <p:attrNameLst>
                                          <p:attrName>style.visibility</p:attrName>
                                        </p:attrNameLst>
                                      </p:cBhvr>
                                      <p:to>
                                        <p:strVal val="visible"/>
                                      </p:to>
                                    </p:set>
                                    <p:animEffect transition="in" filter="wipe(down)">
                                      <p:cBhvr>
                                        <p:cTn id="46" dur="500"/>
                                        <p:tgtEl>
                                          <p:spTgt spid="25">
                                            <p:txEl>
                                              <p:pRg st="1" end="1"/>
                                            </p:txEl>
                                          </p:spTgt>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31">
                                            <p:bg/>
                                          </p:spTgt>
                                        </p:tgtEl>
                                        <p:attrNameLst>
                                          <p:attrName>style.visibility</p:attrName>
                                        </p:attrNameLst>
                                      </p:cBhvr>
                                      <p:to>
                                        <p:strVal val="visible"/>
                                      </p:to>
                                    </p:set>
                                    <p:animEffect transition="in" filter="wipe(left)">
                                      <p:cBhvr>
                                        <p:cTn id="50" dur="350"/>
                                        <p:tgtEl>
                                          <p:spTgt spid="31">
                                            <p:bg/>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31">
                                            <p:txEl>
                                              <p:pRg st="0" end="0"/>
                                            </p:txEl>
                                          </p:spTgt>
                                        </p:tgtEl>
                                        <p:attrNameLst>
                                          <p:attrName>style.visibility</p:attrName>
                                        </p:attrNameLst>
                                      </p:cBhvr>
                                      <p:to>
                                        <p:strVal val="visible"/>
                                      </p:to>
                                    </p:set>
                                    <p:animEffect transition="in" filter="wipe(down)">
                                      <p:cBhvr>
                                        <p:cTn id="55" dur="500"/>
                                        <p:tgtEl>
                                          <p:spTgt spid="31">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1">
                                            <p:txEl>
                                              <p:pRg st="1" end="1"/>
                                            </p:txEl>
                                          </p:spTgt>
                                        </p:tgtEl>
                                        <p:attrNameLst>
                                          <p:attrName>style.visibility</p:attrName>
                                        </p:attrNameLst>
                                      </p:cBhvr>
                                      <p:to>
                                        <p:strVal val="visible"/>
                                      </p:to>
                                    </p:set>
                                    <p:animEffect transition="in" filter="wipe(down)">
                                      <p:cBhvr>
                                        <p:cTn id="60" dur="500"/>
                                        <p:tgtEl>
                                          <p:spTgt spid="31">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1">
                                            <p:txEl>
                                              <p:pRg st="2" end="2"/>
                                            </p:txEl>
                                          </p:spTgt>
                                        </p:tgtEl>
                                        <p:attrNameLst>
                                          <p:attrName>style.visibility</p:attrName>
                                        </p:attrNameLst>
                                      </p:cBhvr>
                                      <p:to>
                                        <p:strVal val="visible"/>
                                      </p:to>
                                    </p:set>
                                    <p:animEffect transition="in" filter="wipe(down)">
                                      <p:cBhvr>
                                        <p:cTn id="65" dur="500"/>
                                        <p:tgtEl>
                                          <p:spTgt spid="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P spid="25" grpId="0" build="p" animBg="1"/>
      <p:bldP spid="31"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How Python Code Gets Executed</a:t>
            </a:r>
            <a:endParaRPr lang="en-US" sz="3200" dirty="0"/>
          </a:p>
        </p:txBody>
      </p:sp>
      <p:sp>
        <p:nvSpPr>
          <p:cNvPr id="3" name="Card 65"/>
          <p:cNvSpPr/>
          <p:nvPr/>
        </p:nvSpPr>
        <p:spPr>
          <a:xfrm>
            <a:off x="457200" y="1188720"/>
            <a:ext cx="1783080" cy="1600200"/>
          </a:xfrm>
          <a:prstGeom prst="roundRect">
            <a:avLst>
              <a:gd name="adj" fmla="val 457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Badge 66"/>
          <p:cNvSpPr/>
          <p:nvPr/>
        </p:nvSpPr>
        <p:spPr>
          <a:xfrm>
            <a:off x="594360" y="1325880"/>
            <a:ext cx="347472" cy="347472"/>
          </a:xfrm>
          <a:prstGeom prst="ellipse">
            <a:avLst/>
          </a:prstGeom>
          <a:solidFill>
            <a:schemeClr val="accent2"/>
          </a:solidFill>
          <a:ln w="12700">
            <a:solidFill>
              <a:schemeClr val="accent2"/>
            </a:solidFill>
            <a:prstDash val="solid"/>
          </a:ln>
        </p:spPr>
        <p:txBody>
          <a:bodyPr/>
          <a:lstStyle/>
          <a:p>
            <a:endParaRPr lang="en-ZM"/>
          </a:p>
        </p:txBody>
      </p:sp>
      <p:sp>
        <p:nvSpPr>
          <p:cNvPr id="5" name="Text 67"/>
          <p:cNvSpPr txBox="1"/>
          <p:nvPr/>
        </p:nvSpPr>
        <p:spPr>
          <a:xfrm>
            <a:off x="594360" y="1325880"/>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1</a:t>
            </a:r>
            <a:endParaRPr lang="en-US" sz="1200" dirty="0"/>
          </a:p>
        </p:txBody>
      </p:sp>
      <p:sp>
        <p:nvSpPr>
          <p:cNvPr id="6" name="Text 68"/>
          <p:cNvSpPr txBox="1"/>
          <p:nvPr/>
        </p:nvSpPr>
        <p:spPr>
          <a:xfrm>
            <a:off x="1024128" y="1325880"/>
            <a:ext cx="1143000" cy="347472"/>
          </a:xfrm>
          <a:prstGeom prst="rect">
            <a:avLst/>
          </a:prstGeom>
          <a:noFill/>
          <a:ln/>
        </p:spPr>
        <p:txBody>
          <a:bodyPr wrap="square" lIns="0" tIns="0" rIns="0" bIns="0" rtlCol="0" anchor="ctr"/>
          <a:lstStyle/>
          <a:p>
            <a:pPr marL="0" indent="0">
              <a:buNone/>
            </a:pPr>
            <a:r>
              <a:rPr lang="en-US" sz="1500" b="1">
                <a:solidFill>
                  <a:schemeClr val="tx1"/>
                </a:solidFill>
                <a:latin typeface="Courier New" pitchFamily="34" charset="0"/>
                <a:ea typeface="Courier New" pitchFamily="34" charset="-122"/>
                <a:cs typeface="Courier New" pitchFamily="34" charset="-120"/>
              </a:rPr>
              <a:t>add.py</a:t>
            </a:r>
            <a:endParaRPr lang="en-US" sz="1500" dirty="0"/>
          </a:p>
        </p:txBody>
      </p:sp>
      <p:sp>
        <p:nvSpPr>
          <p:cNvPr id="7" name="Text 69"/>
          <p:cNvSpPr txBox="1"/>
          <p:nvPr/>
        </p:nvSpPr>
        <p:spPr>
          <a:xfrm>
            <a:off x="594360" y="1783080"/>
            <a:ext cx="1536192" cy="960120"/>
          </a:xfrm>
          <a:prstGeom prst="rect">
            <a:avLst/>
          </a:prstGeom>
          <a:noFill/>
          <a:ln/>
        </p:spPr>
        <p:txBody>
          <a:bodyPr wrap="square" lIns="0" tIns="0" rIns="0" bIns="0" rtlCol="0" anchor="t"/>
          <a:lstStyle/>
          <a:p>
            <a:pPr marL="0" indent="0">
              <a:buNone/>
            </a:pPr>
            <a:r>
              <a:rPr lang="en-US" sz="1400" dirty="0">
                <a:solidFill>
                  <a:schemeClr val="tx1"/>
                </a:solidFill>
              </a:rPr>
              <a:t>Source code: the plain text you write</a:t>
            </a:r>
            <a:endParaRPr lang="en-US" sz="1400" dirty="0"/>
          </a:p>
        </p:txBody>
      </p:sp>
      <p:sp>
        <p:nvSpPr>
          <p:cNvPr id="8" name="Arrow 70"/>
          <p:cNvSpPr/>
          <p:nvPr/>
        </p:nvSpPr>
        <p:spPr>
          <a:xfrm>
            <a:off x="2286000" y="1984248"/>
            <a:ext cx="256032" cy="0"/>
          </a:xfrm>
          <a:prstGeom prst="line">
            <a:avLst/>
          </a:prstGeom>
          <a:noFill/>
          <a:ln w="25400">
            <a:solidFill>
              <a:schemeClr val="accent5"/>
            </a:solidFill>
            <a:prstDash val="solid"/>
            <a:tailEnd type="triangle"/>
          </a:ln>
        </p:spPr>
        <p:txBody>
          <a:bodyPr/>
          <a:lstStyle/>
          <a:p>
            <a:endParaRPr lang="en-ZM"/>
          </a:p>
        </p:txBody>
      </p:sp>
      <p:sp>
        <p:nvSpPr>
          <p:cNvPr id="9" name="Card 71"/>
          <p:cNvSpPr/>
          <p:nvPr/>
        </p:nvSpPr>
        <p:spPr>
          <a:xfrm>
            <a:off x="2587752" y="1188720"/>
            <a:ext cx="1783080" cy="1600200"/>
          </a:xfrm>
          <a:prstGeom prst="roundRect">
            <a:avLst>
              <a:gd name="adj" fmla="val 457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0" name="Badge 72"/>
          <p:cNvSpPr/>
          <p:nvPr/>
        </p:nvSpPr>
        <p:spPr>
          <a:xfrm>
            <a:off x="2724912" y="1325880"/>
            <a:ext cx="347472" cy="347472"/>
          </a:xfrm>
          <a:prstGeom prst="ellipse">
            <a:avLst/>
          </a:prstGeom>
          <a:solidFill>
            <a:schemeClr val="accent2"/>
          </a:solidFill>
          <a:ln w="12700">
            <a:solidFill>
              <a:schemeClr val="accent2"/>
            </a:solidFill>
            <a:prstDash val="solid"/>
          </a:ln>
        </p:spPr>
        <p:txBody>
          <a:bodyPr/>
          <a:lstStyle/>
          <a:p>
            <a:endParaRPr lang="en-ZM"/>
          </a:p>
        </p:txBody>
      </p:sp>
      <p:sp>
        <p:nvSpPr>
          <p:cNvPr id="11" name="Text 73"/>
          <p:cNvSpPr txBox="1"/>
          <p:nvPr/>
        </p:nvSpPr>
        <p:spPr>
          <a:xfrm>
            <a:off x="2724912" y="1325880"/>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2</a:t>
            </a:r>
            <a:endParaRPr lang="en-US" sz="1200" dirty="0"/>
          </a:p>
        </p:txBody>
      </p:sp>
      <p:sp>
        <p:nvSpPr>
          <p:cNvPr id="12" name="Text 74"/>
          <p:cNvSpPr txBox="1"/>
          <p:nvPr/>
        </p:nvSpPr>
        <p:spPr>
          <a:xfrm>
            <a:off x="3154680" y="1325880"/>
            <a:ext cx="1143000" cy="347472"/>
          </a:xfrm>
          <a:prstGeom prst="rect">
            <a:avLst/>
          </a:prstGeom>
          <a:noFill/>
          <a:ln/>
        </p:spPr>
        <p:txBody>
          <a:bodyPr wrap="square" lIns="0" tIns="0" rIns="0" bIns="0" rtlCol="0" anchor="ctr"/>
          <a:lstStyle/>
          <a:p>
            <a:pPr marL="0" indent="0">
              <a:buNone/>
            </a:pPr>
            <a:r>
              <a:rPr lang="en-US" sz="1500" b="1" dirty="0">
                <a:solidFill>
                  <a:schemeClr val="tx1"/>
                </a:solidFill>
              </a:rPr>
              <a:t>Compile</a:t>
            </a:r>
            <a:endParaRPr lang="en-US" sz="1500" dirty="0"/>
          </a:p>
        </p:txBody>
      </p:sp>
      <p:sp>
        <p:nvSpPr>
          <p:cNvPr id="13" name="Text 75"/>
          <p:cNvSpPr txBox="1"/>
          <p:nvPr/>
        </p:nvSpPr>
        <p:spPr>
          <a:xfrm>
            <a:off x="2724912" y="1783080"/>
            <a:ext cx="1536192" cy="960120"/>
          </a:xfrm>
          <a:prstGeom prst="rect">
            <a:avLst/>
          </a:prstGeom>
          <a:noFill/>
          <a:ln/>
        </p:spPr>
        <p:txBody>
          <a:bodyPr wrap="square" lIns="0" tIns="0" rIns="0" bIns="0" rtlCol="0" anchor="t"/>
          <a:lstStyle/>
          <a:p>
            <a:pPr marL="0" indent="0">
              <a:buNone/>
            </a:pPr>
            <a:r>
              <a:rPr lang="en-US" sz="1400" dirty="0">
                <a:solidFill>
                  <a:schemeClr val="tx1"/>
                </a:solidFill>
              </a:rPr>
              <a:t>python.exe turns it into bytecode automatically</a:t>
            </a:r>
            <a:endParaRPr lang="en-US" sz="1400" dirty="0"/>
          </a:p>
        </p:txBody>
      </p:sp>
      <p:sp>
        <p:nvSpPr>
          <p:cNvPr id="14" name="Arrow 76"/>
          <p:cNvSpPr/>
          <p:nvPr/>
        </p:nvSpPr>
        <p:spPr>
          <a:xfrm>
            <a:off x="4416552" y="1984248"/>
            <a:ext cx="256032" cy="0"/>
          </a:xfrm>
          <a:prstGeom prst="line">
            <a:avLst/>
          </a:prstGeom>
          <a:noFill/>
          <a:ln w="25400">
            <a:solidFill>
              <a:schemeClr val="accent5"/>
            </a:solidFill>
            <a:prstDash val="solid"/>
            <a:tailEnd type="triangle"/>
          </a:ln>
        </p:spPr>
        <p:txBody>
          <a:bodyPr/>
          <a:lstStyle/>
          <a:p>
            <a:endParaRPr lang="en-ZM"/>
          </a:p>
        </p:txBody>
      </p:sp>
      <p:sp>
        <p:nvSpPr>
          <p:cNvPr id="15" name="Card 77"/>
          <p:cNvSpPr/>
          <p:nvPr/>
        </p:nvSpPr>
        <p:spPr>
          <a:xfrm>
            <a:off x="4718304" y="1188720"/>
            <a:ext cx="1783080" cy="1600200"/>
          </a:xfrm>
          <a:prstGeom prst="roundRect">
            <a:avLst>
              <a:gd name="adj" fmla="val 457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6" name="Badge 78"/>
          <p:cNvSpPr/>
          <p:nvPr/>
        </p:nvSpPr>
        <p:spPr>
          <a:xfrm>
            <a:off x="4855464" y="1325880"/>
            <a:ext cx="347472" cy="347472"/>
          </a:xfrm>
          <a:prstGeom prst="ellipse">
            <a:avLst/>
          </a:prstGeom>
          <a:solidFill>
            <a:schemeClr val="accent2"/>
          </a:solidFill>
          <a:ln w="12700">
            <a:solidFill>
              <a:schemeClr val="accent2"/>
            </a:solidFill>
            <a:prstDash val="solid"/>
          </a:ln>
        </p:spPr>
        <p:txBody>
          <a:bodyPr/>
          <a:lstStyle/>
          <a:p>
            <a:endParaRPr lang="en-ZM"/>
          </a:p>
        </p:txBody>
      </p:sp>
      <p:sp>
        <p:nvSpPr>
          <p:cNvPr id="17" name="Text 79"/>
          <p:cNvSpPr txBox="1"/>
          <p:nvPr/>
        </p:nvSpPr>
        <p:spPr>
          <a:xfrm>
            <a:off x="4855464" y="1325880"/>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3</a:t>
            </a:r>
            <a:endParaRPr lang="en-US" sz="1200" dirty="0"/>
          </a:p>
        </p:txBody>
      </p:sp>
      <p:sp>
        <p:nvSpPr>
          <p:cNvPr id="18" name="Text 80"/>
          <p:cNvSpPr txBox="1"/>
          <p:nvPr/>
        </p:nvSpPr>
        <p:spPr>
          <a:xfrm>
            <a:off x="5285232" y="1325880"/>
            <a:ext cx="1143000" cy="347472"/>
          </a:xfrm>
          <a:prstGeom prst="rect">
            <a:avLst/>
          </a:prstGeom>
          <a:noFill/>
          <a:ln/>
        </p:spPr>
        <p:txBody>
          <a:bodyPr wrap="square" lIns="0" tIns="0" rIns="0" bIns="0" rtlCol="0" anchor="ctr"/>
          <a:lstStyle/>
          <a:p>
            <a:pPr marL="0" indent="0">
              <a:buNone/>
            </a:pPr>
            <a:r>
              <a:rPr lang="en-US" sz="1500" b="1" dirty="0">
                <a:solidFill>
                  <a:schemeClr val="tx1"/>
                </a:solidFill>
              </a:rPr>
              <a:t>Bytecode</a:t>
            </a:r>
            <a:endParaRPr lang="en-US" sz="1500" dirty="0"/>
          </a:p>
        </p:txBody>
      </p:sp>
      <p:sp>
        <p:nvSpPr>
          <p:cNvPr id="19" name="Text 81"/>
          <p:cNvSpPr txBox="1"/>
          <p:nvPr/>
        </p:nvSpPr>
        <p:spPr>
          <a:xfrm>
            <a:off x="4855464" y="1783080"/>
            <a:ext cx="1536192" cy="960120"/>
          </a:xfrm>
          <a:prstGeom prst="rect">
            <a:avLst/>
          </a:prstGeom>
          <a:noFill/>
          <a:ln/>
        </p:spPr>
        <p:txBody>
          <a:bodyPr wrap="square" lIns="0" tIns="0" rIns="0" bIns="0" rtlCol="0" anchor="t"/>
          <a:lstStyle/>
          <a:p>
            <a:pPr marL="0" indent="0">
              <a:buNone/>
            </a:pPr>
            <a:r>
              <a:rPr lang="en-US" sz="1400">
                <a:solidFill>
                  <a:schemeClr val="tx1"/>
                </a:solidFill>
              </a:rPr>
              <a:t>Simple instructions, saved as .pyc files in __pycache__</a:t>
            </a:r>
            <a:endParaRPr lang="en-US" sz="1400" dirty="0"/>
          </a:p>
        </p:txBody>
      </p:sp>
      <p:sp>
        <p:nvSpPr>
          <p:cNvPr id="20" name="Arrow 82"/>
          <p:cNvSpPr/>
          <p:nvPr/>
        </p:nvSpPr>
        <p:spPr>
          <a:xfrm>
            <a:off x="6547104" y="1984248"/>
            <a:ext cx="256032" cy="0"/>
          </a:xfrm>
          <a:prstGeom prst="line">
            <a:avLst/>
          </a:prstGeom>
          <a:noFill/>
          <a:ln w="25400">
            <a:solidFill>
              <a:schemeClr val="accent5"/>
            </a:solidFill>
            <a:prstDash val="solid"/>
            <a:tailEnd type="triangle"/>
          </a:ln>
        </p:spPr>
        <p:txBody>
          <a:bodyPr/>
          <a:lstStyle/>
          <a:p>
            <a:endParaRPr lang="en-ZM"/>
          </a:p>
        </p:txBody>
      </p:sp>
      <p:sp>
        <p:nvSpPr>
          <p:cNvPr id="21" name="Card 83"/>
          <p:cNvSpPr/>
          <p:nvPr/>
        </p:nvSpPr>
        <p:spPr>
          <a:xfrm>
            <a:off x="6848856" y="1188720"/>
            <a:ext cx="1783080" cy="1600200"/>
          </a:xfrm>
          <a:prstGeom prst="roundRect">
            <a:avLst>
              <a:gd name="adj" fmla="val 4571"/>
            </a:avLst>
          </a:prstGeom>
          <a:solidFill>
            <a:schemeClr val="accent2"/>
          </a:solidFill>
          <a:ln w="12700">
            <a:solidFill>
              <a:schemeClr val="accent2"/>
            </a:solidFill>
            <a:prstDash val="solid"/>
          </a:ln>
          <a:effectLst>
            <a:outerShdw blurRad="76200" dist="25400" dir="5400000" algn="bl" rotWithShape="0">
              <a:srgbClr val="000000">
                <a:alpha val="12000"/>
              </a:srgbClr>
            </a:outerShdw>
          </a:effectLst>
        </p:spPr>
        <p:txBody>
          <a:bodyPr/>
          <a:lstStyle/>
          <a:p>
            <a:endParaRPr lang="en-ZM"/>
          </a:p>
        </p:txBody>
      </p:sp>
      <p:sp>
        <p:nvSpPr>
          <p:cNvPr id="22" name="Badge 84"/>
          <p:cNvSpPr/>
          <p:nvPr/>
        </p:nvSpPr>
        <p:spPr>
          <a:xfrm>
            <a:off x="6986016" y="1325880"/>
            <a:ext cx="347472" cy="347472"/>
          </a:xfrm>
          <a:prstGeom prst="ellipse">
            <a:avLst/>
          </a:prstGeom>
          <a:solidFill>
            <a:schemeClr val="accent1"/>
          </a:solidFill>
          <a:ln w="12700">
            <a:solidFill>
              <a:schemeClr val="accent1"/>
            </a:solidFill>
            <a:prstDash val="solid"/>
          </a:ln>
        </p:spPr>
        <p:txBody>
          <a:bodyPr/>
          <a:lstStyle/>
          <a:p>
            <a:endParaRPr lang="en-ZM"/>
          </a:p>
        </p:txBody>
      </p:sp>
      <p:sp>
        <p:nvSpPr>
          <p:cNvPr id="23" name="Text 85"/>
          <p:cNvSpPr txBox="1"/>
          <p:nvPr/>
        </p:nvSpPr>
        <p:spPr>
          <a:xfrm>
            <a:off x="6986016" y="1325880"/>
            <a:ext cx="347472" cy="347472"/>
          </a:xfrm>
          <a:prstGeom prst="rect">
            <a:avLst/>
          </a:prstGeom>
          <a:noFill/>
          <a:ln/>
        </p:spPr>
        <p:txBody>
          <a:bodyPr wrap="square" lIns="0" tIns="0" rIns="0" bIns="0" rtlCol="0" anchor="ctr"/>
          <a:lstStyle/>
          <a:p>
            <a:pPr marL="0" indent="0" algn="ctr">
              <a:buNone/>
            </a:pPr>
            <a:r>
              <a:rPr lang="en-US" sz="1200" b="1" dirty="0">
                <a:solidFill>
                  <a:schemeClr val="tx1"/>
                </a:solidFill>
                <a:latin typeface="Cambria" pitchFamily="34" charset="0"/>
                <a:ea typeface="Cambria" pitchFamily="34" charset="-122"/>
                <a:cs typeface="Cambria" pitchFamily="34" charset="-120"/>
              </a:rPr>
              <a:t>4</a:t>
            </a:r>
            <a:endParaRPr lang="en-US" sz="1200" dirty="0"/>
          </a:p>
        </p:txBody>
      </p:sp>
      <p:sp>
        <p:nvSpPr>
          <p:cNvPr id="24" name="Text 86"/>
          <p:cNvSpPr txBox="1"/>
          <p:nvPr/>
        </p:nvSpPr>
        <p:spPr>
          <a:xfrm>
            <a:off x="7415784" y="1325880"/>
            <a:ext cx="1143000" cy="347472"/>
          </a:xfrm>
          <a:prstGeom prst="rect">
            <a:avLst/>
          </a:prstGeom>
          <a:noFill/>
          <a:ln/>
        </p:spPr>
        <p:txBody>
          <a:bodyPr wrap="square" lIns="0" tIns="0" rIns="0" bIns="0" rtlCol="0" anchor="ctr"/>
          <a:lstStyle/>
          <a:p>
            <a:pPr marL="0" indent="0">
              <a:buNone/>
            </a:pPr>
            <a:r>
              <a:rPr lang="en-US" sz="1500" b="1" dirty="0">
                <a:solidFill>
                  <a:schemeClr val="bg1"/>
                </a:solidFill>
              </a:rPr>
              <a:t>Run (PVM)</a:t>
            </a:r>
            <a:endParaRPr lang="en-US" sz="1500" dirty="0"/>
          </a:p>
        </p:txBody>
      </p:sp>
      <p:sp>
        <p:nvSpPr>
          <p:cNvPr id="25" name="Text 87"/>
          <p:cNvSpPr txBox="1"/>
          <p:nvPr/>
        </p:nvSpPr>
        <p:spPr>
          <a:xfrm>
            <a:off x="6986016" y="1783080"/>
            <a:ext cx="1536192" cy="960120"/>
          </a:xfrm>
          <a:prstGeom prst="rect">
            <a:avLst/>
          </a:prstGeom>
          <a:noFill/>
          <a:ln/>
        </p:spPr>
        <p:txBody>
          <a:bodyPr wrap="square" lIns="0" tIns="0" rIns="0" bIns="0" rtlCol="0" anchor="t"/>
          <a:lstStyle/>
          <a:p>
            <a:pPr marL="0" indent="0">
              <a:buNone/>
            </a:pPr>
            <a:r>
              <a:rPr lang="en-US" sz="1400" dirty="0">
                <a:solidFill>
                  <a:schemeClr val="bg1"/>
                </a:solidFill>
              </a:rPr>
              <a:t>The Python Virtual Machine executes each instruction</a:t>
            </a:r>
            <a:endParaRPr lang="en-US" sz="1400" dirty="0"/>
          </a:p>
        </p:txBody>
      </p:sp>
      <p:sp>
        <p:nvSpPr>
          <p:cNvPr id="26" name="Bracket 88"/>
          <p:cNvSpPr/>
          <p:nvPr/>
        </p:nvSpPr>
        <p:spPr>
          <a:xfrm>
            <a:off x="2587752" y="2926080"/>
            <a:ext cx="6053328" cy="0"/>
          </a:xfrm>
          <a:prstGeom prst="line">
            <a:avLst/>
          </a:prstGeom>
          <a:noFill/>
          <a:ln w="19050">
            <a:solidFill>
              <a:schemeClr val="accent2"/>
            </a:solidFill>
            <a:prstDash val="solid"/>
          </a:ln>
        </p:spPr>
        <p:txBody>
          <a:bodyPr/>
          <a:lstStyle/>
          <a:p>
            <a:endParaRPr lang="en-ZM"/>
          </a:p>
        </p:txBody>
      </p:sp>
      <p:sp>
        <p:nvSpPr>
          <p:cNvPr id="27" name="Text 89"/>
          <p:cNvSpPr txBox="1"/>
          <p:nvPr/>
        </p:nvSpPr>
        <p:spPr>
          <a:xfrm>
            <a:off x="2587752" y="2990088"/>
            <a:ext cx="6053328" cy="274320"/>
          </a:xfrm>
          <a:prstGeom prst="rect">
            <a:avLst/>
          </a:prstGeom>
          <a:noFill/>
          <a:ln/>
        </p:spPr>
        <p:txBody>
          <a:bodyPr wrap="square" lIns="0" tIns="0" rIns="0" bIns="0" rtlCol="0" anchor="t"/>
          <a:lstStyle/>
          <a:p>
            <a:pPr marL="0" indent="0" algn="ctr">
              <a:buNone/>
            </a:pPr>
            <a:r>
              <a:rPr lang="en-US" sz="1200" i="1" dirty="0">
                <a:solidFill>
                  <a:schemeClr val="accent2"/>
                </a:solidFill>
              </a:rPr>
              <a:t>all of this happens inside python.exe (CPython)</a:t>
            </a:r>
            <a:endParaRPr lang="en-US" sz="1200" dirty="0"/>
          </a:p>
        </p:txBody>
      </p:sp>
      <p:sp>
        <p:nvSpPr>
          <p:cNvPr id="30"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
        <p:nvSpPr>
          <p:cNvPr id="31" name="Term Card 0">
            <a:extLst>
              <a:ext uri="{FF2B5EF4-FFF2-40B4-BE49-F238E27FC236}">
                <a16:creationId xmlns:a16="http://schemas.microsoft.com/office/drawing/2014/main" id="{118B113A-C2D5-503E-27DC-E6183E1E5E9D}"/>
              </a:ext>
            </a:extLst>
          </p:cNvPr>
          <p:cNvSpPr/>
          <p:nvPr/>
        </p:nvSpPr>
        <p:spPr>
          <a:xfrm>
            <a:off x="457200" y="3401568"/>
            <a:ext cx="2651760" cy="1143000"/>
          </a:xfrm>
          <a:prstGeom prst="roundRect">
            <a:avLst>
              <a:gd name="adj" fmla="val 7000"/>
            </a:avLst>
          </a:prstGeom>
          <a:solidFill>
            <a:schemeClr val="lt2"/>
          </a:solidFill>
          <a:ln w="12700" cap="flat" cmpd="sng" algn="ctr">
            <a:noFill/>
            <a:prstDash val="solid"/>
            <a:miter lim="800000"/>
          </a:ln>
          <a:effectLst>
            <a:outerShdw blurRad="76200" dist="25400" dir="5400000" rotWithShape="0">
              <a:srgbClr val="000000">
                <a:alpha val="12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M"/>
          </a:p>
        </p:txBody>
      </p:sp>
      <p:sp>
        <p:nvSpPr>
          <p:cNvPr id="32" name="Term Text 0">
            <a:extLst>
              <a:ext uri="{FF2B5EF4-FFF2-40B4-BE49-F238E27FC236}">
                <a16:creationId xmlns:a16="http://schemas.microsoft.com/office/drawing/2014/main" id="{428405C0-5230-5DF4-D64F-2A62FF8C65F2}"/>
              </a:ext>
            </a:extLst>
          </p:cNvPr>
          <p:cNvSpPr txBox="1"/>
          <p:nvPr/>
        </p:nvSpPr>
        <p:spPr>
          <a:xfrm>
            <a:off x="621792" y="3493008"/>
            <a:ext cx="2331720" cy="276999"/>
          </a:xfrm>
          <a:prstGeom prst="rect">
            <a:avLst/>
          </a:prstGeom>
          <a:noFill/>
        </p:spPr>
        <p:txBody>
          <a:bodyPr vert="horz" wrap="square" lIns="0" tIns="0" rIns="0" bIns="0" rtlCol="0">
            <a:noAutofit/>
          </a:bodyPr>
          <a:lstStyle/>
          <a:p>
            <a:pPr>
              <a:spcAft>
                <a:spcPts val="400"/>
              </a:spcAft>
            </a:pPr>
            <a:r>
              <a:rPr lang="en-GB" sz="1500" b="1">
                <a:solidFill>
                  <a:schemeClr val="accent2"/>
                </a:solidFill>
              </a:rPr>
              <a:t>Bytecode</a:t>
            </a:r>
          </a:p>
          <a:p>
            <a:r>
              <a:rPr lang="en-GB" sz="1200">
                <a:solidFill>
                  <a:schemeClr val="dk2"/>
                </a:solidFill>
              </a:rPr>
              <a:t>Simple in-between instructions: easier for a computer than Python code, but not 1s and 0s.</a:t>
            </a:r>
            <a:endParaRPr lang="en-ZM" sz="1200">
              <a:solidFill>
                <a:schemeClr val="dk2"/>
              </a:solidFill>
            </a:endParaRPr>
          </a:p>
        </p:txBody>
      </p:sp>
      <p:sp>
        <p:nvSpPr>
          <p:cNvPr id="33" name="Term Card 1">
            <a:extLst>
              <a:ext uri="{FF2B5EF4-FFF2-40B4-BE49-F238E27FC236}">
                <a16:creationId xmlns:a16="http://schemas.microsoft.com/office/drawing/2014/main" id="{1981E618-F0C0-B819-561E-BFAD0F2DCE3D}"/>
              </a:ext>
            </a:extLst>
          </p:cNvPr>
          <p:cNvSpPr/>
          <p:nvPr/>
        </p:nvSpPr>
        <p:spPr>
          <a:xfrm>
            <a:off x="3246120" y="3401568"/>
            <a:ext cx="2651760" cy="1143000"/>
          </a:xfrm>
          <a:prstGeom prst="roundRect">
            <a:avLst>
              <a:gd name="adj" fmla="val 7000"/>
            </a:avLst>
          </a:prstGeom>
          <a:solidFill>
            <a:schemeClr val="lt2"/>
          </a:solidFill>
          <a:ln w="12700" cap="flat" cmpd="sng" algn="ctr">
            <a:noFill/>
            <a:prstDash val="solid"/>
            <a:miter lim="800000"/>
          </a:ln>
          <a:effectLst>
            <a:outerShdw blurRad="76200" dist="25400" dir="5400000" rotWithShape="0">
              <a:srgbClr val="000000">
                <a:alpha val="12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M"/>
          </a:p>
        </p:txBody>
      </p:sp>
      <p:sp>
        <p:nvSpPr>
          <p:cNvPr id="34" name="Term Text 1">
            <a:extLst>
              <a:ext uri="{FF2B5EF4-FFF2-40B4-BE49-F238E27FC236}">
                <a16:creationId xmlns:a16="http://schemas.microsoft.com/office/drawing/2014/main" id="{C5B7B49F-0C63-F966-2E2A-E421E4A2D098}"/>
              </a:ext>
            </a:extLst>
          </p:cNvPr>
          <p:cNvSpPr txBox="1"/>
          <p:nvPr/>
        </p:nvSpPr>
        <p:spPr>
          <a:xfrm>
            <a:off x="3410712" y="3493008"/>
            <a:ext cx="2331720" cy="276999"/>
          </a:xfrm>
          <a:prstGeom prst="rect">
            <a:avLst/>
          </a:prstGeom>
          <a:noFill/>
        </p:spPr>
        <p:txBody>
          <a:bodyPr vert="horz" wrap="square" lIns="0" tIns="0" rIns="0" bIns="0" rtlCol="0">
            <a:noAutofit/>
          </a:bodyPr>
          <a:lstStyle/>
          <a:p>
            <a:pPr>
              <a:spcAft>
                <a:spcPts val="400"/>
              </a:spcAft>
            </a:pPr>
            <a:r>
              <a:rPr lang="en-GB" sz="1500" b="1">
                <a:solidFill>
                  <a:schemeClr val="accent2"/>
                </a:solidFill>
              </a:rPr>
              <a:t>.pyc = Python Compiled</a:t>
            </a:r>
          </a:p>
          <a:p>
            <a:r>
              <a:rPr lang="en-GB" sz="1200">
                <a:solidFill>
                  <a:schemeClr val="dk2"/>
                </a:solidFill>
              </a:rPr>
              <a:t>A saved bytecode file in the __pycache__ folder, so Python can skip the compile step next time.</a:t>
            </a:r>
            <a:endParaRPr lang="en-ZM" sz="1200">
              <a:solidFill>
                <a:schemeClr val="dk2"/>
              </a:solidFill>
            </a:endParaRPr>
          </a:p>
        </p:txBody>
      </p:sp>
      <p:sp>
        <p:nvSpPr>
          <p:cNvPr id="35" name="Term Card 2">
            <a:extLst>
              <a:ext uri="{FF2B5EF4-FFF2-40B4-BE49-F238E27FC236}">
                <a16:creationId xmlns:a16="http://schemas.microsoft.com/office/drawing/2014/main" id="{DD173209-9E54-E815-49E8-D8142A8BAF22}"/>
              </a:ext>
            </a:extLst>
          </p:cNvPr>
          <p:cNvSpPr/>
          <p:nvPr/>
        </p:nvSpPr>
        <p:spPr>
          <a:xfrm>
            <a:off x="6035040" y="3401568"/>
            <a:ext cx="2651760" cy="1143000"/>
          </a:xfrm>
          <a:prstGeom prst="roundRect">
            <a:avLst>
              <a:gd name="adj" fmla="val 7000"/>
            </a:avLst>
          </a:prstGeom>
          <a:solidFill>
            <a:schemeClr val="lt2"/>
          </a:solidFill>
          <a:ln w="12700" cap="flat" cmpd="sng" algn="ctr">
            <a:noFill/>
            <a:prstDash val="solid"/>
            <a:miter lim="800000"/>
          </a:ln>
          <a:effectLst>
            <a:outerShdw blurRad="76200" dist="25400" dir="5400000" rotWithShape="0">
              <a:srgbClr val="000000">
                <a:alpha val="12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M"/>
          </a:p>
        </p:txBody>
      </p:sp>
      <p:sp>
        <p:nvSpPr>
          <p:cNvPr id="36" name="Term Text 2">
            <a:extLst>
              <a:ext uri="{FF2B5EF4-FFF2-40B4-BE49-F238E27FC236}">
                <a16:creationId xmlns:a16="http://schemas.microsoft.com/office/drawing/2014/main" id="{CDABCFBC-BA1E-1B1E-66C6-F25E88383D23}"/>
              </a:ext>
            </a:extLst>
          </p:cNvPr>
          <p:cNvSpPr txBox="1"/>
          <p:nvPr/>
        </p:nvSpPr>
        <p:spPr>
          <a:xfrm>
            <a:off x="6199632" y="3493008"/>
            <a:ext cx="2331720" cy="276999"/>
          </a:xfrm>
          <a:prstGeom prst="rect">
            <a:avLst/>
          </a:prstGeom>
          <a:noFill/>
        </p:spPr>
        <p:txBody>
          <a:bodyPr vert="horz" wrap="square" lIns="0" tIns="0" rIns="0" bIns="0" rtlCol="0">
            <a:noAutofit/>
          </a:bodyPr>
          <a:lstStyle/>
          <a:p>
            <a:pPr>
              <a:spcAft>
                <a:spcPts val="400"/>
              </a:spcAft>
            </a:pPr>
            <a:r>
              <a:rPr lang="en-GB" sz="1500" b="1">
                <a:solidFill>
                  <a:schemeClr val="accent2"/>
                </a:solidFill>
              </a:rPr>
              <a:t>Virtual machine (VM)</a:t>
            </a:r>
          </a:p>
          <a:p>
            <a:r>
              <a:rPr lang="en-GB" sz="1200">
                <a:solidFill>
                  <a:schemeClr val="dk2"/>
                </a:solidFill>
              </a:rPr>
              <a:t>A program that acts like a pretend computer. Python's VM (the PVM) reads bytecode and carries it out.</a:t>
            </a:r>
            <a:endParaRPr lang="en-ZM" sz="1200">
              <a:solidFill>
                <a:schemeClr val="dk2"/>
              </a:solidFill>
            </a:endParaRPr>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Why Install Python on Windows?</a:t>
            </a:r>
            <a:endParaRPr lang="en-US" sz="3200" dirty="0"/>
          </a:p>
        </p:txBody>
      </p:sp>
      <p:sp>
        <p:nvSpPr>
          <p:cNvPr id="3" name="Text 154"/>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500" dirty="0">
                <a:solidFill>
                  <a:schemeClr val="tx1"/>
                </a:solidFill>
              </a:rPr>
              <a:t>Python code needs python.exe to run. macOS and Linux often include it; Windows doesn't. Its built-in “python” command only opens the Microsoft Store.</a:t>
            </a:r>
            <a:endParaRPr lang="en-US" sz="1500" dirty="0"/>
          </a:p>
        </p:txBody>
      </p:sp>
      <p:sp>
        <p:nvSpPr>
          <p:cNvPr id="4" name="Text 155"/>
          <p:cNvSpPr txBox="1"/>
          <p:nvPr/>
        </p:nvSpPr>
        <p:spPr>
          <a:xfrm>
            <a:off x="457200" y="1783080"/>
            <a:ext cx="4114800" cy="274320"/>
          </a:xfrm>
          <a:prstGeom prst="rect">
            <a:avLst/>
          </a:prstGeom>
          <a:noFill/>
          <a:ln/>
        </p:spPr>
        <p:txBody>
          <a:bodyPr wrap="square" lIns="0" tIns="0" rIns="0" bIns="0" rtlCol="0" anchor="t"/>
          <a:lstStyle/>
          <a:p>
            <a:pPr marL="0" indent="0">
              <a:buNone/>
            </a:pPr>
            <a:r>
              <a:rPr lang="en-US" sz="1400" b="1" dirty="0">
                <a:solidFill>
                  <a:schemeClr val="accent2"/>
                </a:solidFill>
              </a:rPr>
              <a:t>What the installer gives you</a:t>
            </a:r>
            <a:endParaRPr lang="en-US" sz="1400" dirty="0"/>
          </a:p>
        </p:txBody>
      </p:sp>
      <p:sp>
        <p:nvSpPr>
          <p:cNvPr id="5" name="Card 156"/>
          <p:cNvSpPr/>
          <p:nvPr/>
        </p:nvSpPr>
        <p:spPr>
          <a:xfrm>
            <a:off x="457200" y="2148840"/>
            <a:ext cx="1965960" cy="1078992"/>
          </a:xfrm>
          <a:prstGeom prst="roundRect">
            <a:avLst>
              <a:gd name="adj" fmla="val 6780"/>
            </a:avLst>
          </a:prstGeom>
          <a:solidFill>
            <a:schemeClr val="bg2"/>
          </a:solidFill>
          <a:ln w="12700">
            <a:solidFill>
              <a:schemeClr val="bg2"/>
            </a:solidFill>
            <a:prstDash val="solid"/>
          </a:ln>
        </p:spPr>
        <p:txBody>
          <a:bodyPr/>
          <a:lstStyle/>
          <a:p>
            <a:endParaRPr lang="en-ZM"/>
          </a:p>
        </p:txBody>
      </p:sp>
      <p:sp>
        <p:nvSpPr>
          <p:cNvPr id="6" name="Text 157"/>
          <p:cNvSpPr txBox="1"/>
          <p:nvPr/>
        </p:nvSpPr>
        <p:spPr>
          <a:xfrm>
            <a:off x="594360" y="2258568"/>
            <a:ext cx="1737360" cy="292608"/>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python.exe</a:t>
            </a:r>
            <a:endParaRPr lang="en-US" sz="1500" dirty="0"/>
          </a:p>
        </p:txBody>
      </p:sp>
      <p:sp>
        <p:nvSpPr>
          <p:cNvPr id="7" name="Text 158"/>
          <p:cNvSpPr txBox="1"/>
          <p:nvPr/>
        </p:nvSpPr>
        <p:spPr>
          <a:xfrm>
            <a:off x="594360" y="2587752"/>
            <a:ext cx="1737360" cy="594360"/>
          </a:xfrm>
          <a:prstGeom prst="rect">
            <a:avLst/>
          </a:prstGeom>
          <a:noFill/>
          <a:ln/>
        </p:spPr>
        <p:txBody>
          <a:bodyPr wrap="square" lIns="0" tIns="0" rIns="0" bIns="0" rtlCol="0" anchor="t"/>
          <a:lstStyle/>
          <a:p>
            <a:pPr marL="0" indent="0">
              <a:buNone/>
            </a:pPr>
            <a:r>
              <a:rPr lang="en-US" sz="1400" dirty="0">
                <a:solidFill>
                  <a:schemeClr val="tx2"/>
                </a:solidFill>
              </a:rPr>
              <a:t>The interpreter that runs your code</a:t>
            </a:r>
            <a:endParaRPr lang="en-US" sz="1400" dirty="0"/>
          </a:p>
        </p:txBody>
      </p:sp>
      <p:sp>
        <p:nvSpPr>
          <p:cNvPr id="8" name="Card 159"/>
          <p:cNvSpPr/>
          <p:nvPr/>
        </p:nvSpPr>
        <p:spPr>
          <a:xfrm>
            <a:off x="2560320" y="2148840"/>
            <a:ext cx="1965960" cy="1078992"/>
          </a:xfrm>
          <a:prstGeom prst="roundRect">
            <a:avLst>
              <a:gd name="adj" fmla="val 6780"/>
            </a:avLst>
          </a:prstGeom>
          <a:solidFill>
            <a:schemeClr val="bg2"/>
          </a:solidFill>
          <a:ln w="12700">
            <a:solidFill>
              <a:schemeClr val="bg2"/>
            </a:solidFill>
            <a:prstDash val="solid"/>
          </a:ln>
        </p:spPr>
        <p:txBody>
          <a:bodyPr/>
          <a:lstStyle/>
          <a:p>
            <a:endParaRPr lang="en-ZM"/>
          </a:p>
        </p:txBody>
      </p:sp>
      <p:sp>
        <p:nvSpPr>
          <p:cNvPr id="9" name="Text 160"/>
          <p:cNvSpPr txBox="1"/>
          <p:nvPr/>
        </p:nvSpPr>
        <p:spPr>
          <a:xfrm>
            <a:off x="2697480" y="2258568"/>
            <a:ext cx="1737360" cy="292608"/>
          </a:xfrm>
          <a:prstGeom prst="rect">
            <a:avLst/>
          </a:prstGeom>
          <a:noFill/>
          <a:ln/>
        </p:spPr>
        <p:txBody>
          <a:bodyPr wrap="square" lIns="0" tIns="0" rIns="0" bIns="0" rtlCol="0" anchor="t"/>
          <a:lstStyle/>
          <a:p>
            <a:pPr marL="0" indent="0">
              <a:buNone/>
            </a:pPr>
            <a:r>
              <a:rPr lang="en-US" sz="1500" b="1" dirty="0">
                <a:solidFill>
                  <a:schemeClr val="tx1"/>
                </a:solidFill>
              </a:rPr>
              <a:t>Standard library</a:t>
            </a:r>
            <a:endParaRPr lang="en-US" sz="1500" dirty="0"/>
          </a:p>
        </p:txBody>
      </p:sp>
      <p:sp>
        <p:nvSpPr>
          <p:cNvPr id="10" name="Text 161"/>
          <p:cNvSpPr txBox="1"/>
          <p:nvPr/>
        </p:nvSpPr>
        <p:spPr>
          <a:xfrm>
            <a:off x="2697480" y="2587752"/>
            <a:ext cx="1737360" cy="594360"/>
          </a:xfrm>
          <a:prstGeom prst="rect">
            <a:avLst/>
          </a:prstGeom>
          <a:noFill/>
          <a:ln/>
        </p:spPr>
        <p:txBody>
          <a:bodyPr wrap="square" lIns="0" tIns="0" rIns="0" bIns="0" rtlCol="0" anchor="t"/>
          <a:lstStyle/>
          <a:p>
            <a:pPr marL="0" indent="0">
              <a:buNone/>
            </a:pPr>
            <a:r>
              <a:rPr lang="en-US" sz="1400" dirty="0">
                <a:solidFill>
                  <a:schemeClr val="tx2"/>
                </a:solidFill>
              </a:rPr>
              <a:t>Built-in modules: os, json, sys…</a:t>
            </a:r>
            <a:endParaRPr lang="en-US" sz="1400" dirty="0"/>
          </a:p>
        </p:txBody>
      </p:sp>
      <p:sp>
        <p:nvSpPr>
          <p:cNvPr id="11" name="Card 162"/>
          <p:cNvSpPr/>
          <p:nvPr/>
        </p:nvSpPr>
        <p:spPr>
          <a:xfrm>
            <a:off x="457200" y="3337560"/>
            <a:ext cx="1965960" cy="1078992"/>
          </a:xfrm>
          <a:prstGeom prst="roundRect">
            <a:avLst>
              <a:gd name="adj" fmla="val 6780"/>
            </a:avLst>
          </a:prstGeom>
          <a:solidFill>
            <a:schemeClr val="bg2"/>
          </a:solidFill>
          <a:ln w="12700">
            <a:solidFill>
              <a:schemeClr val="bg2"/>
            </a:solidFill>
            <a:prstDash val="solid"/>
          </a:ln>
        </p:spPr>
        <p:txBody>
          <a:bodyPr/>
          <a:lstStyle/>
          <a:p>
            <a:endParaRPr lang="en-ZM"/>
          </a:p>
        </p:txBody>
      </p:sp>
      <p:sp>
        <p:nvSpPr>
          <p:cNvPr id="12" name="Text 163"/>
          <p:cNvSpPr txBox="1"/>
          <p:nvPr/>
        </p:nvSpPr>
        <p:spPr>
          <a:xfrm>
            <a:off x="594360" y="3447288"/>
            <a:ext cx="1737360" cy="292608"/>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pip</a:t>
            </a:r>
            <a:endParaRPr lang="en-US" sz="1500" dirty="0"/>
          </a:p>
        </p:txBody>
      </p:sp>
      <p:sp>
        <p:nvSpPr>
          <p:cNvPr id="13" name="Text 164"/>
          <p:cNvSpPr txBox="1"/>
          <p:nvPr/>
        </p:nvSpPr>
        <p:spPr>
          <a:xfrm>
            <a:off x="594360" y="3776472"/>
            <a:ext cx="1737360" cy="594360"/>
          </a:xfrm>
          <a:prstGeom prst="rect">
            <a:avLst/>
          </a:prstGeom>
          <a:noFill/>
          <a:ln/>
        </p:spPr>
        <p:txBody>
          <a:bodyPr wrap="square" lIns="0" tIns="0" rIns="0" bIns="0" rtlCol="0" anchor="t"/>
          <a:lstStyle/>
          <a:p>
            <a:pPr marL="0" indent="0">
              <a:buNone/>
            </a:pPr>
            <a:r>
              <a:rPr lang="en-US" sz="1400" dirty="0">
                <a:solidFill>
                  <a:schemeClr val="tx2"/>
                </a:solidFill>
              </a:rPr>
              <a:t>Installs extra packages</a:t>
            </a:r>
            <a:endParaRPr lang="en-US" sz="1400" dirty="0"/>
          </a:p>
        </p:txBody>
      </p:sp>
      <p:sp>
        <p:nvSpPr>
          <p:cNvPr id="14" name="Card 165"/>
          <p:cNvSpPr/>
          <p:nvPr/>
        </p:nvSpPr>
        <p:spPr>
          <a:xfrm>
            <a:off x="2560320" y="3337560"/>
            <a:ext cx="1965960" cy="1078992"/>
          </a:xfrm>
          <a:prstGeom prst="roundRect">
            <a:avLst>
              <a:gd name="adj" fmla="val 6780"/>
            </a:avLst>
          </a:prstGeom>
          <a:solidFill>
            <a:schemeClr val="bg2"/>
          </a:solidFill>
          <a:ln w="12700">
            <a:solidFill>
              <a:schemeClr val="bg2"/>
            </a:solidFill>
            <a:prstDash val="solid"/>
          </a:ln>
        </p:spPr>
        <p:txBody>
          <a:bodyPr/>
          <a:lstStyle/>
          <a:p>
            <a:endParaRPr lang="en-ZM"/>
          </a:p>
        </p:txBody>
      </p:sp>
      <p:sp>
        <p:nvSpPr>
          <p:cNvPr id="15" name="Text 166"/>
          <p:cNvSpPr txBox="1"/>
          <p:nvPr/>
        </p:nvSpPr>
        <p:spPr>
          <a:xfrm>
            <a:off x="2697480" y="3447288"/>
            <a:ext cx="1737360" cy="292608"/>
          </a:xfrm>
          <a:prstGeom prst="rect">
            <a:avLst/>
          </a:prstGeom>
          <a:noFill/>
          <a:ln/>
        </p:spPr>
        <p:txBody>
          <a:bodyPr wrap="square" lIns="0" tIns="0" rIns="0" bIns="0" rtlCol="0" anchor="t"/>
          <a:lstStyle/>
          <a:p>
            <a:pPr marL="0" indent="0">
              <a:buNone/>
            </a:pPr>
            <a:r>
              <a:rPr lang="en-US" sz="1500" b="1" dirty="0">
                <a:solidFill>
                  <a:schemeClr val="tx1"/>
                </a:solidFill>
              </a:rPr>
              <a:t>py launcher</a:t>
            </a:r>
            <a:endParaRPr lang="en-US" sz="1500" dirty="0"/>
          </a:p>
        </p:txBody>
      </p:sp>
      <p:sp>
        <p:nvSpPr>
          <p:cNvPr id="16" name="Text 167"/>
          <p:cNvSpPr txBox="1"/>
          <p:nvPr/>
        </p:nvSpPr>
        <p:spPr>
          <a:xfrm>
            <a:off x="2697480" y="3776472"/>
            <a:ext cx="1737360" cy="594360"/>
          </a:xfrm>
          <a:prstGeom prst="rect">
            <a:avLst/>
          </a:prstGeom>
          <a:noFill/>
          <a:ln/>
        </p:spPr>
        <p:txBody>
          <a:bodyPr wrap="square" lIns="0" tIns="0" rIns="0" bIns="0" rtlCol="0" anchor="t"/>
          <a:lstStyle/>
          <a:p>
            <a:pPr marL="0" indent="0">
              <a:buNone/>
            </a:pPr>
            <a:r>
              <a:rPr lang="en-US" sz="1400" dirty="0">
                <a:solidFill>
                  <a:schemeClr val="tx2"/>
                </a:solidFill>
              </a:rPr>
              <a:t>Picks between installed versions</a:t>
            </a:r>
            <a:endParaRPr lang="en-US" sz="1400" dirty="0"/>
          </a:p>
        </p:txBody>
      </p:sp>
      <p:sp>
        <p:nvSpPr>
          <p:cNvPr id="17" name="Text 168"/>
          <p:cNvSpPr txBox="1"/>
          <p:nvPr/>
        </p:nvSpPr>
        <p:spPr>
          <a:xfrm>
            <a:off x="4937760" y="1783080"/>
            <a:ext cx="3749040" cy="274320"/>
          </a:xfrm>
          <a:prstGeom prst="rect">
            <a:avLst/>
          </a:prstGeom>
          <a:noFill/>
          <a:ln/>
        </p:spPr>
        <p:txBody>
          <a:bodyPr wrap="square" lIns="0" tIns="0" rIns="0" bIns="0" rtlCol="0" anchor="t"/>
          <a:lstStyle/>
          <a:p>
            <a:pPr marL="0" indent="0">
              <a:buNone/>
            </a:pPr>
            <a:r>
              <a:rPr lang="en-US" sz="1400" b="1" dirty="0">
                <a:solidFill>
                  <a:schemeClr val="accent2"/>
                </a:solidFill>
              </a:rPr>
              <a:t>How to install</a:t>
            </a:r>
            <a:endParaRPr lang="en-US" sz="1400" dirty="0"/>
          </a:p>
        </p:txBody>
      </p:sp>
      <p:sp>
        <p:nvSpPr>
          <p:cNvPr id="18" name="Badge 169"/>
          <p:cNvSpPr/>
          <p:nvPr/>
        </p:nvSpPr>
        <p:spPr>
          <a:xfrm>
            <a:off x="4937760" y="2167128"/>
            <a:ext cx="329184" cy="329184"/>
          </a:xfrm>
          <a:prstGeom prst="ellipse">
            <a:avLst/>
          </a:prstGeom>
          <a:solidFill>
            <a:schemeClr val="accent2"/>
          </a:solidFill>
          <a:ln w="12700">
            <a:solidFill>
              <a:schemeClr val="accent2"/>
            </a:solidFill>
            <a:prstDash val="solid"/>
          </a:ln>
        </p:spPr>
        <p:txBody>
          <a:bodyPr/>
          <a:lstStyle/>
          <a:p>
            <a:endParaRPr lang="en-ZM"/>
          </a:p>
        </p:txBody>
      </p:sp>
      <p:sp>
        <p:nvSpPr>
          <p:cNvPr id="19" name="Text 170"/>
          <p:cNvSpPr txBox="1"/>
          <p:nvPr/>
        </p:nvSpPr>
        <p:spPr>
          <a:xfrm>
            <a:off x="4937760" y="216712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1</a:t>
            </a:r>
            <a:endParaRPr lang="en-US" sz="1200" dirty="0"/>
          </a:p>
        </p:txBody>
      </p:sp>
      <p:sp>
        <p:nvSpPr>
          <p:cNvPr id="20" name="Text 171"/>
          <p:cNvSpPr txBox="1"/>
          <p:nvPr/>
        </p:nvSpPr>
        <p:spPr>
          <a:xfrm>
            <a:off x="5394960" y="2148840"/>
            <a:ext cx="3246120" cy="384048"/>
          </a:xfrm>
          <a:prstGeom prst="rect">
            <a:avLst/>
          </a:prstGeom>
          <a:noFill/>
          <a:ln/>
        </p:spPr>
        <p:txBody>
          <a:bodyPr wrap="square" lIns="0" tIns="0" rIns="0" bIns="0" rtlCol="0" anchor="ctr"/>
          <a:lstStyle/>
          <a:p>
            <a:pPr marL="0" indent="0">
              <a:buNone/>
            </a:pPr>
            <a:r>
              <a:rPr lang="en-US" sz="1400" dirty="0">
                <a:solidFill>
                  <a:schemeClr val="tx1"/>
                </a:solidFill>
              </a:rPr>
              <a:t>Download Python 3 from python.org/downloads</a:t>
            </a:r>
            <a:endParaRPr lang="en-US" sz="1400" dirty="0"/>
          </a:p>
        </p:txBody>
      </p:sp>
      <p:sp>
        <p:nvSpPr>
          <p:cNvPr id="21" name="Badge 172"/>
          <p:cNvSpPr/>
          <p:nvPr/>
        </p:nvSpPr>
        <p:spPr>
          <a:xfrm>
            <a:off x="4937760" y="2642616"/>
            <a:ext cx="329184" cy="329184"/>
          </a:xfrm>
          <a:prstGeom prst="ellipse">
            <a:avLst/>
          </a:prstGeom>
          <a:solidFill>
            <a:schemeClr val="accent2"/>
          </a:solidFill>
          <a:ln w="12700">
            <a:solidFill>
              <a:schemeClr val="accent2"/>
            </a:solidFill>
            <a:prstDash val="solid"/>
          </a:ln>
        </p:spPr>
        <p:txBody>
          <a:bodyPr/>
          <a:lstStyle/>
          <a:p>
            <a:endParaRPr lang="en-ZM"/>
          </a:p>
        </p:txBody>
      </p:sp>
      <p:sp>
        <p:nvSpPr>
          <p:cNvPr id="22" name="Text 173"/>
          <p:cNvSpPr txBox="1"/>
          <p:nvPr/>
        </p:nvSpPr>
        <p:spPr>
          <a:xfrm>
            <a:off x="4937760" y="264261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2</a:t>
            </a:r>
            <a:endParaRPr lang="en-US" sz="1200" dirty="0"/>
          </a:p>
        </p:txBody>
      </p:sp>
      <p:sp>
        <p:nvSpPr>
          <p:cNvPr id="23" name="Text 174"/>
          <p:cNvSpPr txBox="1"/>
          <p:nvPr/>
        </p:nvSpPr>
        <p:spPr>
          <a:xfrm>
            <a:off x="5394960" y="2624328"/>
            <a:ext cx="3246120" cy="384048"/>
          </a:xfrm>
          <a:prstGeom prst="rect">
            <a:avLst/>
          </a:prstGeom>
          <a:noFill/>
          <a:ln/>
        </p:spPr>
        <p:txBody>
          <a:bodyPr wrap="square" lIns="0" tIns="0" rIns="0" bIns="0" rtlCol="0" anchor="ctr"/>
          <a:lstStyle/>
          <a:p>
            <a:pPr marL="0" indent="0">
              <a:buNone/>
            </a:pPr>
            <a:r>
              <a:rPr lang="en-US" sz="1400" dirty="0">
                <a:solidFill>
                  <a:schemeClr val="tx1"/>
                </a:solidFill>
              </a:rPr>
              <a:t>Run the installer</a:t>
            </a:r>
            <a:endParaRPr lang="en-US" sz="1400" dirty="0"/>
          </a:p>
        </p:txBody>
      </p:sp>
      <p:sp>
        <p:nvSpPr>
          <p:cNvPr id="24" name="Card 175"/>
          <p:cNvSpPr/>
          <p:nvPr/>
        </p:nvSpPr>
        <p:spPr>
          <a:xfrm>
            <a:off x="4846320" y="3063240"/>
            <a:ext cx="3840480" cy="438912"/>
          </a:xfrm>
          <a:prstGeom prst="roundRect">
            <a:avLst>
              <a:gd name="adj" fmla="val 16667"/>
            </a:avLst>
          </a:prstGeom>
          <a:solidFill>
            <a:schemeClr val="accent1"/>
          </a:solidFill>
          <a:ln w="12700">
            <a:solidFill>
              <a:schemeClr val="accent1"/>
            </a:solidFill>
            <a:prstDash val="solid"/>
          </a:ln>
        </p:spPr>
        <p:txBody>
          <a:bodyPr/>
          <a:lstStyle/>
          <a:p>
            <a:endParaRPr lang="en-ZM"/>
          </a:p>
        </p:txBody>
      </p:sp>
      <p:sp>
        <p:nvSpPr>
          <p:cNvPr id="25" name="Badge 176"/>
          <p:cNvSpPr/>
          <p:nvPr/>
        </p:nvSpPr>
        <p:spPr>
          <a:xfrm>
            <a:off x="4937760" y="3118104"/>
            <a:ext cx="329184" cy="329184"/>
          </a:xfrm>
          <a:prstGeom prst="ellipse">
            <a:avLst/>
          </a:prstGeom>
          <a:solidFill>
            <a:schemeClr val="tx1"/>
          </a:solidFill>
          <a:ln w="12700">
            <a:solidFill>
              <a:schemeClr val="tx1"/>
            </a:solidFill>
            <a:prstDash val="solid"/>
          </a:ln>
        </p:spPr>
        <p:txBody>
          <a:bodyPr/>
          <a:lstStyle/>
          <a:p>
            <a:endParaRPr lang="en-ZM"/>
          </a:p>
        </p:txBody>
      </p:sp>
      <p:sp>
        <p:nvSpPr>
          <p:cNvPr id="26" name="Text 177"/>
          <p:cNvSpPr txBox="1"/>
          <p:nvPr/>
        </p:nvSpPr>
        <p:spPr>
          <a:xfrm>
            <a:off x="4937760" y="3118104"/>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ambria" pitchFamily="34" charset="0"/>
                <a:ea typeface="Cambria" pitchFamily="34" charset="-122"/>
                <a:cs typeface="Cambria" pitchFamily="34" charset="-120"/>
              </a:rPr>
              <a:t>3</a:t>
            </a:r>
            <a:endParaRPr lang="en-US" sz="1200" dirty="0"/>
          </a:p>
        </p:txBody>
      </p:sp>
      <p:sp>
        <p:nvSpPr>
          <p:cNvPr id="27" name="Text 178"/>
          <p:cNvSpPr txBox="1"/>
          <p:nvPr/>
        </p:nvSpPr>
        <p:spPr>
          <a:xfrm>
            <a:off x="5394960" y="3099816"/>
            <a:ext cx="3246120" cy="384048"/>
          </a:xfrm>
          <a:prstGeom prst="rect">
            <a:avLst/>
          </a:prstGeom>
          <a:noFill/>
          <a:ln/>
        </p:spPr>
        <p:txBody>
          <a:bodyPr wrap="square" lIns="0" tIns="0" rIns="0" bIns="0" rtlCol="0" anchor="ctr"/>
          <a:lstStyle/>
          <a:p>
            <a:pPr marL="0" indent="0">
              <a:buNone/>
            </a:pPr>
            <a:r>
              <a:rPr lang="en-US" sz="1400" b="1" dirty="0">
                <a:solidFill>
                  <a:schemeClr val="tx1"/>
                </a:solidFill>
              </a:rPr>
              <a:t>Tick “Add python.exe to PATH”</a:t>
            </a:r>
            <a:endParaRPr lang="en-US" sz="1400" dirty="0"/>
          </a:p>
        </p:txBody>
      </p:sp>
      <p:sp>
        <p:nvSpPr>
          <p:cNvPr id="28" name="Badge 179"/>
          <p:cNvSpPr/>
          <p:nvPr/>
        </p:nvSpPr>
        <p:spPr>
          <a:xfrm>
            <a:off x="4937760" y="3593592"/>
            <a:ext cx="329184" cy="329184"/>
          </a:xfrm>
          <a:prstGeom prst="ellipse">
            <a:avLst/>
          </a:prstGeom>
          <a:solidFill>
            <a:schemeClr val="accent2"/>
          </a:solidFill>
          <a:ln w="12700">
            <a:solidFill>
              <a:schemeClr val="accent2"/>
            </a:solidFill>
            <a:prstDash val="solid"/>
          </a:ln>
        </p:spPr>
        <p:txBody>
          <a:bodyPr/>
          <a:lstStyle/>
          <a:p>
            <a:endParaRPr lang="en-ZM"/>
          </a:p>
        </p:txBody>
      </p:sp>
      <p:sp>
        <p:nvSpPr>
          <p:cNvPr id="29" name="Text 180"/>
          <p:cNvSpPr txBox="1"/>
          <p:nvPr/>
        </p:nvSpPr>
        <p:spPr>
          <a:xfrm>
            <a:off x="4937760" y="359359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4</a:t>
            </a:r>
            <a:endParaRPr lang="en-US" sz="1200" dirty="0"/>
          </a:p>
        </p:txBody>
      </p:sp>
      <p:sp>
        <p:nvSpPr>
          <p:cNvPr id="30" name="Text 181"/>
          <p:cNvSpPr txBox="1"/>
          <p:nvPr/>
        </p:nvSpPr>
        <p:spPr>
          <a:xfrm>
            <a:off x="5394960" y="3575304"/>
            <a:ext cx="3246120" cy="384048"/>
          </a:xfrm>
          <a:prstGeom prst="rect">
            <a:avLst/>
          </a:prstGeom>
          <a:noFill/>
          <a:ln/>
        </p:spPr>
        <p:txBody>
          <a:bodyPr wrap="square" lIns="0" tIns="0" rIns="0" bIns="0" rtlCol="0" anchor="ctr"/>
          <a:lstStyle/>
          <a:p>
            <a:pPr marL="0" indent="0">
              <a:buNone/>
            </a:pPr>
            <a:r>
              <a:rPr lang="en-US" sz="1400" dirty="0">
                <a:solidFill>
                  <a:schemeClr val="tx1"/>
                </a:solidFill>
              </a:rPr>
              <a:t>Click Install Now</a:t>
            </a:r>
            <a:endParaRPr lang="en-US" sz="1400" dirty="0"/>
          </a:p>
        </p:txBody>
      </p:sp>
      <p:sp>
        <p:nvSpPr>
          <p:cNvPr id="31" name="Badge 182"/>
          <p:cNvSpPr/>
          <p:nvPr/>
        </p:nvSpPr>
        <p:spPr>
          <a:xfrm>
            <a:off x="4937760" y="4069080"/>
            <a:ext cx="329184" cy="329184"/>
          </a:xfrm>
          <a:prstGeom prst="ellipse">
            <a:avLst/>
          </a:prstGeom>
          <a:solidFill>
            <a:schemeClr val="accent2"/>
          </a:solidFill>
          <a:ln w="12700">
            <a:solidFill>
              <a:schemeClr val="accent2"/>
            </a:solidFill>
            <a:prstDash val="solid"/>
          </a:ln>
        </p:spPr>
        <p:txBody>
          <a:bodyPr/>
          <a:lstStyle/>
          <a:p>
            <a:endParaRPr lang="en-ZM"/>
          </a:p>
        </p:txBody>
      </p:sp>
      <p:sp>
        <p:nvSpPr>
          <p:cNvPr id="32" name="Text 183"/>
          <p:cNvSpPr txBox="1"/>
          <p:nvPr/>
        </p:nvSpPr>
        <p:spPr>
          <a:xfrm>
            <a:off x="4937760" y="4069080"/>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mbria" pitchFamily="34" charset="0"/>
                <a:ea typeface="Cambria" pitchFamily="34" charset="-122"/>
                <a:cs typeface="Cambria" pitchFamily="34" charset="-120"/>
              </a:rPr>
              <a:t>5</a:t>
            </a:r>
            <a:endParaRPr lang="en-US" sz="1200" dirty="0"/>
          </a:p>
        </p:txBody>
      </p:sp>
      <p:sp>
        <p:nvSpPr>
          <p:cNvPr id="33" name="Text 184"/>
          <p:cNvSpPr txBox="1"/>
          <p:nvPr/>
        </p:nvSpPr>
        <p:spPr>
          <a:xfrm>
            <a:off x="5394960" y="4050792"/>
            <a:ext cx="3246120" cy="384048"/>
          </a:xfrm>
          <a:prstGeom prst="rect">
            <a:avLst/>
          </a:prstGeom>
          <a:noFill/>
          <a:ln/>
        </p:spPr>
        <p:txBody>
          <a:bodyPr wrap="square" lIns="0" tIns="0" rIns="0" bIns="0" rtlCol="0" anchor="ctr"/>
          <a:lstStyle/>
          <a:p>
            <a:pPr marL="0" indent="0">
              <a:buNone/>
            </a:pPr>
            <a:r>
              <a:rPr lang="en-US" sz="1400" dirty="0">
                <a:solidFill>
                  <a:schemeClr val="tx1"/>
                </a:solidFill>
              </a:rPr>
              <a:t>Reopen PowerShell and run python --version</a:t>
            </a:r>
            <a:endParaRPr lang="en-US" sz="1400" dirty="0"/>
          </a:p>
        </p:txBody>
      </p:sp>
      <p:sp>
        <p:nvSpPr>
          <p:cNvPr id="34"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Paths: Addresses for Files</a:t>
            </a:r>
            <a:endParaRPr lang="en-US" sz="3200" dirty="0"/>
          </a:p>
        </p:txBody>
      </p:sp>
      <p:sp>
        <p:nvSpPr>
          <p:cNvPr id="3" name="Terminal 132"/>
          <p:cNvSpPr/>
          <p:nvPr/>
        </p:nvSpPr>
        <p:spPr>
          <a:xfrm>
            <a:off x="457200" y="1143000"/>
            <a:ext cx="4206240" cy="2606040"/>
          </a:xfrm>
          <a:prstGeom prst="roundRect">
            <a:avLst>
              <a:gd name="adj" fmla="val 280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4" name="Dot 133"/>
          <p:cNvSpPr/>
          <p:nvPr/>
        </p:nvSpPr>
        <p:spPr>
          <a:xfrm>
            <a:off x="603504" y="12527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5" name="Dot 134"/>
          <p:cNvSpPr/>
          <p:nvPr/>
        </p:nvSpPr>
        <p:spPr>
          <a:xfrm>
            <a:off x="758952" y="12527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6" name="Dot 135"/>
          <p:cNvSpPr/>
          <p:nvPr/>
        </p:nvSpPr>
        <p:spPr>
          <a:xfrm>
            <a:off x="914400" y="12527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7" name="Text 136"/>
          <p:cNvSpPr txBox="1"/>
          <p:nvPr/>
        </p:nvSpPr>
        <p:spPr>
          <a:xfrm>
            <a:off x="1143000" y="1207008"/>
            <a:ext cx="338328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folder tree</a:t>
            </a:r>
            <a:endParaRPr lang="en-US" sz="1000" dirty="0"/>
          </a:p>
        </p:txBody>
      </p:sp>
      <p:sp>
        <p:nvSpPr>
          <p:cNvPr id="8" name="Code 137"/>
          <p:cNvSpPr txBox="1"/>
          <p:nvPr/>
        </p:nvSpPr>
        <p:spPr>
          <a:xfrm>
            <a:off x="621792" y="1472184"/>
            <a:ext cx="3931920" cy="2185416"/>
          </a:xfrm>
          <a:prstGeom prst="rect">
            <a:avLst/>
          </a:prstGeom>
          <a:noFill/>
          <a:ln/>
        </p:spPr>
        <p:txBody>
          <a:bodyPr wrap="square" lIns="0" tIns="0" rIns="0" bIns="0" rtlCol="0" anchor="t"/>
          <a:lstStyle/>
          <a:p>
            <a:pPr marL="0" indent="0">
              <a:buNone/>
            </a:pPr>
            <a:r>
              <a:rPr lang="en-US" sz="1100" dirty="0">
                <a:solidFill>
                  <a:schemeClr val="bg1"/>
                </a:solidFill>
                <a:latin typeface="Courier New" pitchFamily="34" charset="0"/>
                <a:ea typeface="Courier New" pitchFamily="34" charset="-122"/>
                <a:cs typeface="Courier New" pitchFamily="34" charset="-120"/>
              </a:rPr>
              <a:t>C:\</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Users\</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 HP\             # ~ (home)</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 Downloads\</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 signal\   # you are here (.)</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 README.md</a:t>
            </a:r>
            <a:endParaRPr lang="en-US" sz="1100" dirty="0"/>
          </a:p>
        </p:txBody>
      </p:sp>
      <p:sp>
        <p:nvSpPr>
          <p:cNvPr id="9" name="Text 138"/>
          <p:cNvSpPr txBox="1"/>
          <p:nvPr/>
        </p:nvSpPr>
        <p:spPr>
          <a:xfrm>
            <a:off x="457200" y="3931920"/>
            <a:ext cx="4206240" cy="457200"/>
          </a:xfrm>
          <a:prstGeom prst="rect">
            <a:avLst/>
          </a:prstGeom>
          <a:noFill/>
          <a:ln/>
        </p:spPr>
        <p:txBody>
          <a:bodyPr wrap="square" lIns="0" tIns="0" rIns="0" bIns="0" rtlCol="0" anchor="t"/>
          <a:lstStyle/>
          <a:p>
            <a:pPr marL="0" indent="0">
              <a:buNone/>
            </a:pPr>
            <a:r>
              <a:rPr lang="en-US" sz="1400" dirty="0">
                <a:solidFill>
                  <a:schemeClr val="tx2"/>
                </a:solidFill>
              </a:rPr>
              <a:t>Windows separates folders with \. PowerShell also accepts /.</a:t>
            </a:r>
            <a:endParaRPr lang="en-US" sz="1400" dirty="0"/>
          </a:p>
        </p:txBody>
      </p:sp>
      <p:sp>
        <p:nvSpPr>
          <p:cNvPr id="10" name="Card 139"/>
          <p:cNvSpPr/>
          <p:nvPr/>
        </p:nvSpPr>
        <p:spPr>
          <a:xfrm>
            <a:off x="4937760" y="1143000"/>
            <a:ext cx="3749040" cy="960120"/>
          </a:xfrm>
          <a:prstGeom prst="roundRect">
            <a:avLst>
              <a:gd name="adj" fmla="val 7619"/>
            </a:avLst>
          </a:prstGeom>
          <a:solidFill>
            <a:schemeClr val="bg2"/>
          </a:solidFill>
          <a:ln w="12700">
            <a:solidFill>
              <a:schemeClr val="bg2"/>
            </a:solidFill>
            <a:prstDash val="solid"/>
          </a:ln>
        </p:spPr>
        <p:txBody>
          <a:bodyPr/>
          <a:lstStyle/>
          <a:p>
            <a:endParaRPr lang="en-ZM"/>
          </a:p>
        </p:txBody>
      </p:sp>
      <p:sp>
        <p:nvSpPr>
          <p:cNvPr id="11" name="Text 140"/>
          <p:cNvSpPr txBox="1"/>
          <p:nvPr/>
        </p:nvSpPr>
        <p:spPr>
          <a:xfrm>
            <a:off x="5120640" y="1234440"/>
            <a:ext cx="3429000" cy="347472"/>
          </a:xfrm>
          <a:prstGeom prst="rect">
            <a:avLst/>
          </a:prstGeom>
          <a:noFill/>
          <a:ln/>
        </p:spPr>
        <p:txBody>
          <a:bodyPr wrap="square" lIns="0" tIns="0" rIns="0" bIns="0" rtlCol="0" anchor="ctr"/>
          <a:lstStyle/>
          <a:p>
            <a:pPr marL="0" indent="0">
              <a:buNone/>
            </a:pPr>
            <a:r>
              <a:rPr lang="en-US" sz="1600" b="1" dirty="0">
                <a:solidFill>
                  <a:schemeClr val="tx1"/>
                </a:solidFill>
              </a:rPr>
              <a:t>Absolute path</a:t>
            </a:r>
            <a:endParaRPr lang="en-US" sz="1600" dirty="0"/>
          </a:p>
        </p:txBody>
      </p:sp>
      <p:sp>
        <p:nvSpPr>
          <p:cNvPr id="12" name="Text 141"/>
          <p:cNvSpPr txBox="1"/>
          <p:nvPr/>
        </p:nvSpPr>
        <p:spPr>
          <a:xfrm>
            <a:off x="5120640" y="1572768"/>
            <a:ext cx="3474720" cy="22860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C:\Users\HP\Downloads\signal</a:t>
            </a:r>
            <a:endParaRPr lang="en-US" sz="1200" dirty="0"/>
          </a:p>
        </p:txBody>
      </p:sp>
      <p:sp>
        <p:nvSpPr>
          <p:cNvPr id="13" name="Text 142"/>
          <p:cNvSpPr txBox="1"/>
          <p:nvPr/>
        </p:nvSpPr>
        <p:spPr>
          <a:xfrm>
            <a:off x="5120640" y="1810512"/>
            <a:ext cx="3474720" cy="256032"/>
          </a:xfrm>
          <a:prstGeom prst="rect">
            <a:avLst/>
          </a:prstGeom>
          <a:noFill/>
          <a:ln/>
        </p:spPr>
        <p:txBody>
          <a:bodyPr wrap="square" lIns="0" tIns="0" rIns="0" bIns="0" rtlCol="0" anchor="t"/>
          <a:lstStyle/>
          <a:p>
            <a:pPr marL="0" indent="0">
              <a:buNone/>
            </a:pPr>
            <a:r>
              <a:rPr lang="en-US" sz="1400" dirty="0">
                <a:solidFill>
                  <a:schemeClr val="tx2"/>
                </a:solidFill>
              </a:rPr>
              <a:t>The full address, from the drive</a:t>
            </a:r>
            <a:endParaRPr lang="en-US" sz="1400" dirty="0"/>
          </a:p>
        </p:txBody>
      </p:sp>
      <p:sp>
        <p:nvSpPr>
          <p:cNvPr id="14" name="Card 143"/>
          <p:cNvSpPr/>
          <p:nvPr/>
        </p:nvSpPr>
        <p:spPr>
          <a:xfrm>
            <a:off x="4937760" y="2212848"/>
            <a:ext cx="3749040" cy="960120"/>
          </a:xfrm>
          <a:prstGeom prst="roundRect">
            <a:avLst>
              <a:gd name="adj" fmla="val 7619"/>
            </a:avLst>
          </a:prstGeom>
          <a:solidFill>
            <a:schemeClr val="bg2"/>
          </a:solidFill>
          <a:ln w="12700">
            <a:solidFill>
              <a:schemeClr val="bg2"/>
            </a:solidFill>
            <a:prstDash val="solid"/>
          </a:ln>
        </p:spPr>
        <p:txBody>
          <a:bodyPr/>
          <a:lstStyle/>
          <a:p>
            <a:endParaRPr lang="en-ZM"/>
          </a:p>
        </p:txBody>
      </p:sp>
      <p:sp>
        <p:nvSpPr>
          <p:cNvPr id="15" name="Text 144"/>
          <p:cNvSpPr txBox="1"/>
          <p:nvPr/>
        </p:nvSpPr>
        <p:spPr>
          <a:xfrm>
            <a:off x="5120640" y="2304288"/>
            <a:ext cx="3429000" cy="347472"/>
          </a:xfrm>
          <a:prstGeom prst="rect">
            <a:avLst/>
          </a:prstGeom>
          <a:noFill/>
          <a:ln/>
        </p:spPr>
        <p:txBody>
          <a:bodyPr wrap="square" lIns="0" tIns="0" rIns="0" bIns="0" rtlCol="0" anchor="ctr"/>
          <a:lstStyle/>
          <a:p>
            <a:pPr marL="0" indent="0">
              <a:buNone/>
            </a:pPr>
            <a:r>
              <a:rPr lang="en-US" sz="1600" b="1" dirty="0">
                <a:solidFill>
                  <a:schemeClr val="tx1"/>
                </a:solidFill>
              </a:rPr>
              <a:t>Relative path</a:t>
            </a:r>
            <a:endParaRPr lang="en-US" sz="1600" dirty="0"/>
          </a:p>
        </p:txBody>
      </p:sp>
      <p:sp>
        <p:nvSpPr>
          <p:cNvPr id="16" name="Text 145"/>
          <p:cNvSpPr txBox="1"/>
          <p:nvPr/>
        </p:nvSpPr>
        <p:spPr>
          <a:xfrm>
            <a:off x="5120640" y="2642616"/>
            <a:ext cx="3474720" cy="22860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signal\README.md</a:t>
            </a:r>
            <a:endParaRPr lang="en-US" sz="1200" dirty="0"/>
          </a:p>
        </p:txBody>
      </p:sp>
      <p:sp>
        <p:nvSpPr>
          <p:cNvPr id="17" name="Text 146"/>
          <p:cNvSpPr txBox="1"/>
          <p:nvPr/>
        </p:nvSpPr>
        <p:spPr>
          <a:xfrm>
            <a:off x="5120640" y="2880360"/>
            <a:ext cx="3474720" cy="256032"/>
          </a:xfrm>
          <a:prstGeom prst="rect">
            <a:avLst/>
          </a:prstGeom>
          <a:noFill/>
          <a:ln/>
        </p:spPr>
        <p:txBody>
          <a:bodyPr wrap="square" lIns="0" tIns="0" rIns="0" bIns="0" rtlCol="0" anchor="t"/>
          <a:lstStyle/>
          <a:p>
            <a:pPr marL="0" indent="0">
              <a:buNone/>
            </a:pPr>
            <a:r>
              <a:rPr lang="en-US" sz="1400" dirty="0">
                <a:solidFill>
                  <a:schemeClr val="tx2"/>
                </a:solidFill>
              </a:rPr>
              <a:t>Counted from where you are now</a:t>
            </a:r>
            <a:endParaRPr lang="en-US" sz="1400" dirty="0"/>
          </a:p>
        </p:txBody>
      </p:sp>
      <p:sp>
        <p:nvSpPr>
          <p:cNvPr id="18" name="Card 147"/>
          <p:cNvSpPr/>
          <p:nvPr/>
        </p:nvSpPr>
        <p:spPr>
          <a:xfrm>
            <a:off x="4937760" y="3282696"/>
            <a:ext cx="3749040" cy="1243584"/>
          </a:xfrm>
          <a:prstGeom prst="roundRect">
            <a:avLst>
              <a:gd name="adj" fmla="val 5882"/>
            </a:avLst>
          </a:prstGeom>
          <a:solidFill>
            <a:schemeClr val="bg2"/>
          </a:solidFill>
          <a:ln w="12700">
            <a:solidFill>
              <a:schemeClr val="bg2"/>
            </a:solidFill>
            <a:prstDash val="solid"/>
          </a:ln>
        </p:spPr>
        <p:txBody>
          <a:bodyPr/>
          <a:lstStyle/>
          <a:p>
            <a:endParaRPr lang="en-ZM"/>
          </a:p>
        </p:txBody>
      </p:sp>
      <p:sp>
        <p:nvSpPr>
          <p:cNvPr id="19" name="Text 148"/>
          <p:cNvSpPr txBox="1"/>
          <p:nvPr/>
        </p:nvSpPr>
        <p:spPr>
          <a:xfrm>
            <a:off x="5120640" y="3401568"/>
            <a:ext cx="457200" cy="292608"/>
          </a:xfrm>
          <a:prstGeom prst="rect">
            <a:avLst/>
          </a:prstGeom>
          <a:noFill/>
          <a:ln/>
        </p:spPr>
        <p:txBody>
          <a:bodyPr wrap="square" lIns="0" tIns="0" rIns="0" bIns="0" rtlCol="0" anchor="ctr"/>
          <a:lstStyle/>
          <a:p>
            <a:pPr marL="0" indent="0">
              <a:buNone/>
            </a:pPr>
            <a:r>
              <a:rPr lang="en-US" sz="1600" b="1" dirty="0">
                <a:solidFill>
                  <a:schemeClr val="accent2"/>
                </a:solidFill>
                <a:latin typeface="Courier New" pitchFamily="34" charset="0"/>
                <a:ea typeface="Courier New" pitchFamily="34" charset="-122"/>
                <a:cs typeface="Courier New" pitchFamily="34" charset="-120"/>
              </a:rPr>
              <a:t>.</a:t>
            </a:r>
            <a:endParaRPr lang="en-US" sz="1600" dirty="0"/>
          </a:p>
        </p:txBody>
      </p:sp>
      <p:sp>
        <p:nvSpPr>
          <p:cNvPr id="20" name="Text 149"/>
          <p:cNvSpPr txBox="1"/>
          <p:nvPr/>
        </p:nvSpPr>
        <p:spPr>
          <a:xfrm>
            <a:off x="5669280" y="3401568"/>
            <a:ext cx="2834640" cy="292608"/>
          </a:xfrm>
          <a:prstGeom prst="rect">
            <a:avLst/>
          </a:prstGeom>
          <a:noFill/>
          <a:ln/>
        </p:spPr>
        <p:txBody>
          <a:bodyPr wrap="square" lIns="0" tIns="0" rIns="0" bIns="0" rtlCol="0" anchor="ctr"/>
          <a:lstStyle/>
          <a:p>
            <a:pPr marL="0" indent="0">
              <a:buNone/>
            </a:pPr>
            <a:r>
              <a:rPr lang="en-US" sz="1400" dirty="0">
                <a:solidFill>
                  <a:schemeClr val="tx1"/>
                </a:solidFill>
              </a:rPr>
              <a:t>this folder</a:t>
            </a:r>
            <a:endParaRPr lang="en-US" sz="1400" dirty="0"/>
          </a:p>
        </p:txBody>
      </p:sp>
      <p:sp>
        <p:nvSpPr>
          <p:cNvPr id="21" name="Text 150"/>
          <p:cNvSpPr txBox="1"/>
          <p:nvPr/>
        </p:nvSpPr>
        <p:spPr>
          <a:xfrm>
            <a:off x="5120640" y="3767328"/>
            <a:ext cx="457200" cy="292608"/>
          </a:xfrm>
          <a:prstGeom prst="rect">
            <a:avLst/>
          </a:prstGeom>
          <a:noFill/>
          <a:ln/>
        </p:spPr>
        <p:txBody>
          <a:bodyPr wrap="square" lIns="0" tIns="0" rIns="0" bIns="0" rtlCol="0" anchor="ctr"/>
          <a:lstStyle/>
          <a:p>
            <a:pPr marL="0" indent="0">
              <a:buNone/>
            </a:pPr>
            <a:r>
              <a:rPr lang="en-US" sz="1600" b="1" dirty="0">
                <a:solidFill>
                  <a:schemeClr val="accent2"/>
                </a:solidFill>
                <a:latin typeface="Courier New" pitchFamily="34" charset="0"/>
                <a:ea typeface="Courier New" pitchFamily="34" charset="-122"/>
                <a:cs typeface="Courier New" pitchFamily="34" charset="-120"/>
              </a:rPr>
              <a:t>..</a:t>
            </a:r>
            <a:endParaRPr lang="en-US" sz="1600" dirty="0"/>
          </a:p>
        </p:txBody>
      </p:sp>
      <p:sp>
        <p:nvSpPr>
          <p:cNvPr id="22" name="Text 151"/>
          <p:cNvSpPr txBox="1"/>
          <p:nvPr/>
        </p:nvSpPr>
        <p:spPr>
          <a:xfrm>
            <a:off x="5669280" y="3767328"/>
            <a:ext cx="2834640" cy="292608"/>
          </a:xfrm>
          <a:prstGeom prst="rect">
            <a:avLst/>
          </a:prstGeom>
          <a:noFill/>
          <a:ln/>
        </p:spPr>
        <p:txBody>
          <a:bodyPr wrap="square" lIns="0" tIns="0" rIns="0" bIns="0" rtlCol="0" anchor="ctr"/>
          <a:lstStyle/>
          <a:p>
            <a:pPr marL="0" indent="0">
              <a:buNone/>
            </a:pPr>
            <a:r>
              <a:rPr lang="en-US" sz="1400" dirty="0">
                <a:solidFill>
                  <a:schemeClr val="tx1"/>
                </a:solidFill>
              </a:rPr>
              <a:t>the folder above</a:t>
            </a:r>
            <a:endParaRPr lang="en-US" sz="1400" dirty="0"/>
          </a:p>
        </p:txBody>
      </p:sp>
      <p:sp>
        <p:nvSpPr>
          <p:cNvPr id="23" name="Text 152"/>
          <p:cNvSpPr txBox="1"/>
          <p:nvPr/>
        </p:nvSpPr>
        <p:spPr>
          <a:xfrm>
            <a:off x="5120640" y="4133088"/>
            <a:ext cx="457200" cy="292608"/>
          </a:xfrm>
          <a:prstGeom prst="rect">
            <a:avLst/>
          </a:prstGeom>
          <a:noFill/>
          <a:ln/>
        </p:spPr>
        <p:txBody>
          <a:bodyPr wrap="square" lIns="0" tIns="0" rIns="0" bIns="0" rtlCol="0" anchor="ctr"/>
          <a:lstStyle/>
          <a:p>
            <a:pPr marL="0" indent="0">
              <a:buNone/>
            </a:pPr>
            <a:r>
              <a:rPr lang="en-US" sz="1600" b="1" dirty="0">
                <a:solidFill>
                  <a:schemeClr val="accent2"/>
                </a:solidFill>
                <a:latin typeface="Courier New" pitchFamily="34" charset="0"/>
                <a:ea typeface="Courier New" pitchFamily="34" charset="-122"/>
                <a:cs typeface="Courier New" pitchFamily="34" charset="-120"/>
              </a:rPr>
              <a:t>~</a:t>
            </a:r>
            <a:endParaRPr lang="en-US" sz="1600" dirty="0"/>
          </a:p>
        </p:txBody>
      </p:sp>
      <p:sp>
        <p:nvSpPr>
          <p:cNvPr id="24" name="Text 153"/>
          <p:cNvSpPr txBox="1"/>
          <p:nvPr/>
        </p:nvSpPr>
        <p:spPr>
          <a:xfrm>
            <a:off x="5669280" y="4133088"/>
            <a:ext cx="2834640" cy="292608"/>
          </a:xfrm>
          <a:prstGeom prst="rect">
            <a:avLst/>
          </a:prstGeom>
          <a:noFill/>
          <a:ln/>
        </p:spPr>
        <p:txBody>
          <a:bodyPr wrap="square" lIns="0" tIns="0" rIns="0" bIns="0" rtlCol="0" anchor="ctr"/>
          <a:lstStyle/>
          <a:p>
            <a:pPr marL="0" indent="0">
              <a:buNone/>
            </a:pPr>
            <a:r>
              <a:rPr lang="en-US" sz="1400" dirty="0">
                <a:solidFill>
                  <a:schemeClr val="tx1"/>
                </a:solidFill>
              </a:rPr>
              <a:t>your home folder</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left)">
                                      <p:cBhvr>
                                        <p:cTn id="7" dur="350"/>
                                        <p:tgtEl>
                                          <p:spTgt spid="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down)">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down)">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down)">
                                      <p:cBhvr>
                                        <p:cTn id="3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Why Add Python to PATH?</a:t>
            </a:r>
            <a:endParaRPr lang="en-US" sz="3200" dirty="0"/>
          </a:p>
        </p:txBody>
      </p:sp>
      <p:sp>
        <p:nvSpPr>
          <p:cNvPr id="3" name="Terminal 185"/>
          <p:cNvSpPr/>
          <p:nvPr/>
        </p:nvSpPr>
        <p:spPr>
          <a:xfrm>
            <a:off x="457200" y="1143000"/>
            <a:ext cx="4754880" cy="2606040"/>
          </a:xfrm>
          <a:prstGeom prst="roundRect">
            <a:avLst>
              <a:gd name="adj" fmla="val 280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4" name="Dot 186"/>
          <p:cNvSpPr/>
          <p:nvPr/>
        </p:nvSpPr>
        <p:spPr>
          <a:xfrm>
            <a:off x="603504" y="12527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5" name="Dot 187"/>
          <p:cNvSpPr/>
          <p:nvPr/>
        </p:nvSpPr>
        <p:spPr>
          <a:xfrm>
            <a:off x="758952" y="12527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6" name="Dot 188"/>
          <p:cNvSpPr/>
          <p:nvPr/>
        </p:nvSpPr>
        <p:spPr>
          <a:xfrm>
            <a:off x="914400" y="12527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7" name="Text 189"/>
          <p:cNvSpPr txBox="1"/>
          <p:nvPr/>
        </p:nvSpPr>
        <p:spPr>
          <a:xfrm>
            <a:off x="1143000" y="1207008"/>
            <a:ext cx="393192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how Windows finds a command</a:t>
            </a:r>
            <a:endParaRPr lang="en-US" sz="1000" dirty="0"/>
          </a:p>
        </p:txBody>
      </p:sp>
      <p:sp>
        <p:nvSpPr>
          <p:cNvPr id="8" name="Code 190"/>
          <p:cNvSpPr txBox="1"/>
          <p:nvPr/>
        </p:nvSpPr>
        <p:spPr>
          <a:xfrm>
            <a:off x="621792" y="1472184"/>
            <a:ext cx="4480560" cy="218541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python</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chemeClr val="accent5"/>
                </a:solidFill>
                <a:latin typeface="Courier New" pitchFamily="34" charset="0"/>
                <a:ea typeface="Courier New" pitchFamily="34" charset="-122"/>
                <a:cs typeface="Courier New" pitchFamily="34" charset="-120"/>
              </a:rPr>
              <a:t># Windows checks each PATH folder in order:</a:t>
            </a:r>
            <a:endParaRPr lang="en-US" sz="1100" dirty="0"/>
          </a:p>
          <a:p>
            <a:pPr marL="0" indent="0">
              <a:buNone/>
            </a:pPr>
            <a:r>
              <a:rPr lang="en-US" sz="1100" dirty="0">
                <a:solidFill>
                  <a:schemeClr val="accent4"/>
                </a:solidFill>
                <a:latin typeface="Courier New" pitchFamily="34" charset="0"/>
                <a:ea typeface="Courier New" pitchFamily="34" charset="-122"/>
                <a:cs typeface="Courier New" pitchFamily="34" charset="-120"/>
              </a:rPr>
              <a:t>C:\Windows\System32\              ✗</a:t>
            </a:r>
            <a:endParaRPr lang="en-US" sz="1100" dirty="0"/>
          </a:p>
          <a:p>
            <a:pPr marL="0" indent="0">
              <a:buNone/>
            </a:pPr>
            <a:r>
              <a:rPr lang="en-US" sz="1100" dirty="0">
                <a:solidFill>
                  <a:schemeClr val="accent4"/>
                </a:solidFill>
                <a:latin typeface="Courier New" pitchFamily="34" charset="0"/>
                <a:ea typeface="Courier New" pitchFamily="34" charset="-122"/>
                <a:cs typeface="Courier New" pitchFamily="34" charset="-120"/>
              </a:rPr>
              <a:t>C:\Windows\                       ✗</a:t>
            </a:r>
            <a:endParaRPr lang="en-US" sz="1100" dirty="0"/>
          </a:p>
          <a:p>
            <a:pPr marL="0" indent="0">
              <a:buNone/>
            </a:pPr>
            <a:r>
              <a:rPr lang="en-US" sz="1100" dirty="0">
                <a:solidFill>
                  <a:schemeClr val="accent3"/>
                </a:solidFill>
                <a:latin typeface="Courier New" pitchFamily="34" charset="0"/>
                <a:ea typeface="Courier New" pitchFamily="34" charset="-122"/>
                <a:cs typeface="Courier New" pitchFamily="34" charset="-120"/>
              </a:rPr>
              <a:t>...\Programs\Python\Python313\    ✓ run it</a:t>
            </a:r>
            <a:endParaRPr lang="en-US" sz="1100" dirty="0"/>
          </a:p>
        </p:txBody>
      </p:sp>
      <p:sp>
        <p:nvSpPr>
          <p:cNvPr id="9" name="Text 191"/>
          <p:cNvSpPr txBox="1"/>
          <p:nvPr/>
        </p:nvSpPr>
        <p:spPr>
          <a:xfrm>
            <a:off x="457200" y="3886200"/>
            <a:ext cx="4754880" cy="594360"/>
          </a:xfrm>
          <a:prstGeom prst="rect">
            <a:avLst/>
          </a:prstGeom>
          <a:noFill/>
          <a:ln/>
        </p:spPr>
        <p:txBody>
          <a:bodyPr wrap="square" lIns="0" tIns="0" rIns="0" bIns="0" rtlCol="0" anchor="t"/>
          <a:lstStyle/>
          <a:p>
            <a:pPr marL="0" indent="0">
              <a:buNone/>
            </a:pPr>
            <a:r>
              <a:rPr lang="en-US" sz="1400" dirty="0">
                <a:solidFill>
                  <a:schemeClr val="tx2"/>
                </a:solidFill>
              </a:rPr>
              <a:t>Windows never searches the whole disk; that would be far too slow. It only checks the folders on PATH.</a:t>
            </a:r>
            <a:endParaRPr lang="en-US" sz="1400" dirty="0"/>
          </a:p>
        </p:txBody>
      </p:sp>
      <p:sp>
        <p:nvSpPr>
          <p:cNvPr id="10" name="Card 192"/>
          <p:cNvSpPr/>
          <p:nvPr/>
        </p:nvSpPr>
        <p:spPr>
          <a:xfrm>
            <a:off x="5486400" y="1143000"/>
            <a:ext cx="3200400" cy="1051560"/>
          </a:xfrm>
          <a:prstGeom prst="roundRect">
            <a:avLst>
              <a:gd name="adj" fmla="val 6957"/>
            </a:avLst>
          </a:prstGeom>
          <a:solidFill>
            <a:schemeClr val="bg2"/>
          </a:solidFill>
          <a:ln w="12700">
            <a:solidFill>
              <a:schemeClr val="bg2"/>
            </a:solidFill>
            <a:prstDash val="solid"/>
          </a:ln>
        </p:spPr>
        <p:txBody>
          <a:bodyPr/>
          <a:lstStyle/>
          <a:p>
            <a:endParaRPr lang="en-ZM"/>
          </a:p>
        </p:txBody>
      </p:sp>
      <p:sp>
        <p:nvSpPr>
          <p:cNvPr id="11" name="Text 193"/>
          <p:cNvSpPr txBox="1"/>
          <p:nvPr/>
        </p:nvSpPr>
        <p:spPr>
          <a:xfrm>
            <a:off x="5669280" y="1234440"/>
            <a:ext cx="2880360" cy="347472"/>
          </a:xfrm>
          <a:prstGeom prst="rect">
            <a:avLst/>
          </a:prstGeom>
          <a:noFill/>
          <a:ln/>
        </p:spPr>
        <p:txBody>
          <a:bodyPr wrap="square" lIns="0" tIns="0" rIns="0" bIns="0" rtlCol="0" anchor="ctr"/>
          <a:lstStyle/>
          <a:p>
            <a:pPr marL="0" indent="0">
              <a:buNone/>
            </a:pPr>
            <a:r>
              <a:rPr lang="en-US" sz="1600" b="1" dirty="0">
                <a:solidFill>
                  <a:schemeClr val="tx1"/>
                </a:solidFill>
              </a:rPr>
              <a:t>Environment variable</a:t>
            </a:r>
            <a:endParaRPr lang="en-US" sz="1600" dirty="0"/>
          </a:p>
        </p:txBody>
      </p:sp>
      <p:sp>
        <p:nvSpPr>
          <p:cNvPr id="12" name="Text 194"/>
          <p:cNvSpPr txBox="1"/>
          <p:nvPr/>
        </p:nvSpPr>
        <p:spPr>
          <a:xfrm>
            <a:off x="5669280" y="1600200"/>
            <a:ext cx="2834640" cy="548640"/>
          </a:xfrm>
          <a:prstGeom prst="rect">
            <a:avLst/>
          </a:prstGeom>
          <a:noFill/>
          <a:ln/>
        </p:spPr>
        <p:txBody>
          <a:bodyPr wrap="square" lIns="0" tIns="0" rIns="0" bIns="0" rtlCol="0" anchor="t"/>
          <a:lstStyle/>
          <a:p>
            <a:pPr marL="0" indent="0">
              <a:buNone/>
            </a:pPr>
            <a:r>
              <a:rPr lang="en-US" sz="1400" dirty="0">
                <a:solidFill>
                  <a:schemeClr val="tx2"/>
                </a:solidFill>
              </a:rPr>
              <a:t>A named setting the system and programs can read</a:t>
            </a:r>
            <a:endParaRPr lang="en-US" sz="1400" dirty="0"/>
          </a:p>
        </p:txBody>
      </p:sp>
      <p:sp>
        <p:nvSpPr>
          <p:cNvPr id="13" name="Card 195"/>
          <p:cNvSpPr/>
          <p:nvPr/>
        </p:nvSpPr>
        <p:spPr>
          <a:xfrm>
            <a:off x="5486400" y="2286000"/>
            <a:ext cx="3200400" cy="1051560"/>
          </a:xfrm>
          <a:prstGeom prst="roundRect">
            <a:avLst>
              <a:gd name="adj" fmla="val 6957"/>
            </a:avLst>
          </a:prstGeom>
          <a:solidFill>
            <a:schemeClr val="bg2"/>
          </a:solidFill>
          <a:ln w="12700">
            <a:solidFill>
              <a:schemeClr val="bg2"/>
            </a:solidFill>
            <a:prstDash val="solid"/>
          </a:ln>
        </p:spPr>
        <p:txBody>
          <a:bodyPr/>
          <a:lstStyle/>
          <a:p>
            <a:endParaRPr lang="en-ZM"/>
          </a:p>
        </p:txBody>
      </p:sp>
      <p:sp>
        <p:nvSpPr>
          <p:cNvPr id="14" name="Text 196"/>
          <p:cNvSpPr txBox="1"/>
          <p:nvPr/>
        </p:nvSpPr>
        <p:spPr>
          <a:xfrm>
            <a:off x="5669280" y="2377440"/>
            <a:ext cx="2880360" cy="347472"/>
          </a:xfrm>
          <a:prstGeom prst="rect">
            <a:avLst/>
          </a:prstGeom>
          <a:noFill/>
          <a:ln/>
        </p:spPr>
        <p:txBody>
          <a:bodyPr wrap="square" lIns="0" tIns="0" rIns="0" bIns="0" rtlCol="0" anchor="ctr"/>
          <a:lstStyle/>
          <a:p>
            <a:pPr marL="0" indent="0">
              <a:buNone/>
            </a:pPr>
            <a:r>
              <a:rPr lang="en-US" sz="1600" b="1" dirty="0">
                <a:solidFill>
                  <a:schemeClr val="tx1"/>
                </a:solidFill>
              </a:rPr>
              <a:t>PATH</a:t>
            </a:r>
            <a:endParaRPr lang="en-US" sz="1600" dirty="0"/>
          </a:p>
        </p:txBody>
      </p:sp>
      <p:sp>
        <p:nvSpPr>
          <p:cNvPr id="15" name="Text 197"/>
          <p:cNvSpPr txBox="1"/>
          <p:nvPr/>
        </p:nvSpPr>
        <p:spPr>
          <a:xfrm>
            <a:off x="5669280" y="2743200"/>
            <a:ext cx="2834640" cy="548640"/>
          </a:xfrm>
          <a:prstGeom prst="rect">
            <a:avLst/>
          </a:prstGeom>
          <a:noFill/>
          <a:ln/>
        </p:spPr>
        <p:txBody>
          <a:bodyPr wrap="square" lIns="0" tIns="0" rIns="0" bIns="0" rtlCol="0" anchor="t"/>
          <a:lstStyle/>
          <a:p>
            <a:pPr marL="0" indent="0">
              <a:buNone/>
            </a:pPr>
            <a:r>
              <a:rPr lang="en-US" sz="1400" dirty="0">
                <a:solidFill>
                  <a:schemeClr val="tx2"/>
                </a:solidFill>
              </a:rPr>
              <a:t>The list of folders searched when you type a command</a:t>
            </a:r>
            <a:endParaRPr lang="en-US" sz="1400" dirty="0"/>
          </a:p>
        </p:txBody>
      </p:sp>
      <p:sp>
        <p:nvSpPr>
          <p:cNvPr id="16" name="Card 198"/>
          <p:cNvSpPr/>
          <p:nvPr/>
        </p:nvSpPr>
        <p:spPr>
          <a:xfrm>
            <a:off x="5486400" y="3429000"/>
            <a:ext cx="3200400" cy="1051560"/>
          </a:xfrm>
          <a:prstGeom prst="roundRect">
            <a:avLst>
              <a:gd name="adj" fmla="val 6957"/>
            </a:avLst>
          </a:prstGeom>
          <a:solidFill>
            <a:schemeClr val="accent1"/>
          </a:solidFill>
          <a:ln w="12700">
            <a:solidFill>
              <a:schemeClr val="accent1"/>
            </a:solidFill>
            <a:prstDash val="solid"/>
          </a:ln>
        </p:spPr>
        <p:txBody>
          <a:bodyPr/>
          <a:lstStyle/>
          <a:p>
            <a:endParaRPr lang="en-ZM"/>
          </a:p>
        </p:txBody>
      </p:sp>
      <p:sp>
        <p:nvSpPr>
          <p:cNvPr id="17" name="Text 199"/>
          <p:cNvSpPr txBox="1"/>
          <p:nvPr/>
        </p:nvSpPr>
        <p:spPr>
          <a:xfrm>
            <a:off x="5669280" y="3474720"/>
            <a:ext cx="2834640" cy="960120"/>
          </a:xfrm>
          <a:prstGeom prst="rect">
            <a:avLst/>
          </a:prstGeom>
          <a:noFill/>
          <a:ln/>
        </p:spPr>
        <p:txBody>
          <a:bodyPr wrap="square" lIns="0" tIns="0" rIns="0" bIns="0" rtlCol="0" anchor="ctr"/>
          <a:lstStyle/>
          <a:p>
            <a:pPr marL="0" indent="0">
              <a:buNone/>
            </a:pPr>
            <a:r>
              <a:rPr lang="en-US" sz="1400" b="1" dirty="0">
                <a:solidFill>
                  <a:schemeClr val="tx1"/>
                </a:solidFill>
              </a:rPr>
              <a:t>The checkbox </a:t>
            </a:r>
            <a:r>
              <a:rPr lang="en-US" sz="1400" dirty="0">
                <a:solidFill>
                  <a:schemeClr val="tx1"/>
                </a:solidFill>
              </a:rPr>
              <a:t>adds Python's install folder, which isn't on PATH by default.</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left)">
                                      <p:cBhvr>
                                        <p:cTn id="7" dur="350"/>
                                        <p:tgtEl>
                                          <p:spTgt spid="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down)">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down)">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down)">
                                      <p:cBhvr>
                                        <p:cTn id="3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lIns="0" tIns="0" rIns="0" bIns="0" rtlCol="0" anchor="b"/>
          <a:lstStyle/>
          <a:p>
            <a:pPr marL="0" indent="0">
              <a:buNone/>
            </a:pPr>
            <a:r>
              <a:rPr lang="en-US" sz="6000" b="1" dirty="0">
                <a:solidFill>
                  <a:schemeClr val="accent1"/>
                </a:solidFill>
              </a:rPr>
              <a:t>02</a:t>
            </a: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Your Machine</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1800">
        <p14:honeycomb/>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The Terminal</a:t>
            </a:r>
            <a:endParaRPr lang="en-US" sz="3200" dirty="0"/>
          </a:p>
        </p:txBody>
      </p:sp>
      <p:sp>
        <p:nvSpPr>
          <p:cNvPr id="3" name="Text 120"/>
          <p:cNvSpPr txBox="1"/>
          <p:nvPr/>
        </p:nvSpPr>
        <p:spPr>
          <a:xfrm>
            <a:off x="457200" y="1097280"/>
            <a:ext cx="3931920" cy="502920"/>
          </a:xfrm>
          <a:prstGeom prst="rect">
            <a:avLst/>
          </a:prstGeom>
          <a:noFill/>
          <a:ln/>
        </p:spPr>
        <p:txBody>
          <a:bodyPr wrap="square" lIns="0" tIns="0" rIns="0" bIns="0" rtlCol="0" anchor="t"/>
          <a:lstStyle/>
          <a:p>
            <a:pPr marL="0" indent="0">
              <a:buNone/>
            </a:pPr>
            <a:r>
              <a:rPr lang="en-US" sz="1400" b="1" dirty="0">
                <a:solidFill>
                  <a:schemeClr val="tx1"/>
                </a:solidFill>
              </a:rPr>
              <a:t>Terminal</a:t>
            </a:r>
            <a:r>
              <a:rPr lang="en-US" sz="1400" dirty="0">
                <a:solidFill>
                  <a:schemeClr val="tx1"/>
                </a:solidFill>
              </a:rPr>
              <a:t> = the window.  </a:t>
            </a:r>
            <a:r>
              <a:rPr lang="en-US" sz="1400" b="1" dirty="0">
                <a:solidFill>
                  <a:schemeClr val="tx1"/>
                </a:solidFill>
              </a:rPr>
              <a:t>Shell</a:t>
            </a:r>
            <a:r>
              <a:rPr lang="en-US" sz="1400" dirty="0">
                <a:solidFill>
                  <a:schemeClr val="tx1"/>
                </a:solidFill>
              </a:rPr>
              <a:t> = the program inside that understands your commands.</a:t>
            </a:r>
            <a:endParaRPr lang="en-US" sz="1400" dirty="0"/>
          </a:p>
        </p:txBody>
      </p:sp>
      <p:sp>
        <p:nvSpPr>
          <p:cNvPr id="4" name="Card 121"/>
          <p:cNvSpPr/>
          <p:nvPr/>
        </p:nvSpPr>
        <p:spPr>
          <a:xfrm>
            <a:off x="457200" y="1691640"/>
            <a:ext cx="3931920" cy="868680"/>
          </a:xfrm>
          <a:prstGeom prst="roundRect">
            <a:avLst>
              <a:gd name="adj" fmla="val 8421"/>
            </a:avLst>
          </a:prstGeom>
          <a:solidFill>
            <a:schemeClr val="bg2"/>
          </a:solidFill>
          <a:ln w="12700">
            <a:solidFill>
              <a:schemeClr val="bg2"/>
            </a:solidFill>
            <a:prstDash val="solid"/>
          </a:ln>
        </p:spPr>
        <p:txBody>
          <a:bodyPr/>
          <a:lstStyle/>
          <a:p>
            <a:endParaRPr lang="en-ZM"/>
          </a:p>
        </p:txBody>
      </p:sp>
      <p:sp>
        <p:nvSpPr>
          <p:cNvPr id="5" name="Text 122"/>
          <p:cNvSpPr txBox="1"/>
          <p:nvPr/>
        </p:nvSpPr>
        <p:spPr>
          <a:xfrm>
            <a:off x="640080" y="1783080"/>
            <a:ext cx="3611880" cy="347472"/>
          </a:xfrm>
          <a:prstGeom prst="rect">
            <a:avLst/>
          </a:prstGeom>
          <a:noFill/>
          <a:ln/>
        </p:spPr>
        <p:txBody>
          <a:bodyPr wrap="square" lIns="0" tIns="0" rIns="0" bIns="0" rtlCol="0" anchor="ctr"/>
          <a:lstStyle/>
          <a:p>
            <a:pPr marL="0" indent="0">
              <a:buNone/>
            </a:pPr>
            <a:r>
              <a:rPr lang="en-US" sz="1600" b="1" dirty="0">
                <a:solidFill>
                  <a:schemeClr val="tx1"/>
                </a:solidFill>
              </a:rPr>
              <a:t>CMD (Command Prompt)</a:t>
            </a:r>
            <a:endParaRPr lang="en-US" sz="1600" dirty="0"/>
          </a:p>
        </p:txBody>
      </p:sp>
      <p:sp>
        <p:nvSpPr>
          <p:cNvPr id="6" name="Text 123"/>
          <p:cNvSpPr txBox="1"/>
          <p:nvPr/>
        </p:nvSpPr>
        <p:spPr>
          <a:xfrm>
            <a:off x="640080" y="2148840"/>
            <a:ext cx="3566160" cy="320040"/>
          </a:xfrm>
          <a:prstGeom prst="rect">
            <a:avLst/>
          </a:prstGeom>
          <a:noFill/>
          <a:ln/>
        </p:spPr>
        <p:txBody>
          <a:bodyPr wrap="square" lIns="0" tIns="0" rIns="0" bIns="0" rtlCol="0" anchor="t"/>
          <a:lstStyle/>
          <a:p>
            <a:pPr marL="0" indent="0">
              <a:buNone/>
            </a:pPr>
            <a:r>
              <a:rPr lang="en-US" sz="1400" dirty="0">
                <a:solidFill>
                  <a:schemeClr val="tx2"/>
                </a:solidFill>
              </a:rPr>
              <a:t>The older Windows shell</a:t>
            </a:r>
            <a:endParaRPr lang="en-US" sz="1400" dirty="0"/>
          </a:p>
        </p:txBody>
      </p:sp>
      <p:sp>
        <p:nvSpPr>
          <p:cNvPr id="7" name="Card 124"/>
          <p:cNvSpPr/>
          <p:nvPr/>
        </p:nvSpPr>
        <p:spPr>
          <a:xfrm>
            <a:off x="457200" y="2651760"/>
            <a:ext cx="3931920" cy="868680"/>
          </a:xfrm>
          <a:prstGeom prst="roundRect">
            <a:avLst>
              <a:gd name="adj" fmla="val 8421"/>
            </a:avLst>
          </a:prstGeom>
          <a:solidFill>
            <a:schemeClr val="bg2"/>
          </a:solidFill>
          <a:ln w="12700">
            <a:solidFill>
              <a:schemeClr val="bg2"/>
            </a:solidFill>
            <a:prstDash val="solid"/>
          </a:ln>
        </p:spPr>
        <p:txBody>
          <a:bodyPr/>
          <a:lstStyle/>
          <a:p>
            <a:endParaRPr lang="en-ZM"/>
          </a:p>
        </p:txBody>
      </p:sp>
      <p:sp>
        <p:nvSpPr>
          <p:cNvPr id="8" name="Text 125"/>
          <p:cNvSpPr txBox="1"/>
          <p:nvPr/>
        </p:nvSpPr>
        <p:spPr>
          <a:xfrm>
            <a:off x="640080" y="2743200"/>
            <a:ext cx="2011680" cy="384048"/>
          </a:xfrm>
          <a:prstGeom prst="rect">
            <a:avLst/>
          </a:prstGeom>
          <a:noFill/>
          <a:ln/>
        </p:spPr>
        <p:txBody>
          <a:bodyPr wrap="square" lIns="0" tIns="0" rIns="0" bIns="0" rtlCol="0" anchor="ctr"/>
          <a:lstStyle/>
          <a:p>
            <a:pPr marL="0" indent="0">
              <a:buNone/>
            </a:pPr>
            <a:r>
              <a:rPr lang="en-US" sz="1600" b="1" dirty="0">
                <a:solidFill>
                  <a:schemeClr val="tx1"/>
                </a:solidFill>
              </a:rPr>
              <a:t>PowerShell</a:t>
            </a:r>
            <a:endParaRPr lang="en-US" sz="1600" dirty="0"/>
          </a:p>
        </p:txBody>
      </p:sp>
      <p:sp>
        <p:nvSpPr>
          <p:cNvPr id="9" name="Card 126"/>
          <p:cNvSpPr/>
          <p:nvPr/>
        </p:nvSpPr>
        <p:spPr>
          <a:xfrm>
            <a:off x="3154680" y="2788920"/>
            <a:ext cx="1097280" cy="292608"/>
          </a:xfrm>
          <a:prstGeom prst="roundRect">
            <a:avLst>
              <a:gd name="adj" fmla="val 25000"/>
            </a:avLst>
          </a:prstGeom>
          <a:solidFill>
            <a:schemeClr val="accent1"/>
          </a:solidFill>
          <a:ln w="12700">
            <a:solidFill>
              <a:schemeClr val="accent1"/>
            </a:solidFill>
            <a:prstDash val="solid"/>
          </a:ln>
        </p:spPr>
        <p:txBody>
          <a:bodyPr/>
          <a:lstStyle/>
          <a:p>
            <a:endParaRPr lang="en-ZM"/>
          </a:p>
        </p:txBody>
      </p:sp>
      <p:sp>
        <p:nvSpPr>
          <p:cNvPr id="10" name="Text 127"/>
          <p:cNvSpPr txBox="1"/>
          <p:nvPr/>
        </p:nvSpPr>
        <p:spPr>
          <a:xfrm>
            <a:off x="3154680" y="2788920"/>
            <a:ext cx="1097280" cy="292608"/>
          </a:xfrm>
          <a:prstGeom prst="rect">
            <a:avLst/>
          </a:prstGeom>
          <a:noFill/>
          <a:ln/>
        </p:spPr>
        <p:txBody>
          <a:bodyPr wrap="square" lIns="0" tIns="0" rIns="0" bIns="0" rtlCol="0" anchor="ctr"/>
          <a:lstStyle/>
          <a:p>
            <a:pPr marL="0" indent="0" algn="ctr">
              <a:buNone/>
            </a:pPr>
            <a:r>
              <a:rPr lang="en-US" sz="1100" b="1" dirty="0">
                <a:solidFill>
                  <a:schemeClr val="tx1"/>
                </a:solidFill>
              </a:rPr>
              <a:t>USE THIS</a:t>
            </a:r>
            <a:endParaRPr lang="en-US" sz="1100" dirty="0"/>
          </a:p>
        </p:txBody>
      </p:sp>
      <p:sp>
        <p:nvSpPr>
          <p:cNvPr id="11" name="Text 128"/>
          <p:cNvSpPr txBox="1"/>
          <p:nvPr/>
        </p:nvSpPr>
        <p:spPr>
          <a:xfrm>
            <a:off x="640080" y="3127248"/>
            <a:ext cx="3566160" cy="320040"/>
          </a:xfrm>
          <a:prstGeom prst="rect">
            <a:avLst/>
          </a:prstGeom>
          <a:noFill/>
          <a:ln/>
        </p:spPr>
        <p:txBody>
          <a:bodyPr wrap="square" lIns="0" tIns="0" rIns="0" bIns="0" rtlCol="0" anchor="t"/>
          <a:lstStyle/>
          <a:p>
            <a:pPr marL="0" indent="0">
              <a:buNone/>
            </a:pPr>
            <a:r>
              <a:rPr lang="en-US" sz="1400" dirty="0">
                <a:solidFill>
                  <a:schemeClr val="tx2"/>
                </a:solidFill>
              </a:rPr>
              <a:t>Modern and more capable</a:t>
            </a:r>
            <a:endParaRPr lang="en-US" sz="1400" dirty="0"/>
          </a:p>
        </p:txBody>
      </p:sp>
      <p:sp>
        <p:nvSpPr>
          <p:cNvPr id="12" name="Card 129"/>
          <p:cNvSpPr/>
          <p:nvPr/>
        </p:nvSpPr>
        <p:spPr>
          <a:xfrm>
            <a:off x="457200" y="3611880"/>
            <a:ext cx="3931920" cy="914400"/>
          </a:xfrm>
          <a:prstGeom prst="roundRect">
            <a:avLst>
              <a:gd name="adj" fmla="val 8000"/>
            </a:avLst>
          </a:prstGeom>
          <a:solidFill>
            <a:schemeClr val="tx1"/>
          </a:solidFill>
          <a:ln w="12700">
            <a:solidFill>
              <a:schemeClr val="tx1"/>
            </a:solidFill>
            <a:prstDash val="solid"/>
          </a:ln>
        </p:spPr>
        <p:txBody>
          <a:bodyPr/>
          <a:lstStyle/>
          <a:p>
            <a:endParaRPr lang="en-ZM"/>
          </a:p>
        </p:txBody>
      </p:sp>
      <p:sp>
        <p:nvSpPr>
          <p:cNvPr id="13" name="Text 130"/>
          <p:cNvSpPr txBox="1"/>
          <p:nvPr/>
        </p:nvSpPr>
        <p:spPr>
          <a:xfrm>
            <a:off x="640080" y="3657600"/>
            <a:ext cx="3566160" cy="822960"/>
          </a:xfrm>
          <a:prstGeom prst="rect">
            <a:avLst/>
          </a:prstGeom>
          <a:noFill/>
          <a:ln/>
        </p:spPr>
        <p:txBody>
          <a:bodyPr wrap="square" lIns="0" tIns="0" rIns="0" bIns="0" rtlCol="0" anchor="ctr"/>
          <a:lstStyle/>
          <a:p>
            <a:pPr marL="0" indent="0">
              <a:buNone/>
            </a:pPr>
            <a:r>
              <a:rPr lang="en-US" sz="1400" b="1" dirty="0">
                <a:solidFill>
                  <a:schemeClr val="accent1"/>
                </a:solidFill>
              </a:rPr>
              <a:t>Open it in a folder: </a:t>
            </a:r>
            <a:r>
              <a:rPr lang="en-US" sz="1400" dirty="0">
                <a:solidFill>
                  <a:schemeClr val="bg1"/>
                </a:solidFill>
              </a:rPr>
              <a:t>in File Explorer click the address bar, type powershell, press Enter.</a:t>
            </a:r>
            <a:endParaRPr lang="en-US" sz="1400" dirty="0"/>
          </a:p>
        </p:txBody>
      </p:sp>
      <p:graphicFrame>
        <p:nvGraphicFramePr>
          <p:cNvPr id="14" name="Table 131"/>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3429000"/>
        </p:xfrm>
        <a:graphic>
          <a:graphicData uri="http://schemas.openxmlformats.org/drawingml/2006/table">
            <a:tbl>
              <a:tblPr/>
              <a:tblGrid>
                <a:gridCol w="1371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42900">
                <a:tc>
                  <a:txBody>
                    <a:bodyPr/>
                    <a:lstStyle/>
                    <a:p>
                      <a:pPr marL="0" indent="0">
                        <a:buNone/>
                      </a:pPr>
                      <a:r>
                        <a:rPr lang="en-US" sz="1200" b="1" dirty="0">
                          <a:solidFill>
                            <a:schemeClr val="bg1"/>
                          </a:solidFill>
                        </a:rPr>
                        <a:t>Command / key</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Meaning</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pwd</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Show which folder I'm in</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ls</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List what's in this folder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cd name</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Go into a folder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cd ..</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Go up one folder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mkdir name</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Make a new folder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cls</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Clear the screen</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Tab</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Auto-complete names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Repeat earlier commands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42900">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Ctrl + C</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Stop a running command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lIns="0" tIns="0" rIns="0" bIns="0" rtlCol="0" anchor="b"/>
          <a:lstStyle/>
          <a:p>
            <a:pPr marL="0" indent="0">
              <a:buNone/>
            </a:pPr>
            <a:r>
              <a:rPr lang="en-US" sz="6000" b="1" dirty="0">
                <a:solidFill>
                  <a:schemeClr val="accent1"/>
                </a:solidFill>
              </a:rPr>
              <a:t>03</a:t>
            </a: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Running Code</a:t>
            </a:r>
            <a:endParaRPr lang="en-US" sz="4000" dirty="0"/>
          </a:p>
        </p:txBody>
      </p:sp>
      <p:sp>
        <p:nvSpPr>
          <p:cNvPr id="4" name="Text 0"/>
          <p:cNvSpPr>
            <a:spLocks noGrp="1"/>
          </p:cNvSpPr>
          <p:nvPr>
            <p:ph type="body" idx="102" hasCustomPrompt="1"/>
          </p:nvPr>
        </p:nvSpPr>
        <p:spPr>
          <a:xfrm>
            <a:off x="548640" y="2971800"/>
            <a:ext cx="7132320" cy="822960"/>
          </a:xfrm>
          <a:prstGeom prst="rect">
            <a:avLst/>
          </a:prstGeom>
          <a:noFill/>
          <a:ln/>
        </p:spPr>
        <p:txBody>
          <a:bodyPr wrap="square" lIns="0" tIns="0" rIns="0" bIns="0" rtlCol="0" anchor="t"/>
          <a:lstStyle/>
          <a:p>
            <a:pPr marL="0" indent="0">
              <a:buNone/>
            </a:pPr>
            <a:r>
              <a:rPr lang="en-US" sz="1800" dirty="0">
                <a:solidFill>
                  <a:schemeClr val="bg2"/>
                </a:solidFill>
              </a:rPr>
              <a:t>Writing Python files, passing arguments, and installing packages with pip</a:t>
            </a:r>
            <a:endParaRPr lang="en-US" sz="1800" dirty="0"/>
          </a:p>
        </p:txBody>
      </p:sp>
      <p:sp>
        <p:nvSpPr>
          <p:cNvPr id="5" name="Text 0"/>
          <p:cNvSpPr>
            <a:spLocks noGrp="1"/>
          </p:cNvSpPr>
          <p:nvPr>
            <p:ph type="body" idx="103" hasCustomPrompt="1"/>
          </p:nvPr>
        </p:nvSpPr>
        <p:spPr>
          <a:xfrm>
            <a:off x="548640" y="4069080"/>
            <a:ext cx="8046720" cy="365760"/>
          </a:xfrm>
          <a:prstGeom prst="rect">
            <a:avLst/>
          </a:prstGeom>
          <a:noFill/>
          <a:ln/>
        </p:spPr>
        <p:txBody>
          <a:bodyPr wrap="square" lIns="0" tIns="0" rIns="0" bIns="0" rtlCol="0" anchor="t"/>
          <a:lstStyle/>
          <a:p>
            <a:pPr marL="0" indent="0">
              <a:buNone/>
            </a:pPr>
            <a:r>
              <a:rPr lang="en-US" sz="1400" dirty="0">
                <a:solidFill>
                  <a:schemeClr val="accent5"/>
                </a:solidFill>
              </a:rPr>
              <a:t>Parts 8–9 · Scripts · sys.argv · pip · requirements.txt · venv</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800">
        <p14:honeycomb/>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Running Python: Two Ways</a:t>
            </a:r>
            <a:endParaRPr lang="en-US" sz="3200" dirty="0"/>
          </a:p>
        </p:txBody>
      </p:sp>
      <p:sp>
        <p:nvSpPr>
          <p:cNvPr id="3" name="Terminal 224"/>
          <p:cNvSpPr/>
          <p:nvPr/>
        </p:nvSpPr>
        <p:spPr>
          <a:xfrm>
            <a:off x="457200" y="1143000"/>
            <a:ext cx="3931920" cy="1828800"/>
          </a:xfrm>
          <a:prstGeom prst="roundRect">
            <a:avLst>
              <a:gd name="adj" fmla="val 4000"/>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4" name="Dot 225"/>
          <p:cNvSpPr/>
          <p:nvPr/>
        </p:nvSpPr>
        <p:spPr>
          <a:xfrm>
            <a:off x="603504" y="12527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5" name="Dot 226"/>
          <p:cNvSpPr/>
          <p:nvPr/>
        </p:nvSpPr>
        <p:spPr>
          <a:xfrm>
            <a:off x="758952" y="12527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6" name="Dot 227"/>
          <p:cNvSpPr/>
          <p:nvPr/>
        </p:nvSpPr>
        <p:spPr>
          <a:xfrm>
            <a:off x="914400" y="12527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7" name="Text 228"/>
          <p:cNvSpPr txBox="1"/>
          <p:nvPr/>
        </p:nvSpPr>
        <p:spPr>
          <a:xfrm>
            <a:off x="1143000" y="120700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interactive prompt</a:t>
            </a:r>
            <a:endParaRPr lang="en-US" sz="1000" dirty="0"/>
          </a:p>
        </p:txBody>
      </p:sp>
      <p:sp>
        <p:nvSpPr>
          <p:cNvPr id="8" name="Code 229"/>
          <p:cNvSpPr txBox="1"/>
          <p:nvPr/>
        </p:nvSpPr>
        <p:spPr>
          <a:xfrm>
            <a:off x="621792" y="1472184"/>
            <a:ext cx="3657600" cy="140817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python</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&gt;&gt;&gt; 2 + 3</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5</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&gt;&gt;&gt; print("hi")</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hi</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&gt;&gt;&gt; exit()</a:t>
            </a:r>
            <a:endParaRPr lang="en-US" sz="1100" dirty="0"/>
          </a:p>
        </p:txBody>
      </p:sp>
      <p:sp>
        <p:nvSpPr>
          <p:cNvPr id="9" name="Text 230"/>
          <p:cNvSpPr txBox="1"/>
          <p:nvPr/>
        </p:nvSpPr>
        <p:spPr>
          <a:xfrm>
            <a:off x="457200" y="3035808"/>
            <a:ext cx="3931920" cy="320040"/>
          </a:xfrm>
          <a:prstGeom prst="rect">
            <a:avLst/>
          </a:prstGeom>
          <a:noFill/>
          <a:ln/>
        </p:spPr>
        <p:txBody>
          <a:bodyPr wrap="square" lIns="0" tIns="0" rIns="0" bIns="0" rtlCol="0" anchor="t"/>
          <a:lstStyle/>
          <a:p>
            <a:pPr marL="0" indent="0">
              <a:buNone/>
            </a:pPr>
            <a:r>
              <a:rPr lang="en-US" sz="1400" b="1" dirty="0">
                <a:solidFill>
                  <a:schemeClr val="tx1"/>
                </a:solidFill>
              </a:rPr>
              <a:t>Interactive: </a:t>
            </a:r>
            <a:r>
              <a:rPr lang="en-US" sz="1400" dirty="0">
                <a:solidFill>
                  <a:schemeClr val="tx1"/>
                </a:solidFill>
              </a:rPr>
              <a:t>great for quick experiments</a:t>
            </a:r>
            <a:endParaRPr lang="en-US" sz="1400" dirty="0"/>
          </a:p>
        </p:txBody>
      </p:sp>
      <p:sp>
        <p:nvSpPr>
          <p:cNvPr id="10" name="Terminal 231"/>
          <p:cNvSpPr/>
          <p:nvPr/>
        </p:nvSpPr>
        <p:spPr>
          <a:xfrm>
            <a:off x="4754880" y="1143000"/>
            <a:ext cx="3931920" cy="1828800"/>
          </a:xfrm>
          <a:prstGeom prst="roundRect">
            <a:avLst>
              <a:gd name="adj" fmla="val 4000"/>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1" name="Dot 232"/>
          <p:cNvSpPr/>
          <p:nvPr/>
        </p:nvSpPr>
        <p:spPr>
          <a:xfrm>
            <a:off x="4901184" y="12527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2" name="Dot 233"/>
          <p:cNvSpPr/>
          <p:nvPr/>
        </p:nvSpPr>
        <p:spPr>
          <a:xfrm>
            <a:off x="5056632" y="12527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3" name="Dot 234"/>
          <p:cNvSpPr/>
          <p:nvPr/>
        </p:nvSpPr>
        <p:spPr>
          <a:xfrm>
            <a:off x="5212080" y="12527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4" name="Text 235"/>
          <p:cNvSpPr txBox="1"/>
          <p:nvPr/>
        </p:nvSpPr>
        <p:spPr>
          <a:xfrm>
            <a:off x="5440680" y="120700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script file</a:t>
            </a:r>
            <a:endParaRPr lang="en-US" sz="1000" dirty="0"/>
          </a:p>
        </p:txBody>
      </p:sp>
      <p:sp>
        <p:nvSpPr>
          <p:cNvPr id="15" name="Code 236"/>
          <p:cNvSpPr txBox="1"/>
          <p:nvPr/>
        </p:nvSpPr>
        <p:spPr>
          <a:xfrm>
            <a:off x="4919472" y="1472184"/>
            <a:ext cx="3657600" cy="140817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mkdir ~\Downloads\signal\practice</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cd ~\Downloads\signal\practice</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notepad hello.py</a:t>
            </a:r>
            <a:endParaRPr lang="en-US" sz="1100" dirty="0"/>
          </a:p>
          <a:p>
            <a:pPr marL="0" indent="0">
              <a:buNone/>
            </a:pPr>
            <a:r>
              <a:rPr lang="en-US" sz="1100" dirty="0">
                <a:solidFill>
                  <a:schemeClr val="accent5"/>
                </a:solidFill>
                <a:latin typeface="Courier New" pitchFamily="34" charset="0"/>
                <a:ea typeface="Courier New" pitchFamily="34" charset="-122"/>
                <a:cs typeface="Courier New" pitchFamily="34" charset="-120"/>
              </a:rPr>
              <a:t># paste code, save, then:</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python hello.py</a:t>
            </a:r>
            <a:endParaRPr lang="en-US" sz="1100" dirty="0"/>
          </a:p>
          <a:p>
            <a:pPr marL="0" indent="0">
              <a:buNone/>
            </a:pPr>
            <a:r>
              <a:rPr lang="en-US" sz="1100" dirty="0">
                <a:solidFill>
                  <a:schemeClr val="accent3"/>
                </a:solidFill>
                <a:latin typeface="Courier New" pitchFamily="34" charset="0"/>
                <a:ea typeface="Courier New" pitchFamily="34" charset="-122"/>
                <a:cs typeface="Courier New" pitchFamily="34" charset="-120"/>
              </a:rPr>
              <a:t>Hello, Ada! Python is working.</a:t>
            </a:r>
            <a:endParaRPr lang="en-US" sz="1100" dirty="0"/>
          </a:p>
        </p:txBody>
      </p:sp>
      <p:sp>
        <p:nvSpPr>
          <p:cNvPr id="16" name="Text 237"/>
          <p:cNvSpPr txBox="1"/>
          <p:nvPr/>
        </p:nvSpPr>
        <p:spPr>
          <a:xfrm>
            <a:off x="4754880" y="3035808"/>
            <a:ext cx="3931920" cy="320040"/>
          </a:xfrm>
          <a:prstGeom prst="rect">
            <a:avLst/>
          </a:prstGeom>
          <a:noFill/>
          <a:ln/>
        </p:spPr>
        <p:txBody>
          <a:bodyPr wrap="square" lIns="0" tIns="0" rIns="0" bIns="0" rtlCol="0" anchor="t"/>
          <a:lstStyle/>
          <a:p>
            <a:pPr marL="0" indent="0">
              <a:buNone/>
            </a:pPr>
            <a:r>
              <a:rPr lang="en-US" sz="1400" b="1" dirty="0">
                <a:solidFill>
                  <a:schemeClr val="tx1"/>
                </a:solidFill>
              </a:rPr>
              <a:t>Script file: </a:t>
            </a:r>
            <a:r>
              <a:rPr lang="en-US" sz="1400" dirty="0">
                <a:solidFill>
                  <a:schemeClr val="tx1"/>
                </a:solidFill>
              </a:rPr>
              <a:t>for programs you save and re-run</a:t>
            </a:r>
            <a:endParaRPr lang="en-US" sz="1400" dirty="0"/>
          </a:p>
        </p:txBody>
      </p:sp>
      <p:sp>
        <p:nvSpPr>
          <p:cNvPr id="17" name="Card 238"/>
          <p:cNvSpPr/>
          <p:nvPr/>
        </p:nvSpPr>
        <p:spPr>
          <a:xfrm>
            <a:off x="457200" y="3520440"/>
            <a:ext cx="8229600" cy="987552"/>
          </a:xfrm>
          <a:prstGeom prst="roundRect">
            <a:avLst>
              <a:gd name="adj" fmla="val 7407"/>
            </a:avLst>
          </a:prstGeom>
          <a:solidFill>
            <a:schemeClr val="bg2"/>
          </a:solidFill>
          <a:ln w="12700">
            <a:solidFill>
              <a:schemeClr val="bg2"/>
            </a:solidFill>
            <a:prstDash val="solid"/>
          </a:ln>
        </p:spPr>
        <p:txBody>
          <a:bodyPr/>
          <a:lstStyle/>
          <a:p>
            <a:endParaRPr lang="en-ZM"/>
          </a:p>
        </p:txBody>
      </p:sp>
      <p:sp>
        <p:nvSpPr>
          <p:cNvPr id="18" name="Card 239"/>
          <p:cNvSpPr/>
          <p:nvPr/>
        </p:nvSpPr>
        <p:spPr>
          <a:xfrm>
            <a:off x="685800" y="3794760"/>
            <a:ext cx="1188720" cy="438912"/>
          </a:xfrm>
          <a:prstGeom prst="roundRect">
            <a:avLst>
              <a:gd name="adj" fmla="val 16667"/>
            </a:avLst>
          </a:prstGeom>
          <a:solidFill>
            <a:schemeClr val="accent2"/>
          </a:solidFill>
          <a:ln w="12700">
            <a:solidFill>
              <a:schemeClr val="accent2"/>
            </a:solidFill>
            <a:prstDash val="solid"/>
          </a:ln>
        </p:spPr>
        <p:txBody>
          <a:bodyPr/>
          <a:lstStyle/>
          <a:p>
            <a:endParaRPr lang="en-ZM"/>
          </a:p>
        </p:txBody>
      </p:sp>
      <p:sp>
        <p:nvSpPr>
          <p:cNvPr id="19" name="Text 240"/>
          <p:cNvSpPr txBox="1"/>
          <p:nvPr/>
        </p:nvSpPr>
        <p:spPr>
          <a:xfrm>
            <a:off x="685800" y="3794760"/>
            <a:ext cx="1188720"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python</a:t>
            </a:r>
            <a:endParaRPr lang="en-US" sz="1600" dirty="0"/>
          </a:p>
        </p:txBody>
      </p:sp>
      <p:sp>
        <p:nvSpPr>
          <p:cNvPr id="20" name="Card 241"/>
          <p:cNvSpPr/>
          <p:nvPr/>
        </p:nvSpPr>
        <p:spPr>
          <a:xfrm>
            <a:off x="1965960" y="3794760"/>
            <a:ext cx="1463040" cy="438912"/>
          </a:xfrm>
          <a:prstGeom prst="roundRect">
            <a:avLst>
              <a:gd name="adj" fmla="val 16667"/>
            </a:avLst>
          </a:prstGeom>
          <a:solidFill>
            <a:schemeClr val="accent3"/>
          </a:solidFill>
          <a:ln w="12700">
            <a:solidFill>
              <a:schemeClr val="accent3"/>
            </a:solidFill>
            <a:prstDash val="solid"/>
          </a:ln>
        </p:spPr>
        <p:txBody>
          <a:bodyPr/>
          <a:lstStyle/>
          <a:p>
            <a:endParaRPr lang="en-ZM"/>
          </a:p>
        </p:txBody>
      </p:sp>
      <p:sp>
        <p:nvSpPr>
          <p:cNvPr id="21" name="Text 242"/>
          <p:cNvSpPr txBox="1"/>
          <p:nvPr/>
        </p:nvSpPr>
        <p:spPr>
          <a:xfrm>
            <a:off x="1965960" y="3794760"/>
            <a:ext cx="1463040"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hello.py</a:t>
            </a:r>
            <a:endParaRPr lang="en-US" sz="1600" dirty="0"/>
          </a:p>
        </p:txBody>
      </p:sp>
      <p:sp>
        <p:nvSpPr>
          <p:cNvPr id="22" name="Text 243"/>
          <p:cNvSpPr txBox="1"/>
          <p:nvPr/>
        </p:nvSpPr>
        <p:spPr>
          <a:xfrm>
            <a:off x="3703320" y="3611880"/>
            <a:ext cx="4846320" cy="804672"/>
          </a:xfrm>
          <a:prstGeom prst="rect">
            <a:avLst/>
          </a:prstGeom>
          <a:noFill/>
          <a:ln/>
        </p:spPr>
        <p:txBody>
          <a:bodyPr wrap="square" lIns="0" tIns="0" rIns="0" bIns="0" rtlCol="0" anchor="ctr"/>
          <a:lstStyle/>
          <a:p>
            <a:pPr marL="0" indent="0">
              <a:buNone/>
            </a:pPr>
            <a:r>
              <a:rPr lang="en-US" sz="1400" b="1" dirty="0">
                <a:solidFill>
                  <a:schemeClr val="accent2"/>
                </a:solidFill>
              </a:rPr>
              <a:t>python</a:t>
            </a:r>
            <a:r>
              <a:rPr lang="en-US" sz="1400" dirty="0">
                <a:solidFill>
                  <a:schemeClr val="tx1"/>
                </a:solidFill>
              </a:rPr>
              <a:t> = the program (the interpreter)</a:t>
            </a:r>
            <a:endParaRPr lang="en-US" sz="1400" dirty="0"/>
          </a:p>
          <a:p>
            <a:pPr marL="0" indent="0">
              <a:buNone/>
            </a:pPr>
            <a:r>
              <a:rPr lang="en-US" sz="1400" b="1" dirty="0">
                <a:solidFill>
                  <a:schemeClr val="accent3"/>
                </a:solidFill>
              </a:rPr>
              <a:t>hello.py</a:t>
            </a:r>
            <a:r>
              <a:rPr lang="en-US" sz="1400" dirty="0">
                <a:solidFill>
                  <a:schemeClr val="tx1"/>
                </a:solidFill>
              </a:rPr>
              <a:t> = the argument (the file to run)</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left)">
                                      <p:cBhvr>
                                        <p:cTn id="7" dur="350"/>
                                        <p:tgtEl>
                                          <p:spTgt spid="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down)">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down)">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down)">
                                      <p:cBhvr>
                                        <p:cTn id="37" dur="500"/>
                                        <p:tgtEl>
                                          <p:spTgt spid="8">
                                            <p:txEl>
                                              <p:pRg st="5" end="5"/>
                                            </p:txEl>
                                          </p:spTgt>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5">
                                            <p:bg/>
                                          </p:spTgt>
                                        </p:tgtEl>
                                        <p:attrNameLst>
                                          <p:attrName>style.visibility</p:attrName>
                                        </p:attrNameLst>
                                      </p:cBhvr>
                                      <p:to>
                                        <p:strVal val="visible"/>
                                      </p:to>
                                    </p:set>
                                    <p:animEffect transition="in" filter="wipe(left)">
                                      <p:cBhvr>
                                        <p:cTn id="41" dur="350"/>
                                        <p:tgtEl>
                                          <p:spTgt spid="15">
                                            <p:bg/>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5">
                                            <p:txEl>
                                              <p:pRg st="0" end="0"/>
                                            </p:txEl>
                                          </p:spTgt>
                                        </p:tgtEl>
                                        <p:attrNameLst>
                                          <p:attrName>style.visibility</p:attrName>
                                        </p:attrNameLst>
                                      </p:cBhvr>
                                      <p:to>
                                        <p:strVal val="visible"/>
                                      </p:to>
                                    </p:set>
                                    <p:animEffect transition="in" filter="wipe(down)">
                                      <p:cBhvr>
                                        <p:cTn id="46" dur="500"/>
                                        <p:tgtEl>
                                          <p:spTgt spid="1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5">
                                            <p:txEl>
                                              <p:pRg st="1" end="1"/>
                                            </p:txEl>
                                          </p:spTgt>
                                        </p:tgtEl>
                                        <p:attrNameLst>
                                          <p:attrName>style.visibility</p:attrName>
                                        </p:attrNameLst>
                                      </p:cBhvr>
                                      <p:to>
                                        <p:strVal val="visible"/>
                                      </p:to>
                                    </p:set>
                                    <p:animEffect transition="in" filter="wipe(down)">
                                      <p:cBhvr>
                                        <p:cTn id="51" dur="500"/>
                                        <p:tgtEl>
                                          <p:spTgt spid="15">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5">
                                            <p:txEl>
                                              <p:pRg st="2" end="2"/>
                                            </p:txEl>
                                          </p:spTgt>
                                        </p:tgtEl>
                                        <p:attrNameLst>
                                          <p:attrName>style.visibility</p:attrName>
                                        </p:attrNameLst>
                                      </p:cBhvr>
                                      <p:to>
                                        <p:strVal val="visible"/>
                                      </p:to>
                                    </p:set>
                                    <p:animEffect transition="in" filter="wipe(down)">
                                      <p:cBhvr>
                                        <p:cTn id="56" dur="500"/>
                                        <p:tgtEl>
                                          <p:spTgt spid="15">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5">
                                            <p:txEl>
                                              <p:pRg st="3" end="3"/>
                                            </p:txEl>
                                          </p:spTgt>
                                        </p:tgtEl>
                                        <p:attrNameLst>
                                          <p:attrName>style.visibility</p:attrName>
                                        </p:attrNameLst>
                                      </p:cBhvr>
                                      <p:to>
                                        <p:strVal val="visible"/>
                                      </p:to>
                                    </p:set>
                                    <p:animEffect transition="in" filter="wipe(down)">
                                      <p:cBhvr>
                                        <p:cTn id="61" dur="500"/>
                                        <p:tgtEl>
                                          <p:spTgt spid="15">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5">
                                            <p:txEl>
                                              <p:pRg st="4" end="4"/>
                                            </p:txEl>
                                          </p:spTgt>
                                        </p:tgtEl>
                                        <p:attrNameLst>
                                          <p:attrName>style.visibility</p:attrName>
                                        </p:attrNameLst>
                                      </p:cBhvr>
                                      <p:to>
                                        <p:strVal val="visible"/>
                                      </p:to>
                                    </p:set>
                                    <p:animEffect transition="in" filter="wipe(down)">
                                      <p:cBhvr>
                                        <p:cTn id="66" dur="500"/>
                                        <p:tgtEl>
                                          <p:spTgt spid="15">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15">
                                            <p:txEl>
                                              <p:pRg st="5" end="5"/>
                                            </p:txEl>
                                          </p:spTgt>
                                        </p:tgtEl>
                                        <p:attrNameLst>
                                          <p:attrName>style.visibility</p:attrName>
                                        </p:attrNameLst>
                                      </p:cBhvr>
                                      <p:to>
                                        <p:strVal val="visible"/>
                                      </p:to>
                                    </p:set>
                                    <p:animEffect transition="in" filter="wipe(down)">
                                      <p:cBhvr>
                                        <p:cTn id="71"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P spid="15"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Modules and Packages</a:t>
            </a:r>
            <a:endParaRPr lang="en-US" sz="3200" dirty="0"/>
          </a:p>
        </p:txBody>
      </p:sp>
      <p:sp>
        <p:nvSpPr>
          <p:cNvPr id="38"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
        <p:nvSpPr>
          <p:cNvPr id="3" name="Card 1"/>
          <p:cNvSpPr/>
          <p:nvPr/>
        </p:nvSpPr>
        <p:spPr>
          <a:xfrm>
            <a:off x="457200" y="1097280"/>
            <a:ext cx="393192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Card 2"/>
          <p:cNvSpPr/>
          <p:nvPr/>
        </p:nvSpPr>
        <p:spPr>
          <a:xfrm>
            <a:off x="594360" y="1234440"/>
            <a:ext cx="731520" cy="384048"/>
          </a:xfrm>
          <a:prstGeom prst="roundRect">
            <a:avLst>
              <a:gd name="adj" fmla="val 19048"/>
            </a:avLst>
          </a:prstGeom>
          <a:solidFill>
            <a:schemeClr val="tx1"/>
          </a:solidFill>
          <a:ln w="12700">
            <a:solidFill>
              <a:schemeClr val="tx1"/>
            </a:solidFill>
            <a:prstDash val="solid"/>
          </a:ln>
        </p:spPr>
        <p:txBody>
          <a:bodyPr/>
          <a:lstStyle/>
          <a:p>
            <a:endParaRPr lang="en-ZM"/>
          </a:p>
        </p:txBody>
      </p:sp>
      <p:sp>
        <p:nvSpPr>
          <p:cNvPr id="5" name="Text 3"/>
          <p:cNvSpPr txBox="1"/>
          <p:nvPr/>
        </p:nvSpPr>
        <p:spPr>
          <a:xfrm>
            <a:off x="594360" y="1234440"/>
            <a:ext cx="731520" cy="384048"/>
          </a:xfrm>
          <a:prstGeom prst="rect">
            <a:avLst/>
          </a:prstGeom>
          <a:noFill/>
          <a:ln/>
        </p:spPr>
        <p:txBody>
          <a:bodyPr wrap="square" lIns="0" tIns="0" rIns="0" bIns="0" rtlCol="0" anchor="ctr"/>
          <a:lstStyle/>
          <a:p>
            <a:pPr marL="0" indent="0" algn="ctr">
              <a:buNone/>
            </a:pPr>
            <a:r>
              <a:rPr lang="en-US" sz="1400" b="1" dirty="0">
                <a:solidFill>
                  <a:schemeClr val="accent1"/>
                </a:solidFill>
                <a:latin typeface="Courier New" pitchFamily="34" charset="0"/>
                <a:ea typeface="Courier New" pitchFamily="34" charset="-122"/>
                <a:cs typeface="Courier New" pitchFamily="34" charset="-120"/>
              </a:rPr>
              <a:t>.py</a:t>
            </a:r>
            <a:endParaRPr lang="en-US" sz="1400" dirty="0"/>
          </a:p>
        </p:txBody>
      </p:sp>
      <p:sp>
        <p:nvSpPr>
          <p:cNvPr id="6" name="Text 4"/>
          <p:cNvSpPr txBox="1"/>
          <p:nvPr/>
        </p:nvSpPr>
        <p:spPr>
          <a:xfrm>
            <a:off x="1463040" y="1234440"/>
            <a:ext cx="2834640" cy="384048"/>
          </a:xfrm>
          <a:prstGeom prst="rect">
            <a:avLst/>
          </a:prstGeom>
          <a:noFill/>
          <a:ln/>
        </p:spPr>
        <p:txBody>
          <a:bodyPr wrap="square" lIns="0" tIns="0" rIns="0" bIns="0" rtlCol="0" anchor="ctr"/>
          <a:lstStyle/>
          <a:p>
            <a:pPr marL="0" indent="0">
              <a:buNone/>
            </a:pPr>
            <a:r>
              <a:rPr lang="en-US" sz="1700" b="1" dirty="0">
                <a:solidFill>
                  <a:schemeClr val="accent2"/>
                </a:solidFill>
              </a:rPr>
              <a:t>Module</a:t>
            </a:r>
            <a:endParaRPr lang="en-US" sz="1700" dirty="0"/>
          </a:p>
        </p:txBody>
      </p:sp>
      <p:sp>
        <p:nvSpPr>
          <p:cNvPr id="7" name="Text 5"/>
          <p:cNvSpPr txBox="1"/>
          <p:nvPr/>
        </p:nvSpPr>
        <p:spPr>
          <a:xfrm>
            <a:off x="594360" y="1645920"/>
            <a:ext cx="3657600" cy="347472"/>
          </a:xfrm>
          <a:prstGeom prst="rect">
            <a:avLst/>
          </a:prstGeom>
          <a:noFill/>
          <a:ln/>
        </p:spPr>
        <p:txBody>
          <a:bodyPr wrap="square" lIns="0" tIns="0" rIns="0" bIns="0" rtlCol="0" anchor="t"/>
          <a:lstStyle/>
          <a:p>
            <a:pPr marL="0" indent="0">
              <a:buNone/>
            </a:pPr>
            <a:r>
              <a:rPr lang="en-US" sz="1200" dirty="0">
                <a:solidFill>
                  <a:schemeClr val="tx1"/>
                </a:solidFill>
              </a:rPr>
              <a:t>One .py file of reusable code, used with import.</a:t>
            </a:r>
            <a:endParaRPr lang="en-US" sz="1200" dirty="0"/>
          </a:p>
          <a:p>
            <a:pPr marL="0" indent="0">
              <a:buNone/>
            </a:pPr>
            <a:r>
              <a:rPr lang="en-US" sz="1200" i="1" dirty="0">
                <a:solidFill>
                  <a:schemeClr val="tx2"/>
                </a:solidFill>
              </a:rPr>
              <a:t>Built in: math, random, sys</a:t>
            </a:r>
            <a:endParaRPr lang="en-US" sz="1200" dirty="0"/>
          </a:p>
        </p:txBody>
      </p:sp>
      <p:sp>
        <p:nvSpPr>
          <p:cNvPr id="8" name="Card 6"/>
          <p:cNvSpPr/>
          <p:nvPr/>
        </p:nvSpPr>
        <p:spPr>
          <a:xfrm>
            <a:off x="457200" y="2103120"/>
            <a:ext cx="393192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9" name="Card 7"/>
          <p:cNvSpPr/>
          <p:nvPr/>
        </p:nvSpPr>
        <p:spPr>
          <a:xfrm>
            <a:off x="594360" y="2240280"/>
            <a:ext cx="731520" cy="384048"/>
          </a:xfrm>
          <a:prstGeom prst="roundRect">
            <a:avLst>
              <a:gd name="adj" fmla="val 19048"/>
            </a:avLst>
          </a:prstGeom>
          <a:solidFill>
            <a:schemeClr val="tx1"/>
          </a:solidFill>
          <a:ln w="12700">
            <a:solidFill>
              <a:schemeClr val="tx1"/>
            </a:solidFill>
            <a:prstDash val="solid"/>
          </a:ln>
        </p:spPr>
        <p:txBody>
          <a:bodyPr/>
          <a:lstStyle/>
          <a:p>
            <a:endParaRPr lang="en-ZM"/>
          </a:p>
        </p:txBody>
      </p:sp>
      <p:sp>
        <p:nvSpPr>
          <p:cNvPr id="10" name="Text 8"/>
          <p:cNvSpPr txBox="1"/>
          <p:nvPr/>
        </p:nvSpPr>
        <p:spPr>
          <a:xfrm>
            <a:off x="594360" y="2240280"/>
            <a:ext cx="731520" cy="384048"/>
          </a:xfrm>
          <a:prstGeom prst="rect">
            <a:avLst/>
          </a:prstGeom>
          <a:noFill/>
          <a:ln/>
        </p:spPr>
        <p:txBody>
          <a:bodyPr wrap="square" lIns="0" tIns="0" rIns="0" bIns="0" rtlCol="0" anchor="ctr"/>
          <a:lstStyle/>
          <a:p>
            <a:pPr marL="0" indent="0" algn="ctr">
              <a:buNone/>
            </a:pPr>
            <a:r>
              <a:rPr lang="en-US" sz="1400" b="1" dirty="0">
                <a:solidFill>
                  <a:schemeClr val="accent1"/>
                </a:solidFill>
                <a:latin typeface="Courier New" pitchFamily="34" charset="0"/>
                <a:ea typeface="Courier New" pitchFamily="34" charset="-122"/>
                <a:cs typeface="Courier New" pitchFamily="34" charset="-120"/>
              </a:rPr>
              <a:t>dir/</a:t>
            </a:r>
            <a:endParaRPr lang="en-US" sz="1400" dirty="0"/>
          </a:p>
        </p:txBody>
      </p:sp>
      <p:sp>
        <p:nvSpPr>
          <p:cNvPr id="11" name="Text 9"/>
          <p:cNvSpPr txBox="1"/>
          <p:nvPr/>
        </p:nvSpPr>
        <p:spPr>
          <a:xfrm>
            <a:off x="1463040" y="2240280"/>
            <a:ext cx="2834640" cy="384048"/>
          </a:xfrm>
          <a:prstGeom prst="rect">
            <a:avLst/>
          </a:prstGeom>
          <a:noFill/>
          <a:ln/>
        </p:spPr>
        <p:txBody>
          <a:bodyPr wrap="square" lIns="0" tIns="0" rIns="0" bIns="0" rtlCol="0" anchor="ctr"/>
          <a:lstStyle/>
          <a:p>
            <a:pPr marL="0" indent="0">
              <a:buNone/>
            </a:pPr>
            <a:r>
              <a:rPr lang="en-US" sz="1700" b="1" dirty="0">
                <a:solidFill>
                  <a:schemeClr val="accent2"/>
                </a:solidFill>
              </a:rPr>
              <a:t>Package</a:t>
            </a:r>
            <a:endParaRPr lang="en-US" sz="1700" dirty="0"/>
          </a:p>
        </p:txBody>
      </p:sp>
      <p:sp>
        <p:nvSpPr>
          <p:cNvPr id="12" name="Text 10"/>
          <p:cNvSpPr txBox="1"/>
          <p:nvPr/>
        </p:nvSpPr>
        <p:spPr>
          <a:xfrm>
            <a:off x="594360" y="2651760"/>
            <a:ext cx="3657600" cy="347472"/>
          </a:xfrm>
          <a:prstGeom prst="rect">
            <a:avLst/>
          </a:prstGeom>
          <a:noFill/>
          <a:ln/>
        </p:spPr>
        <p:txBody>
          <a:bodyPr wrap="square" lIns="0" tIns="0" rIns="0" bIns="0" rtlCol="0" anchor="t"/>
          <a:lstStyle/>
          <a:p>
            <a:pPr marL="0" indent="0">
              <a:buNone/>
            </a:pPr>
            <a:r>
              <a:rPr lang="en-US" sz="1200" dirty="0">
                <a:solidFill>
                  <a:schemeClr val="tx1"/>
                </a:solidFill>
              </a:rPr>
              <a:t>A folder of modules, marked by an __init__.py file.</a:t>
            </a:r>
            <a:endParaRPr lang="en-US" sz="1200" dirty="0"/>
          </a:p>
          <a:p>
            <a:pPr marL="0" indent="0">
              <a:buNone/>
            </a:pPr>
            <a:r>
              <a:rPr lang="en-US" sz="1200" i="1" dirty="0">
                <a:solidFill>
                  <a:schemeClr val="tx2"/>
                </a:solidFill>
              </a:rPr>
              <a:t>Installed with pip: requests, cryptography</a:t>
            </a:r>
            <a:endParaRPr lang="en-US" sz="1200" dirty="0"/>
          </a:p>
        </p:txBody>
      </p:sp>
      <p:sp>
        <p:nvSpPr>
          <p:cNvPr id="13" name="Terminal 11"/>
          <p:cNvSpPr/>
          <p:nvPr/>
        </p:nvSpPr>
        <p:spPr>
          <a:xfrm>
            <a:off x="457200" y="3127248"/>
            <a:ext cx="3931920" cy="1408176"/>
          </a:xfrm>
          <a:prstGeom prst="roundRect">
            <a:avLst>
              <a:gd name="adj" fmla="val 5195"/>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4" name="Dot 12"/>
          <p:cNvSpPr/>
          <p:nvPr/>
        </p:nvSpPr>
        <p:spPr>
          <a:xfrm>
            <a:off x="603504" y="3236976"/>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5" name="Dot 13"/>
          <p:cNvSpPr/>
          <p:nvPr/>
        </p:nvSpPr>
        <p:spPr>
          <a:xfrm>
            <a:off x="758952" y="3236976"/>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6" name="Dot 14"/>
          <p:cNvSpPr/>
          <p:nvPr/>
        </p:nvSpPr>
        <p:spPr>
          <a:xfrm>
            <a:off x="914400" y="3236976"/>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7" name="Text 15"/>
          <p:cNvSpPr txBox="1"/>
          <p:nvPr/>
        </p:nvSpPr>
        <p:spPr>
          <a:xfrm>
            <a:off x="1143000" y="3191256"/>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how to import and use</a:t>
            </a:r>
            <a:endParaRPr lang="en-US" sz="1000" dirty="0"/>
          </a:p>
        </p:txBody>
      </p:sp>
      <p:sp>
        <p:nvSpPr>
          <p:cNvPr id="18" name="Code 16"/>
          <p:cNvSpPr txBox="1"/>
          <p:nvPr/>
        </p:nvSpPr>
        <p:spPr>
          <a:xfrm>
            <a:off x="621792" y="3456432"/>
            <a:ext cx="3657600" cy="987552"/>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 way 1: import the whole module</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import math</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math.sqrt(16)          # 4.0</a:t>
            </a:r>
            <a:endParaRPr lang="en-US" sz="1100" dirty="0"/>
          </a:p>
          <a:p>
            <a:pPr marL="0" indent="0">
              <a:buNone/>
            </a:pPr>
            <a:r>
              <a:rPr lang="en-US" sz="1100" dirty="0">
                <a:solidFill>
                  <a:schemeClr val="accent5"/>
                </a:solidFill>
                <a:latin typeface="Courier New" pitchFamily="34" charset="0"/>
                <a:ea typeface="Courier New" pitchFamily="34" charset="-122"/>
                <a:cs typeface="Courier New" pitchFamily="34" charset="-120"/>
              </a:rPr>
              <a:t># way 2: import just one thing</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from mytools import add</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add(5, 3)              # 8</a:t>
            </a:r>
            <a:endParaRPr lang="en-US" sz="1100" dirty="0"/>
          </a:p>
        </p:txBody>
      </p:sp>
      <p:sp>
        <p:nvSpPr>
          <p:cNvPr id="19" name="Text 17"/>
          <p:cNvSpPr txBox="1"/>
          <p:nvPr/>
        </p:nvSpPr>
        <p:spPr>
          <a:xfrm>
            <a:off x="4754880" y="109728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Make your own: 2 files in the same folder</a:t>
            </a:r>
            <a:endParaRPr lang="en-US" sz="1500" dirty="0"/>
          </a:p>
        </p:txBody>
      </p:sp>
      <p:sp>
        <p:nvSpPr>
          <p:cNvPr id="20" name="Terminal 18"/>
          <p:cNvSpPr/>
          <p:nvPr/>
        </p:nvSpPr>
        <p:spPr>
          <a:xfrm>
            <a:off x="4754880" y="1463040"/>
            <a:ext cx="3931920" cy="987552"/>
          </a:xfrm>
          <a:prstGeom prst="roundRect">
            <a:avLst>
              <a:gd name="adj" fmla="val 740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1" name="Dot 19"/>
          <p:cNvSpPr/>
          <p:nvPr/>
        </p:nvSpPr>
        <p:spPr>
          <a:xfrm>
            <a:off x="4901184" y="157276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2" name="Dot 20"/>
          <p:cNvSpPr/>
          <p:nvPr/>
        </p:nvSpPr>
        <p:spPr>
          <a:xfrm>
            <a:off x="5056632" y="157276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3" name="Dot 21"/>
          <p:cNvSpPr/>
          <p:nvPr/>
        </p:nvSpPr>
        <p:spPr>
          <a:xfrm>
            <a:off x="5212080" y="157276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4" name="Text 22"/>
          <p:cNvSpPr txBox="1"/>
          <p:nvPr/>
        </p:nvSpPr>
        <p:spPr>
          <a:xfrm>
            <a:off x="5440680" y="152704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1 · mytools.py (your module)</a:t>
            </a:r>
            <a:endParaRPr lang="en-US" sz="1000" dirty="0"/>
          </a:p>
        </p:txBody>
      </p:sp>
      <p:sp>
        <p:nvSpPr>
          <p:cNvPr id="25" name="Code 23"/>
          <p:cNvSpPr txBox="1"/>
          <p:nvPr/>
        </p:nvSpPr>
        <p:spPr>
          <a:xfrm>
            <a:off x="4919472" y="1792224"/>
            <a:ext cx="3657600" cy="566928"/>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def add(a, b):</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return a + b</a:t>
            </a:r>
            <a:endParaRPr lang="en-US" sz="1200" dirty="0"/>
          </a:p>
        </p:txBody>
      </p:sp>
      <p:sp>
        <p:nvSpPr>
          <p:cNvPr id="26" name="Terminal 24"/>
          <p:cNvSpPr/>
          <p:nvPr/>
        </p:nvSpPr>
        <p:spPr>
          <a:xfrm>
            <a:off x="4754880" y="2560320"/>
            <a:ext cx="3931920" cy="987552"/>
          </a:xfrm>
          <a:prstGeom prst="roundRect">
            <a:avLst>
              <a:gd name="adj" fmla="val 740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7" name="Dot 25"/>
          <p:cNvSpPr/>
          <p:nvPr/>
        </p:nvSpPr>
        <p:spPr>
          <a:xfrm>
            <a:off x="4901184" y="267004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8" name="Dot 26"/>
          <p:cNvSpPr/>
          <p:nvPr/>
        </p:nvSpPr>
        <p:spPr>
          <a:xfrm>
            <a:off x="5056632" y="267004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9" name="Dot 27"/>
          <p:cNvSpPr/>
          <p:nvPr/>
        </p:nvSpPr>
        <p:spPr>
          <a:xfrm>
            <a:off x="5212080" y="267004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30" name="Text 28"/>
          <p:cNvSpPr txBox="1"/>
          <p:nvPr/>
        </p:nvSpPr>
        <p:spPr>
          <a:xfrm>
            <a:off x="5440680" y="262432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2 · main.py (uses it)</a:t>
            </a:r>
            <a:endParaRPr lang="en-US" sz="1000" dirty="0"/>
          </a:p>
        </p:txBody>
      </p:sp>
      <p:sp>
        <p:nvSpPr>
          <p:cNvPr id="31" name="Code 29"/>
          <p:cNvSpPr txBox="1"/>
          <p:nvPr/>
        </p:nvSpPr>
        <p:spPr>
          <a:xfrm>
            <a:off x="4919472" y="2889504"/>
            <a:ext cx="3657600" cy="566928"/>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import mytools</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print(mytools.add(5, 3))</a:t>
            </a:r>
            <a:endParaRPr lang="en-US" sz="1200" dirty="0"/>
          </a:p>
        </p:txBody>
      </p:sp>
      <p:sp>
        <p:nvSpPr>
          <p:cNvPr id="32" name="Terminal 30"/>
          <p:cNvSpPr/>
          <p:nvPr/>
        </p:nvSpPr>
        <p:spPr>
          <a:xfrm>
            <a:off x="4754880" y="3657600"/>
            <a:ext cx="3931920" cy="877824"/>
          </a:xfrm>
          <a:prstGeom prst="roundRect">
            <a:avLst>
              <a:gd name="adj" fmla="val 8333"/>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33" name="Dot 31"/>
          <p:cNvSpPr/>
          <p:nvPr/>
        </p:nvSpPr>
        <p:spPr>
          <a:xfrm>
            <a:off x="4901184" y="37673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34" name="Dot 32"/>
          <p:cNvSpPr/>
          <p:nvPr/>
        </p:nvSpPr>
        <p:spPr>
          <a:xfrm>
            <a:off x="5056632" y="37673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35" name="Dot 33"/>
          <p:cNvSpPr/>
          <p:nvPr/>
        </p:nvSpPr>
        <p:spPr>
          <a:xfrm>
            <a:off x="5212080" y="37673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36" name="Text 34"/>
          <p:cNvSpPr txBox="1"/>
          <p:nvPr/>
        </p:nvSpPr>
        <p:spPr>
          <a:xfrm>
            <a:off x="5440680" y="372160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3 · run it</a:t>
            </a:r>
            <a:endParaRPr lang="en-US" sz="1000" dirty="0"/>
          </a:p>
        </p:txBody>
      </p:sp>
      <p:sp>
        <p:nvSpPr>
          <p:cNvPr id="37" name="Code 35"/>
          <p:cNvSpPr txBox="1"/>
          <p:nvPr/>
        </p:nvSpPr>
        <p:spPr>
          <a:xfrm>
            <a:off x="4919472" y="3986784"/>
            <a:ext cx="3657600" cy="45720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PS&gt; python main.py</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8</a:t>
            </a:r>
            <a:endParaRPr lang="en-US" sz="1200" dirty="0"/>
          </a:p>
        </p:txBody>
      </p:sp>
    </p:spTree>
    <p:extLst>
      <p:ext uri="{BB962C8B-B14F-4D97-AF65-F5344CB8AC3E}">
        <p14:creationId xmlns:p14="http://schemas.microsoft.com/office/powerpoint/2010/main" val="4217981298"/>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bg/>
                                          </p:spTgt>
                                        </p:tgtEl>
                                        <p:attrNameLst>
                                          <p:attrName>style.visibility</p:attrName>
                                        </p:attrNameLst>
                                      </p:cBhvr>
                                      <p:to>
                                        <p:strVal val="visible"/>
                                      </p:to>
                                    </p:set>
                                    <p:animEffect transition="in" filter="wipe(left)">
                                      <p:cBhvr>
                                        <p:cTn id="7" dur="350"/>
                                        <p:tgtEl>
                                          <p:spTgt spid="1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down)">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wipe(down)">
                                      <p:cBhvr>
                                        <p:cTn id="17" dur="500"/>
                                        <p:tgtEl>
                                          <p:spTgt spid="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xEl>
                                              <p:pRg st="2" end="2"/>
                                            </p:txEl>
                                          </p:spTgt>
                                        </p:tgtEl>
                                        <p:attrNameLst>
                                          <p:attrName>style.visibility</p:attrName>
                                        </p:attrNameLst>
                                      </p:cBhvr>
                                      <p:to>
                                        <p:strVal val="visible"/>
                                      </p:to>
                                    </p:set>
                                    <p:animEffect transition="in" filter="wipe(down)">
                                      <p:cBhvr>
                                        <p:cTn id="22" dur="500"/>
                                        <p:tgtEl>
                                          <p:spTgt spid="1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8">
                                            <p:txEl>
                                              <p:pRg st="3" end="3"/>
                                            </p:txEl>
                                          </p:spTgt>
                                        </p:tgtEl>
                                        <p:attrNameLst>
                                          <p:attrName>style.visibility</p:attrName>
                                        </p:attrNameLst>
                                      </p:cBhvr>
                                      <p:to>
                                        <p:strVal val="visible"/>
                                      </p:to>
                                    </p:set>
                                    <p:animEffect transition="in" filter="wipe(down)">
                                      <p:cBhvr>
                                        <p:cTn id="27" dur="500"/>
                                        <p:tgtEl>
                                          <p:spTgt spid="1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8">
                                            <p:txEl>
                                              <p:pRg st="4" end="4"/>
                                            </p:txEl>
                                          </p:spTgt>
                                        </p:tgtEl>
                                        <p:attrNameLst>
                                          <p:attrName>style.visibility</p:attrName>
                                        </p:attrNameLst>
                                      </p:cBhvr>
                                      <p:to>
                                        <p:strVal val="visible"/>
                                      </p:to>
                                    </p:set>
                                    <p:animEffect transition="in" filter="wipe(down)">
                                      <p:cBhvr>
                                        <p:cTn id="32" dur="500"/>
                                        <p:tgtEl>
                                          <p:spTgt spid="1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8">
                                            <p:txEl>
                                              <p:pRg st="5" end="5"/>
                                            </p:txEl>
                                          </p:spTgt>
                                        </p:tgtEl>
                                        <p:attrNameLst>
                                          <p:attrName>style.visibility</p:attrName>
                                        </p:attrNameLst>
                                      </p:cBhvr>
                                      <p:to>
                                        <p:strVal val="visible"/>
                                      </p:to>
                                    </p:set>
                                    <p:animEffect transition="in" filter="wipe(down)">
                                      <p:cBhvr>
                                        <p:cTn id="37" dur="500"/>
                                        <p:tgtEl>
                                          <p:spTgt spid="18">
                                            <p:txEl>
                                              <p:pRg st="5" end="5"/>
                                            </p:txEl>
                                          </p:spTgt>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5">
                                            <p:bg/>
                                          </p:spTgt>
                                        </p:tgtEl>
                                        <p:attrNameLst>
                                          <p:attrName>style.visibility</p:attrName>
                                        </p:attrNameLst>
                                      </p:cBhvr>
                                      <p:to>
                                        <p:strVal val="visible"/>
                                      </p:to>
                                    </p:set>
                                    <p:animEffect transition="in" filter="wipe(left)">
                                      <p:cBhvr>
                                        <p:cTn id="41" dur="350"/>
                                        <p:tgtEl>
                                          <p:spTgt spid="25">
                                            <p:bg/>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
                                            <p:txEl>
                                              <p:pRg st="0" end="0"/>
                                            </p:txEl>
                                          </p:spTgt>
                                        </p:tgtEl>
                                        <p:attrNameLst>
                                          <p:attrName>style.visibility</p:attrName>
                                        </p:attrNameLst>
                                      </p:cBhvr>
                                      <p:to>
                                        <p:strVal val="visible"/>
                                      </p:to>
                                    </p:set>
                                    <p:animEffect transition="in" filter="wipe(down)">
                                      <p:cBhvr>
                                        <p:cTn id="46" dur="500"/>
                                        <p:tgtEl>
                                          <p:spTgt spid="2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5">
                                            <p:txEl>
                                              <p:pRg st="1" end="1"/>
                                            </p:txEl>
                                          </p:spTgt>
                                        </p:tgtEl>
                                        <p:attrNameLst>
                                          <p:attrName>style.visibility</p:attrName>
                                        </p:attrNameLst>
                                      </p:cBhvr>
                                      <p:to>
                                        <p:strVal val="visible"/>
                                      </p:to>
                                    </p:set>
                                    <p:animEffect transition="in" filter="wipe(down)">
                                      <p:cBhvr>
                                        <p:cTn id="51" dur="500"/>
                                        <p:tgtEl>
                                          <p:spTgt spid="25">
                                            <p:txEl>
                                              <p:pRg st="1" end="1"/>
                                            </p:txEl>
                                          </p:spTgt>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31">
                                            <p:bg/>
                                          </p:spTgt>
                                        </p:tgtEl>
                                        <p:attrNameLst>
                                          <p:attrName>style.visibility</p:attrName>
                                        </p:attrNameLst>
                                      </p:cBhvr>
                                      <p:to>
                                        <p:strVal val="visible"/>
                                      </p:to>
                                    </p:set>
                                    <p:animEffect transition="in" filter="wipe(left)">
                                      <p:cBhvr>
                                        <p:cTn id="55" dur="350"/>
                                        <p:tgtEl>
                                          <p:spTgt spid="31">
                                            <p:bg/>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1">
                                            <p:txEl>
                                              <p:pRg st="0" end="0"/>
                                            </p:txEl>
                                          </p:spTgt>
                                        </p:tgtEl>
                                        <p:attrNameLst>
                                          <p:attrName>style.visibility</p:attrName>
                                        </p:attrNameLst>
                                      </p:cBhvr>
                                      <p:to>
                                        <p:strVal val="visible"/>
                                      </p:to>
                                    </p:set>
                                    <p:animEffect transition="in" filter="wipe(down)">
                                      <p:cBhvr>
                                        <p:cTn id="60" dur="500"/>
                                        <p:tgtEl>
                                          <p:spTgt spid="31">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1">
                                            <p:txEl>
                                              <p:pRg st="1" end="1"/>
                                            </p:txEl>
                                          </p:spTgt>
                                        </p:tgtEl>
                                        <p:attrNameLst>
                                          <p:attrName>style.visibility</p:attrName>
                                        </p:attrNameLst>
                                      </p:cBhvr>
                                      <p:to>
                                        <p:strVal val="visible"/>
                                      </p:to>
                                    </p:set>
                                    <p:animEffect transition="in" filter="wipe(down)">
                                      <p:cBhvr>
                                        <p:cTn id="65" dur="500"/>
                                        <p:tgtEl>
                                          <p:spTgt spid="31">
                                            <p:txEl>
                                              <p:pRg st="1" end="1"/>
                                            </p:txEl>
                                          </p:spTgt>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7">
                                            <p:bg/>
                                          </p:spTgt>
                                        </p:tgtEl>
                                        <p:attrNameLst>
                                          <p:attrName>style.visibility</p:attrName>
                                        </p:attrNameLst>
                                      </p:cBhvr>
                                      <p:to>
                                        <p:strVal val="visible"/>
                                      </p:to>
                                    </p:set>
                                    <p:animEffect transition="in" filter="wipe(left)">
                                      <p:cBhvr>
                                        <p:cTn id="69" dur="350"/>
                                        <p:tgtEl>
                                          <p:spTgt spid="37">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7">
                                            <p:txEl>
                                              <p:pRg st="0" end="0"/>
                                            </p:txEl>
                                          </p:spTgt>
                                        </p:tgtEl>
                                        <p:attrNameLst>
                                          <p:attrName>style.visibility</p:attrName>
                                        </p:attrNameLst>
                                      </p:cBhvr>
                                      <p:to>
                                        <p:strVal val="visible"/>
                                      </p:to>
                                    </p:set>
                                    <p:animEffect transition="in" filter="wipe(down)">
                                      <p:cBhvr>
                                        <p:cTn id="74" dur="500"/>
                                        <p:tgtEl>
                                          <p:spTgt spid="37">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37">
                                            <p:txEl>
                                              <p:pRg st="1" end="1"/>
                                            </p:txEl>
                                          </p:spTgt>
                                        </p:tgtEl>
                                        <p:attrNameLst>
                                          <p:attrName>style.visibility</p:attrName>
                                        </p:attrNameLst>
                                      </p:cBhvr>
                                      <p:to>
                                        <p:strVal val="visible"/>
                                      </p:to>
                                    </p:set>
                                    <p:animEffect transition="in" filter="wipe(down)">
                                      <p:cBhvr>
                                        <p:cTn id="79" dur="500"/>
                                        <p:tgtEl>
                                          <p:spTgt spid="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nimBg="1"/>
      <p:bldP spid="25" grpId="0" build="p" animBg="1"/>
      <p:bldP spid="31" grpId="0" build="p" animBg="1"/>
      <p:bldP spid="37"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Passing Arguments to a Script</a:t>
            </a:r>
            <a:endParaRPr lang="en-US" sz="3200" dirty="0"/>
          </a:p>
        </p:txBody>
      </p:sp>
      <p:sp>
        <p:nvSpPr>
          <p:cNvPr id="37"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
        <p:nvSpPr>
          <p:cNvPr id="3" name="Card 1"/>
          <p:cNvSpPr/>
          <p:nvPr/>
        </p:nvSpPr>
        <p:spPr>
          <a:xfrm>
            <a:off x="457200" y="1051560"/>
            <a:ext cx="8229600" cy="685800"/>
          </a:xfrm>
          <a:prstGeom prst="roundRect">
            <a:avLst>
              <a:gd name="adj" fmla="val 10667"/>
            </a:avLst>
          </a:prstGeom>
          <a:solidFill>
            <a:schemeClr val="tx1"/>
          </a:solidFill>
          <a:ln w="12700">
            <a:solidFill>
              <a:schemeClr val="tx1"/>
            </a:solidFill>
            <a:prstDash val="solid"/>
          </a:ln>
        </p:spPr>
        <p:txBody>
          <a:bodyPr/>
          <a:lstStyle/>
          <a:p>
            <a:endParaRPr lang="en-ZM"/>
          </a:p>
        </p:txBody>
      </p:sp>
      <p:sp>
        <p:nvSpPr>
          <p:cNvPr id="4" name="Text 2"/>
          <p:cNvSpPr txBox="1"/>
          <p:nvPr/>
        </p:nvSpPr>
        <p:spPr>
          <a:xfrm>
            <a:off x="685800" y="1051560"/>
            <a:ext cx="7772400" cy="685800"/>
          </a:xfrm>
          <a:prstGeom prst="rect">
            <a:avLst/>
          </a:prstGeom>
          <a:noFill/>
          <a:ln/>
        </p:spPr>
        <p:txBody>
          <a:bodyPr wrap="square" lIns="0" tIns="0" rIns="0" bIns="0" rtlCol="0" anchor="ctr"/>
          <a:lstStyle/>
          <a:p>
            <a:pPr marL="0" indent="0">
              <a:buNone/>
            </a:pPr>
            <a:r>
              <a:rPr lang="en-US" sz="1400" b="1" dirty="0">
                <a:solidFill>
                  <a:schemeClr val="accent1"/>
                </a:solidFill>
              </a:rPr>
              <a:t>Arguments </a:t>
            </a:r>
            <a:r>
              <a:rPr lang="en-US" sz="1400" dirty="0">
                <a:solidFill>
                  <a:schemeClr val="bg1"/>
                </a:solidFill>
              </a:rPr>
              <a:t>are extra words you type after the file name. Python puts them in a list called sys.argv, so your program can use different inputs without editing the code.</a:t>
            </a:r>
            <a:endParaRPr lang="en-US" sz="1400" dirty="0"/>
          </a:p>
        </p:txBody>
      </p:sp>
      <p:sp>
        <p:nvSpPr>
          <p:cNvPr id="5" name="Terminal 3"/>
          <p:cNvSpPr/>
          <p:nvPr/>
        </p:nvSpPr>
        <p:spPr>
          <a:xfrm>
            <a:off x="457200" y="1874520"/>
            <a:ext cx="3931920" cy="1188720"/>
          </a:xfrm>
          <a:prstGeom prst="roundRect">
            <a:avLst>
              <a:gd name="adj" fmla="val 6154"/>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6" name="Dot 4"/>
          <p:cNvSpPr/>
          <p:nvPr/>
        </p:nvSpPr>
        <p:spPr>
          <a:xfrm>
            <a:off x="603504" y="198424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7" name="Dot 5"/>
          <p:cNvSpPr/>
          <p:nvPr/>
        </p:nvSpPr>
        <p:spPr>
          <a:xfrm>
            <a:off x="758952" y="198424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8" name="Dot 6"/>
          <p:cNvSpPr/>
          <p:nvPr/>
        </p:nvSpPr>
        <p:spPr>
          <a:xfrm>
            <a:off x="914400" y="198424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9" name="Text 7"/>
          <p:cNvSpPr txBox="1"/>
          <p:nvPr/>
        </p:nvSpPr>
        <p:spPr>
          <a:xfrm>
            <a:off x="1143000" y="193852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greet.py</a:t>
            </a:r>
            <a:endParaRPr lang="en-US" sz="1000" dirty="0"/>
          </a:p>
        </p:txBody>
      </p:sp>
      <p:sp>
        <p:nvSpPr>
          <p:cNvPr id="10" name="Code 8"/>
          <p:cNvSpPr txBox="1"/>
          <p:nvPr/>
        </p:nvSpPr>
        <p:spPr>
          <a:xfrm>
            <a:off x="621792" y="2203704"/>
            <a:ext cx="3657600" cy="768096"/>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import sys       # load system tools</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print("All:", sys.argv)</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print("First:", sys.argv[1])</a:t>
            </a:r>
            <a:endParaRPr lang="en-US" sz="1200" dirty="0"/>
          </a:p>
        </p:txBody>
      </p:sp>
      <p:sp>
        <p:nvSpPr>
          <p:cNvPr id="11" name="Terminal 9"/>
          <p:cNvSpPr/>
          <p:nvPr/>
        </p:nvSpPr>
        <p:spPr>
          <a:xfrm>
            <a:off x="457200" y="3200400"/>
            <a:ext cx="3931920" cy="1325880"/>
          </a:xfrm>
          <a:prstGeom prst="roundRect">
            <a:avLst>
              <a:gd name="adj" fmla="val 551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2" name="Dot 10"/>
          <p:cNvSpPr/>
          <p:nvPr/>
        </p:nvSpPr>
        <p:spPr>
          <a:xfrm>
            <a:off x="603504" y="33101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3" name="Dot 11"/>
          <p:cNvSpPr/>
          <p:nvPr/>
        </p:nvSpPr>
        <p:spPr>
          <a:xfrm>
            <a:off x="758952" y="33101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4" name="Dot 12"/>
          <p:cNvSpPr/>
          <p:nvPr/>
        </p:nvSpPr>
        <p:spPr>
          <a:xfrm>
            <a:off x="914400" y="33101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5" name="Text 13"/>
          <p:cNvSpPr txBox="1"/>
          <p:nvPr/>
        </p:nvSpPr>
        <p:spPr>
          <a:xfrm>
            <a:off x="1143000" y="326440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PowerShell</a:t>
            </a:r>
            <a:endParaRPr lang="en-US" sz="1000" dirty="0"/>
          </a:p>
        </p:txBody>
      </p:sp>
      <p:sp>
        <p:nvSpPr>
          <p:cNvPr id="16" name="Code 14"/>
          <p:cNvSpPr txBox="1"/>
          <p:nvPr/>
        </p:nvSpPr>
        <p:spPr>
          <a:xfrm>
            <a:off x="621792" y="3529584"/>
            <a:ext cx="3657600" cy="905256"/>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PS&gt; python greet.py Alice</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All: ['greet.py', 'Alice']</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First: Alice</a:t>
            </a:r>
            <a:endParaRPr lang="en-US" sz="1200" dirty="0"/>
          </a:p>
        </p:txBody>
      </p:sp>
      <p:sp>
        <p:nvSpPr>
          <p:cNvPr id="17" name="Text 15"/>
          <p:cNvSpPr txBox="1"/>
          <p:nvPr/>
        </p:nvSpPr>
        <p:spPr>
          <a:xfrm>
            <a:off x="4754880" y="187452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How sys.argv is numbered</a:t>
            </a:r>
            <a:endParaRPr lang="en-US" sz="1500" dirty="0"/>
          </a:p>
        </p:txBody>
      </p:sp>
      <p:sp>
        <p:nvSpPr>
          <p:cNvPr id="18" name="Card 16"/>
          <p:cNvSpPr/>
          <p:nvPr/>
        </p:nvSpPr>
        <p:spPr>
          <a:xfrm>
            <a:off x="4754880" y="2240280"/>
            <a:ext cx="1051560" cy="438912"/>
          </a:xfrm>
          <a:prstGeom prst="roundRect">
            <a:avLst>
              <a:gd name="adj" fmla="val 16667"/>
            </a:avLst>
          </a:prstGeom>
          <a:solidFill>
            <a:schemeClr val="accent5"/>
          </a:solidFill>
          <a:ln w="12700">
            <a:solidFill>
              <a:schemeClr val="accent5"/>
            </a:solidFill>
            <a:prstDash val="solid"/>
          </a:ln>
        </p:spPr>
        <p:txBody>
          <a:bodyPr/>
          <a:lstStyle/>
          <a:p>
            <a:endParaRPr lang="en-ZM"/>
          </a:p>
        </p:txBody>
      </p:sp>
      <p:sp>
        <p:nvSpPr>
          <p:cNvPr id="19" name="Text 17"/>
          <p:cNvSpPr txBox="1"/>
          <p:nvPr/>
        </p:nvSpPr>
        <p:spPr>
          <a:xfrm>
            <a:off x="4754880" y="2240280"/>
            <a:ext cx="105156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python</a:t>
            </a:r>
            <a:endParaRPr lang="en-US" sz="1300" dirty="0"/>
          </a:p>
        </p:txBody>
      </p:sp>
      <p:sp>
        <p:nvSpPr>
          <p:cNvPr id="20" name="Card 18"/>
          <p:cNvSpPr/>
          <p:nvPr/>
        </p:nvSpPr>
        <p:spPr>
          <a:xfrm>
            <a:off x="5897880" y="2240280"/>
            <a:ext cx="1463040" cy="438912"/>
          </a:xfrm>
          <a:prstGeom prst="roundRect">
            <a:avLst>
              <a:gd name="adj" fmla="val 16667"/>
            </a:avLst>
          </a:prstGeom>
          <a:solidFill>
            <a:schemeClr val="accent2"/>
          </a:solidFill>
          <a:ln w="12700">
            <a:solidFill>
              <a:schemeClr val="accent2"/>
            </a:solidFill>
            <a:prstDash val="solid"/>
          </a:ln>
        </p:spPr>
        <p:txBody>
          <a:bodyPr/>
          <a:lstStyle/>
          <a:p>
            <a:endParaRPr lang="en-ZM"/>
          </a:p>
        </p:txBody>
      </p:sp>
      <p:sp>
        <p:nvSpPr>
          <p:cNvPr id="21" name="Text 19"/>
          <p:cNvSpPr txBox="1"/>
          <p:nvPr/>
        </p:nvSpPr>
        <p:spPr>
          <a:xfrm>
            <a:off x="5897880" y="2240280"/>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greet.py</a:t>
            </a:r>
            <a:endParaRPr lang="en-US" sz="1300" dirty="0"/>
          </a:p>
        </p:txBody>
      </p:sp>
      <p:sp>
        <p:nvSpPr>
          <p:cNvPr id="22" name="Card 20"/>
          <p:cNvSpPr/>
          <p:nvPr/>
        </p:nvSpPr>
        <p:spPr>
          <a:xfrm>
            <a:off x="7452360" y="2240280"/>
            <a:ext cx="1234440" cy="438912"/>
          </a:xfrm>
          <a:prstGeom prst="roundRect">
            <a:avLst>
              <a:gd name="adj" fmla="val 16667"/>
            </a:avLst>
          </a:prstGeom>
          <a:solidFill>
            <a:schemeClr val="accent3"/>
          </a:solidFill>
          <a:ln w="12700">
            <a:solidFill>
              <a:schemeClr val="accent3"/>
            </a:solidFill>
            <a:prstDash val="solid"/>
          </a:ln>
        </p:spPr>
        <p:txBody>
          <a:bodyPr/>
          <a:lstStyle/>
          <a:p>
            <a:endParaRPr lang="en-ZM"/>
          </a:p>
        </p:txBody>
      </p:sp>
      <p:sp>
        <p:nvSpPr>
          <p:cNvPr id="23" name="Text 21"/>
          <p:cNvSpPr txBox="1"/>
          <p:nvPr/>
        </p:nvSpPr>
        <p:spPr>
          <a:xfrm>
            <a:off x="7452360" y="2240280"/>
            <a:ext cx="12344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Alice</a:t>
            </a:r>
            <a:endParaRPr lang="en-US" sz="1300" dirty="0"/>
          </a:p>
        </p:txBody>
      </p:sp>
      <p:sp>
        <p:nvSpPr>
          <p:cNvPr id="24" name="Text 22"/>
          <p:cNvSpPr txBox="1"/>
          <p:nvPr/>
        </p:nvSpPr>
        <p:spPr>
          <a:xfrm>
            <a:off x="4754880" y="2715768"/>
            <a:ext cx="1051560" cy="228600"/>
          </a:xfrm>
          <a:prstGeom prst="rect">
            <a:avLst/>
          </a:prstGeom>
          <a:noFill/>
          <a:ln/>
        </p:spPr>
        <p:txBody>
          <a:bodyPr wrap="square" lIns="0" tIns="0" rIns="0" bIns="0" rtlCol="0" anchor="t"/>
          <a:lstStyle/>
          <a:p>
            <a:pPr marL="0" indent="0" algn="ctr">
              <a:buNone/>
            </a:pPr>
            <a:r>
              <a:rPr lang="en-US" sz="1100" dirty="0">
                <a:solidFill>
                  <a:schemeClr val="tx2"/>
                </a:solidFill>
              </a:rPr>
              <a:t>starts Python</a:t>
            </a:r>
            <a:endParaRPr lang="en-US" sz="1100" dirty="0"/>
          </a:p>
        </p:txBody>
      </p:sp>
      <p:sp>
        <p:nvSpPr>
          <p:cNvPr id="25" name="Text 23"/>
          <p:cNvSpPr txBox="1"/>
          <p:nvPr/>
        </p:nvSpPr>
        <p:spPr>
          <a:xfrm>
            <a:off x="5897880" y="2715768"/>
            <a:ext cx="1463040" cy="228600"/>
          </a:xfrm>
          <a:prstGeom prst="rect">
            <a:avLst/>
          </a:prstGeom>
          <a:noFill/>
          <a:ln/>
        </p:spPr>
        <p:txBody>
          <a:bodyPr wrap="square" lIns="0" tIns="0" rIns="0" bIns="0" rtlCol="0" anchor="t"/>
          <a:lstStyle/>
          <a:p>
            <a:pPr marL="0" indent="0" algn="ctr">
              <a:buNone/>
            </a:pPr>
            <a:r>
              <a:rPr lang="en-US" sz="1100" b="1" dirty="0">
                <a:solidFill>
                  <a:schemeClr val="accent2"/>
                </a:solidFill>
                <a:latin typeface="Courier New" pitchFamily="34" charset="0"/>
                <a:ea typeface="Courier New" pitchFamily="34" charset="-122"/>
                <a:cs typeface="Courier New" pitchFamily="34" charset="-120"/>
              </a:rPr>
              <a:t>sys.argv[0]</a:t>
            </a:r>
            <a:endParaRPr lang="en-US" sz="1100" dirty="0"/>
          </a:p>
        </p:txBody>
      </p:sp>
      <p:sp>
        <p:nvSpPr>
          <p:cNvPr id="26" name="Text 24"/>
          <p:cNvSpPr txBox="1"/>
          <p:nvPr/>
        </p:nvSpPr>
        <p:spPr>
          <a:xfrm>
            <a:off x="7452360" y="2715768"/>
            <a:ext cx="1234440" cy="228600"/>
          </a:xfrm>
          <a:prstGeom prst="rect">
            <a:avLst/>
          </a:prstGeom>
          <a:noFill/>
          <a:ln/>
        </p:spPr>
        <p:txBody>
          <a:bodyPr wrap="square" lIns="0" tIns="0" rIns="0" bIns="0" rtlCol="0" anchor="t"/>
          <a:lstStyle/>
          <a:p>
            <a:pPr marL="0" indent="0" algn="ctr">
              <a:buNone/>
            </a:pPr>
            <a:r>
              <a:rPr lang="en-US" sz="1100" b="1" dirty="0">
                <a:solidFill>
                  <a:schemeClr val="accent3"/>
                </a:solidFill>
                <a:latin typeface="Courier New" pitchFamily="34" charset="0"/>
                <a:ea typeface="Courier New" pitchFamily="34" charset="-122"/>
                <a:cs typeface="Courier New" pitchFamily="34" charset="-120"/>
              </a:rPr>
              <a:t>sys.argv[1]</a:t>
            </a:r>
            <a:endParaRPr lang="en-US" sz="1100" dirty="0"/>
          </a:p>
        </p:txBody>
      </p:sp>
      <p:sp>
        <p:nvSpPr>
          <p:cNvPr id="27" name="Card 25"/>
          <p:cNvSpPr/>
          <p:nvPr/>
        </p:nvSpPr>
        <p:spPr>
          <a:xfrm>
            <a:off x="4754880" y="3090672"/>
            <a:ext cx="3931920" cy="384048"/>
          </a:xfrm>
          <a:prstGeom prst="roundRect">
            <a:avLst>
              <a:gd name="adj" fmla="val 19048"/>
            </a:avLst>
          </a:prstGeom>
          <a:solidFill>
            <a:schemeClr val="bg2"/>
          </a:solidFill>
          <a:ln w="12700">
            <a:solidFill>
              <a:schemeClr val="bg2"/>
            </a:solidFill>
            <a:prstDash val="solid"/>
          </a:ln>
        </p:spPr>
        <p:txBody>
          <a:bodyPr/>
          <a:lstStyle/>
          <a:p>
            <a:endParaRPr lang="en-ZM"/>
          </a:p>
        </p:txBody>
      </p:sp>
      <p:sp>
        <p:nvSpPr>
          <p:cNvPr id="28" name="Card 26"/>
          <p:cNvSpPr/>
          <p:nvPr/>
        </p:nvSpPr>
        <p:spPr>
          <a:xfrm>
            <a:off x="4846320" y="3154680"/>
            <a:ext cx="502920" cy="256032"/>
          </a:xfrm>
          <a:prstGeom prst="roundRect">
            <a:avLst>
              <a:gd name="adj" fmla="val 28571"/>
            </a:avLst>
          </a:prstGeom>
          <a:solidFill>
            <a:schemeClr val="accent2"/>
          </a:solidFill>
          <a:ln w="12700">
            <a:solidFill>
              <a:schemeClr val="accent2"/>
            </a:solidFill>
            <a:prstDash val="solid"/>
          </a:ln>
        </p:spPr>
        <p:txBody>
          <a:bodyPr/>
          <a:lstStyle/>
          <a:p>
            <a:endParaRPr lang="en-ZM"/>
          </a:p>
        </p:txBody>
      </p:sp>
      <p:sp>
        <p:nvSpPr>
          <p:cNvPr id="29" name="Text 27"/>
          <p:cNvSpPr txBox="1"/>
          <p:nvPr/>
        </p:nvSpPr>
        <p:spPr>
          <a:xfrm>
            <a:off x="4846320" y="3154680"/>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[0]</a:t>
            </a:r>
            <a:endParaRPr lang="en-US" sz="1100" dirty="0"/>
          </a:p>
        </p:txBody>
      </p:sp>
      <p:sp>
        <p:nvSpPr>
          <p:cNvPr id="30" name="Text 28"/>
          <p:cNvSpPr txBox="1"/>
          <p:nvPr/>
        </p:nvSpPr>
        <p:spPr>
          <a:xfrm>
            <a:off x="5486400" y="3090672"/>
            <a:ext cx="3108960" cy="384048"/>
          </a:xfrm>
          <a:prstGeom prst="rect">
            <a:avLst/>
          </a:prstGeom>
          <a:noFill/>
          <a:ln/>
        </p:spPr>
        <p:txBody>
          <a:bodyPr wrap="square" lIns="0" tIns="0" rIns="0" bIns="0" rtlCol="0" anchor="ctr"/>
          <a:lstStyle/>
          <a:p>
            <a:pPr marL="0" indent="0">
              <a:buNone/>
            </a:pPr>
            <a:r>
              <a:rPr lang="en-US" sz="1300" dirty="0">
                <a:solidFill>
                  <a:schemeClr val="tx1"/>
                </a:solidFill>
              </a:rPr>
              <a:t>greet.py: always the script's own name</a:t>
            </a:r>
            <a:endParaRPr lang="en-US" sz="1300" dirty="0"/>
          </a:p>
        </p:txBody>
      </p:sp>
      <p:sp>
        <p:nvSpPr>
          <p:cNvPr id="31" name="Card 29"/>
          <p:cNvSpPr/>
          <p:nvPr/>
        </p:nvSpPr>
        <p:spPr>
          <a:xfrm>
            <a:off x="4754880" y="3547872"/>
            <a:ext cx="3931920" cy="384048"/>
          </a:xfrm>
          <a:prstGeom prst="roundRect">
            <a:avLst>
              <a:gd name="adj" fmla="val 19048"/>
            </a:avLst>
          </a:prstGeom>
          <a:solidFill>
            <a:schemeClr val="bg2"/>
          </a:solidFill>
          <a:ln w="12700">
            <a:solidFill>
              <a:schemeClr val="bg2"/>
            </a:solidFill>
            <a:prstDash val="solid"/>
          </a:ln>
        </p:spPr>
        <p:txBody>
          <a:bodyPr/>
          <a:lstStyle/>
          <a:p>
            <a:endParaRPr lang="en-ZM"/>
          </a:p>
        </p:txBody>
      </p:sp>
      <p:sp>
        <p:nvSpPr>
          <p:cNvPr id="32" name="Card 30"/>
          <p:cNvSpPr/>
          <p:nvPr/>
        </p:nvSpPr>
        <p:spPr>
          <a:xfrm>
            <a:off x="4846320" y="3611880"/>
            <a:ext cx="502920" cy="256032"/>
          </a:xfrm>
          <a:prstGeom prst="roundRect">
            <a:avLst>
              <a:gd name="adj" fmla="val 28571"/>
            </a:avLst>
          </a:prstGeom>
          <a:solidFill>
            <a:schemeClr val="accent3"/>
          </a:solidFill>
          <a:ln w="12700">
            <a:solidFill>
              <a:schemeClr val="accent3"/>
            </a:solidFill>
            <a:prstDash val="solid"/>
          </a:ln>
        </p:spPr>
        <p:txBody>
          <a:bodyPr/>
          <a:lstStyle/>
          <a:p>
            <a:endParaRPr lang="en-ZM"/>
          </a:p>
        </p:txBody>
      </p:sp>
      <p:sp>
        <p:nvSpPr>
          <p:cNvPr id="33" name="Text 31"/>
          <p:cNvSpPr txBox="1"/>
          <p:nvPr/>
        </p:nvSpPr>
        <p:spPr>
          <a:xfrm>
            <a:off x="4846320" y="3611880"/>
            <a:ext cx="502920" cy="256032"/>
          </a:xfrm>
          <a:prstGeom prst="rect">
            <a:avLst/>
          </a:prstGeom>
          <a:noFill/>
          <a:ln/>
        </p:spPr>
        <p:txBody>
          <a:bodyPr wrap="square" lIns="0" tIns="0" rIns="0" bIns="0"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[1]</a:t>
            </a:r>
            <a:endParaRPr lang="en-US" sz="1100" dirty="0"/>
          </a:p>
        </p:txBody>
      </p:sp>
      <p:sp>
        <p:nvSpPr>
          <p:cNvPr id="34" name="Text 32"/>
          <p:cNvSpPr txBox="1"/>
          <p:nvPr/>
        </p:nvSpPr>
        <p:spPr>
          <a:xfrm>
            <a:off x="5486400" y="3547872"/>
            <a:ext cx="3108960" cy="384048"/>
          </a:xfrm>
          <a:prstGeom prst="rect">
            <a:avLst/>
          </a:prstGeom>
          <a:noFill/>
          <a:ln/>
        </p:spPr>
        <p:txBody>
          <a:bodyPr wrap="square" lIns="0" tIns="0" rIns="0" bIns="0" rtlCol="0" anchor="ctr"/>
          <a:lstStyle/>
          <a:p>
            <a:pPr marL="0" indent="0">
              <a:buNone/>
            </a:pPr>
            <a:r>
              <a:rPr lang="en-US" sz="1300" dirty="0">
                <a:solidFill>
                  <a:schemeClr val="tx1"/>
                </a:solidFill>
              </a:rPr>
              <a:t>Alice: your first argument</a:t>
            </a:r>
            <a:endParaRPr lang="en-US" sz="1300" dirty="0"/>
          </a:p>
        </p:txBody>
      </p:sp>
      <p:sp>
        <p:nvSpPr>
          <p:cNvPr id="35" name="Card 33"/>
          <p:cNvSpPr/>
          <p:nvPr/>
        </p:nvSpPr>
        <p:spPr>
          <a:xfrm>
            <a:off x="4754880" y="4023360"/>
            <a:ext cx="3931920" cy="502920"/>
          </a:xfrm>
          <a:prstGeom prst="roundRect">
            <a:avLst>
              <a:gd name="adj" fmla="val 14545"/>
            </a:avLst>
          </a:prstGeom>
          <a:solidFill>
            <a:schemeClr val="accent1"/>
          </a:solidFill>
          <a:ln w="12700">
            <a:solidFill>
              <a:schemeClr val="accent1"/>
            </a:solidFill>
            <a:prstDash val="solid"/>
          </a:ln>
        </p:spPr>
        <p:txBody>
          <a:bodyPr/>
          <a:lstStyle/>
          <a:p>
            <a:endParaRPr lang="en-ZM"/>
          </a:p>
        </p:txBody>
      </p:sp>
      <p:sp>
        <p:nvSpPr>
          <p:cNvPr id="36" name="Text 34"/>
          <p:cNvSpPr txBox="1"/>
          <p:nvPr/>
        </p:nvSpPr>
        <p:spPr>
          <a:xfrm>
            <a:off x="4892040" y="4023360"/>
            <a:ext cx="3703320" cy="502920"/>
          </a:xfrm>
          <a:prstGeom prst="rect">
            <a:avLst/>
          </a:prstGeom>
          <a:noFill/>
          <a:ln/>
        </p:spPr>
        <p:txBody>
          <a:bodyPr wrap="square" lIns="0" tIns="0" rIns="0" bIns="0" rtlCol="0" anchor="ctr"/>
          <a:lstStyle/>
          <a:p>
            <a:pPr marL="0" indent="0">
              <a:buNone/>
            </a:pPr>
            <a:r>
              <a:rPr lang="en-US" sz="1300" b="1" dirty="0">
                <a:solidFill>
                  <a:schemeClr val="tx1"/>
                </a:solidFill>
              </a:rPr>
              <a:t>Python counts from 0, </a:t>
            </a:r>
            <a:r>
              <a:rPr lang="en-US" sz="1300" dirty="0">
                <a:solidFill>
                  <a:schemeClr val="tx1"/>
                </a:solidFill>
              </a:rPr>
              <a:t>so your first argument is sys.argv[1].</a:t>
            </a:r>
            <a:endParaRPr lang="en-US" sz="1300" dirty="0"/>
          </a:p>
        </p:txBody>
      </p:sp>
    </p:spTree>
    <p:extLst>
      <p:ext uri="{BB962C8B-B14F-4D97-AF65-F5344CB8AC3E}">
        <p14:creationId xmlns:p14="http://schemas.microsoft.com/office/powerpoint/2010/main" val="497229158"/>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wipe(left)">
                                      <p:cBhvr>
                                        <p:cTn id="7" dur="350"/>
                                        <p:tgtEl>
                                          <p:spTgt spid="10">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down)">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wipe(down)">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wipe(down)">
                                      <p:cBhvr>
                                        <p:cTn id="22" dur="500"/>
                                        <p:tgtEl>
                                          <p:spTgt spid="10">
                                            <p:txEl>
                                              <p:pRg st="2" end="2"/>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
                                            <p:bg/>
                                          </p:spTgt>
                                        </p:tgtEl>
                                        <p:attrNameLst>
                                          <p:attrName>style.visibility</p:attrName>
                                        </p:attrNameLst>
                                      </p:cBhvr>
                                      <p:to>
                                        <p:strVal val="visible"/>
                                      </p:to>
                                    </p:set>
                                    <p:animEffect transition="in" filter="wipe(left)">
                                      <p:cBhvr>
                                        <p:cTn id="26" dur="350"/>
                                        <p:tgtEl>
                                          <p:spTgt spid="16">
                                            <p:bg/>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Effect transition="in" filter="wipe(down)">
                                      <p:cBhvr>
                                        <p:cTn id="31" dur="500"/>
                                        <p:tgtEl>
                                          <p:spTgt spid="1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6">
                                            <p:txEl>
                                              <p:pRg st="1" end="1"/>
                                            </p:txEl>
                                          </p:spTgt>
                                        </p:tgtEl>
                                        <p:attrNameLst>
                                          <p:attrName>style.visibility</p:attrName>
                                        </p:attrNameLst>
                                      </p:cBhvr>
                                      <p:to>
                                        <p:strVal val="visible"/>
                                      </p:to>
                                    </p:set>
                                    <p:animEffect transition="in" filter="wipe(down)">
                                      <p:cBhvr>
                                        <p:cTn id="36" dur="500"/>
                                        <p:tgtEl>
                                          <p:spTgt spid="1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6">
                                            <p:txEl>
                                              <p:pRg st="2" end="2"/>
                                            </p:txEl>
                                          </p:spTgt>
                                        </p:tgtEl>
                                        <p:attrNameLst>
                                          <p:attrName>style.visibility</p:attrName>
                                        </p:attrNameLst>
                                      </p:cBhvr>
                                      <p:to>
                                        <p:strVal val="visible"/>
                                      </p:to>
                                    </p:set>
                                    <p:animEffect transition="in" filter="wipe(down)">
                                      <p:cBhvr>
                                        <p:cTn id="41"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P spid="16"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200" b="1" dirty="0">
                <a:solidFill>
                  <a:schemeClr val="tx1"/>
                </a:solidFill>
              </a:rPr>
              <a:t>Arguments in Action</a:t>
            </a:r>
            <a:endParaRPr lang="en-US" sz="3200" dirty="0"/>
          </a:p>
        </p:txBody>
      </p:sp>
      <p:sp>
        <p:nvSpPr>
          <p:cNvPr id="39"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
        <p:nvSpPr>
          <p:cNvPr id="3" name="Text 35"/>
          <p:cNvSpPr txBox="1"/>
          <p:nvPr/>
        </p:nvSpPr>
        <p:spPr>
          <a:xfrm>
            <a:off x="457200" y="109728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Make add.py work with any numbers</a:t>
            </a:r>
            <a:endParaRPr lang="en-US" sz="1500" dirty="0"/>
          </a:p>
        </p:txBody>
      </p:sp>
      <p:sp>
        <p:nvSpPr>
          <p:cNvPr id="4" name="Terminal 36"/>
          <p:cNvSpPr/>
          <p:nvPr/>
        </p:nvSpPr>
        <p:spPr>
          <a:xfrm>
            <a:off x="457200" y="1463040"/>
            <a:ext cx="3931920" cy="1371600"/>
          </a:xfrm>
          <a:prstGeom prst="roundRect">
            <a:avLst>
              <a:gd name="adj" fmla="val 5333"/>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5" name="Dot 37"/>
          <p:cNvSpPr/>
          <p:nvPr/>
        </p:nvSpPr>
        <p:spPr>
          <a:xfrm>
            <a:off x="603504" y="157276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6" name="Dot 38"/>
          <p:cNvSpPr/>
          <p:nvPr/>
        </p:nvSpPr>
        <p:spPr>
          <a:xfrm>
            <a:off x="758952" y="157276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7" name="Dot 39"/>
          <p:cNvSpPr/>
          <p:nvPr/>
        </p:nvSpPr>
        <p:spPr>
          <a:xfrm>
            <a:off x="914400" y="157276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8" name="Text 40"/>
          <p:cNvSpPr txBox="1"/>
          <p:nvPr/>
        </p:nvSpPr>
        <p:spPr>
          <a:xfrm>
            <a:off x="1143000" y="152704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add.py</a:t>
            </a:r>
            <a:endParaRPr lang="en-US" sz="1000" dirty="0"/>
          </a:p>
        </p:txBody>
      </p:sp>
      <p:sp>
        <p:nvSpPr>
          <p:cNvPr id="9" name="Code 41"/>
          <p:cNvSpPr txBox="1"/>
          <p:nvPr/>
        </p:nvSpPr>
        <p:spPr>
          <a:xfrm>
            <a:off x="621792" y="1792224"/>
            <a:ext cx="3657600" cy="950976"/>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import sys</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a = int(sys.argv[1])   # 1st number</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b = int(sys.argv[2])   # 2nd number</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print("The sum is", a + b)</a:t>
            </a:r>
            <a:endParaRPr lang="en-US" sz="1200" dirty="0"/>
          </a:p>
        </p:txBody>
      </p:sp>
      <p:sp>
        <p:nvSpPr>
          <p:cNvPr id="10" name="Terminal 42"/>
          <p:cNvSpPr/>
          <p:nvPr/>
        </p:nvSpPr>
        <p:spPr>
          <a:xfrm>
            <a:off x="457200" y="2944368"/>
            <a:ext cx="3931920" cy="1234440"/>
          </a:xfrm>
          <a:prstGeom prst="roundRect">
            <a:avLst>
              <a:gd name="adj" fmla="val 5926"/>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1" name="Dot 43"/>
          <p:cNvSpPr/>
          <p:nvPr/>
        </p:nvSpPr>
        <p:spPr>
          <a:xfrm>
            <a:off x="603504" y="3054096"/>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2" name="Dot 44"/>
          <p:cNvSpPr/>
          <p:nvPr/>
        </p:nvSpPr>
        <p:spPr>
          <a:xfrm>
            <a:off x="758952" y="3054096"/>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3" name="Dot 45"/>
          <p:cNvSpPr/>
          <p:nvPr/>
        </p:nvSpPr>
        <p:spPr>
          <a:xfrm>
            <a:off x="914400" y="3054096"/>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4" name="Text 46"/>
          <p:cNvSpPr txBox="1"/>
          <p:nvPr/>
        </p:nvSpPr>
        <p:spPr>
          <a:xfrm>
            <a:off x="1143000" y="3008376"/>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PowerShell</a:t>
            </a:r>
            <a:endParaRPr lang="en-US" sz="1000" dirty="0"/>
          </a:p>
        </p:txBody>
      </p:sp>
      <p:sp>
        <p:nvSpPr>
          <p:cNvPr id="15" name="Code 47"/>
          <p:cNvSpPr txBox="1"/>
          <p:nvPr/>
        </p:nvSpPr>
        <p:spPr>
          <a:xfrm>
            <a:off x="621792" y="3273552"/>
            <a:ext cx="3657600" cy="813816"/>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PS&gt; python add.py 5 3</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The sum is 8</a:t>
            </a:r>
            <a:endParaRPr lang="en-US" sz="1200" dirty="0"/>
          </a:p>
          <a:p>
            <a:pPr marL="0" indent="0">
              <a:buNone/>
            </a:pPr>
            <a:r>
              <a:rPr lang="en-US" sz="1200" dirty="0">
                <a:solidFill>
                  <a:schemeClr val="accent1"/>
                </a:solidFill>
                <a:latin typeface="Courier New" pitchFamily="34" charset="0"/>
                <a:ea typeface="Courier New" pitchFamily="34" charset="-122"/>
                <a:cs typeface="Courier New" pitchFamily="34" charset="-120"/>
              </a:rPr>
              <a:t>PS&gt; python add.py 10 20</a:t>
            </a:r>
            <a:endParaRPr lang="en-US" sz="1200" dirty="0"/>
          </a:p>
          <a:p>
            <a:pPr marL="0" indent="0">
              <a:buNone/>
            </a:pPr>
            <a:r>
              <a:rPr lang="en-US" sz="1200" dirty="0">
                <a:solidFill>
                  <a:schemeClr val="accent3"/>
                </a:solidFill>
                <a:latin typeface="Courier New" pitchFamily="34" charset="0"/>
                <a:ea typeface="Courier New" pitchFamily="34" charset="-122"/>
                <a:cs typeface="Courier New" pitchFamily="34" charset="-120"/>
              </a:rPr>
              <a:t>The sum is 30</a:t>
            </a:r>
            <a:endParaRPr lang="en-US" sz="1200" dirty="0"/>
          </a:p>
        </p:txBody>
      </p:sp>
      <p:sp>
        <p:nvSpPr>
          <p:cNvPr id="16" name="Text 48"/>
          <p:cNvSpPr txBox="1"/>
          <p:nvPr/>
        </p:nvSpPr>
        <p:spPr>
          <a:xfrm>
            <a:off x="457200" y="4251960"/>
            <a:ext cx="3931920" cy="320040"/>
          </a:xfrm>
          <a:prstGeom prst="rect">
            <a:avLst/>
          </a:prstGeom>
          <a:noFill/>
          <a:ln/>
        </p:spPr>
        <p:txBody>
          <a:bodyPr wrap="square" lIns="0" tIns="0" rIns="0" bIns="0" rtlCol="0" anchor="ctr"/>
          <a:lstStyle/>
          <a:p>
            <a:pPr marL="0" indent="0">
              <a:buNone/>
            </a:pPr>
            <a:r>
              <a:rPr lang="en-US" sz="1200" b="1" dirty="0">
                <a:solidFill>
                  <a:schemeClr val="tx2"/>
                </a:solidFill>
              </a:rPr>
              <a:t>Why int()? </a:t>
            </a:r>
            <a:r>
              <a:rPr lang="en-US" sz="1200" dirty="0">
                <a:solidFill>
                  <a:schemeClr val="tx2"/>
                </a:solidFill>
              </a:rPr>
              <a:t>Arguments arrive as text. int() turns "5" into the number 5.</a:t>
            </a:r>
            <a:endParaRPr lang="en-US" sz="1200" dirty="0"/>
          </a:p>
        </p:txBody>
      </p:sp>
      <p:sp>
        <p:nvSpPr>
          <p:cNvPr id="17" name="Text 49"/>
          <p:cNvSpPr txBox="1"/>
          <p:nvPr/>
        </p:nvSpPr>
        <p:spPr>
          <a:xfrm>
            <a:off x="4754880" y="1097280"/>
            <a:ext cx="3931920" cy="274320"/>
          </a:xfrm>
          <a:prstGeom prst="rect">
            <a:avLst/>
          </a:prstGeom>
          <a:noFill/>
          <a:ln/>
        </p:spPr>
        <p:txBody>
          <a:bodyPr wrap="square" lIns="0" tIns="0" rIns="0" bIns="0" rtlCol="0" anchor="ctr"/>
          <a:lstStyle/>
          <a:p>
            <a:pPr marL="0" indent="0">
              <a:buNone/>
            </a:pPr>
            <a:r>
              <a:rPr lang="en-US" sz="1500" b="1" dirty="0">
                <a:solidFill>
                  <a:schemeClr val="accent2"/>
                </a:solidFill>
              </a:rPr>
              <a:t>Exactly how the Signal tool works</a:t>
            </a:r>
            <a:endParaRPr lang="en-US" sz="1500" dirty="0"/>
          </a:p>
        </p:txBody>
      </p:sp>
      <p:sp>
        <p:nvSpPr>
          <p:cNvPr id="18" name="Terminal 50"/>
          <p:cNvSpPr/>
          <p:nvPr/>
        </p:nvSpPr>
        <p:spPr>
          <a:xfrm>
            <a:off x="4754880" y="1463040"/>
            <a:ext cx="3931920" cy="731520"/>
          </a:xfrm>
          <a:prstGeom prst="roundRect">
            <a:avLst>
              <a:gd name="adj" fmla="val 10000"/>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9" name="Dot 51"/>
          <p:cNvSpPr/>
          <p:nvPr/>
        </p:nvSpPr>
        <p:spPr>
          <a:xfrm>
            <a:off x="4901184" y="157276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0" name="Dot 52"/>
          <p:cNvSpPr/>
          <p:nvPr/>
        </p:nvSpPr>
        <p:spPr>
          <a:xfrm>
            <a:off x="5056632" y="157276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1" name="Dot 53"/>
          <p:cNvSpPr/>
          <p:nvPr/>
        </p:nvSpPr>
        <p:spPr>
          <a:xfrm>
            <a:off x="5212080" y="157276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2" name="Code 54"/>
          <p:cNvSpPr txBox="1"/>
          <p:nvPr/>
        </p:nvSpPr>
        <p:spPr>
          <a:xfrm>
            <a:off x="4919472" y="1792224"/>
            <a:ext cx="3657600" cy="31089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python decrypt_backup.py my.backup out</a:t>
            </a:r>
            <a:endParaRPr lang="en-US" sz="1100" dirty="0"/>
          </a:p>
        </p:txBody>
      </p:sp>
      <p:sp>
        <p:nvSpPr>
          <p:cNvPr id="23" name="Text 55"/>
          <p:cNvSpPr txBox="1"/>
          <p:nvPr/>
        </p:nvSpPr>
        <p:spPr>
          <a:xfrm>
            <a:off x="4754880" y="2377440"/>
            <a:ext cx="457200" cy="438912"/>
          </a:xfrm>
          <a:prstGeom prst="rect">
            <a:avLst/>
          </a:prstGeom>
          <a:noFill/>
          <a:ln/>
        </p:spPr>
        <p:txBody>
          <a:bodyPr wrap="square" lIns="0" tIns="0" rIns="0" bIns="0" rtlCol="0" anchor="ctr"/>
          <a:lstStyle/>
          <a:p>
            <a:pPr marL="0" indent="0">
              <a:buNone/>
            </a:pPr>
            <a:r>
              <a:rPr lang="en-US" sz="1300" b="1" dirty="0">
                <a:solidFill>
                  <a:schemeClr val="accent2"/>
                </a:solidFill>
                <a:latin typeface="Courier New" pitchFamily="34" charset="0"/>
                <a:ea typeface="Courier New" pitchFamily="34" charset="-122"/>
                <a:cs typeface="Courier New" pitchFamily="34" charset="-120"/>
              </a:rPr>
              <a:t>[0]</a:t>
            </a:r>
            <a:endParaRPr lang="en-US" sz="1300" dirty="0"/>
          </a:p>
        </p:txBody>
      </p:sp>
      <p:sp>
        <p:nvSpPr>
          <p:cNvPr id="24" name="Card 56"/>
          <p:cNvSpPr/>
          <p:nvPr/>
        </p:nvSpPr>
        <p:spPr>
          <a:xfrm>
            <a:off x="5257800" y="2377440"/>
            <a:ext cx="1783080" cy="438912"/>
          </a:xfrm>
          <a:prstGeom prst="roundRect">
            <a:avLst>
              <a:gd name="adj" fmla="val 16667"/>
            </a:avLst>
          </a:prstGeom>
          <a:solidFill>
            <a:schemeClr val="accent2"/>
          </a:solidFill>
          <a:ln w="12700">
            <a:solidFill>
              <a:schemeClr val="accent2"/>
            </a:solidFill>
            <a:prstDash val="solid"/>
          </a:ln>
        </p:spPr>
        <p:txBody>
          <a:bodyPr/>
          <a:lstStyle/>
          <a:p>
            <a:endParaRPr lang="en-ZM"/>
          </a:p>
        </p:txBody>
      </p:sp>
      <p:sp>
        <p:nvSpPr>
          <p:cNvPr id="25" name="Text 57"/>
          <p:cNvSpPr txBox="1"/>
          <p:nvPr/>
        </p:nvSpPr>
        <p:spPr>
          <a:xfrm>
            <a:off x="5257800" y="2377440"/>
            <a:ext cx="1783080" cy="438912"/>
          </a:xfrm>
          <a:prstGeom prst="rect">
            <a:avLst/>
          </a:prstGeom>
          <a:noFill/>
          <a:ln/>
        </p:spPr>
        <p:txBody>
          <a:bodyPr wrap="square" lIns="0" tIns="0" rIns="0" bIns="0"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decrypt_backup.py</a:t>
            </a:r>
            <a:endParaRPr lang="en-US" sz="1100" dirty="0"/>
          </a:p>
        </p:txBody>
      </p:sp>
      <p:sp>
        <p:nvSpPr>
          <p:cNvPr id="26" name="Arrow 58"/>
          <p:cNvSpPr/>
          <p:nvPr/>
        </p:nvSpPr>
        <p:spPr>
          <a:xfrm>
            <a:off x="7114032" y="2596896"/>
            <a:ext cx="228600" cy="0"/>
          </a:xfrm>
          <a:prstGeom prst="line">
            <a:avLst/>
          </a:prstGeom>
          <a:noFill/>
          <a:ln w="25400">
            <a:solidFill>
              <a:schemeClr val="accent5"/>
            </a:solidFill>
            <a:prstDash val="solid"/>
            <a:tailEnd type="triangle"/>
          </a:ln>
        </p:spPr>
        <p:txBody>
          <a:bodyPr/>
          <a:lstStyle/>
          <a:p>
            <a:endParaRPr lang="en-ZM"/>
          </a:p>
        </p:txBody>
      </p:sp>
      <p:sp>
        <p:nvSpPr>
          <p:cNvPr id="27" name="Text 59"/>
          <p:cNvSpPr txBox="1"/>
          <p:nvPr/>
        </p:nvSpPr>
        <p:spPr>
          <a:xfrm>
            <a:off x="7406640" y="2377440"/>
            <a:ext cx="1280160" cy="438912"/>
          </a:xfrm>
          <a:prstGeom prst="rect">
            <a:avLst/>
          </a:prstGeom>
          <a:noFill/>
          <a:ln/>
        </p:spPr>
        <p:txBody>
          <a:bodyPr wrap="square" lIns="0" tIns="0" rIns="0" bIns="0" rtlCol="0" anchor="ctr"/>
          <a:lstStyle/>
          <a:p>
            <a:pPr marL="0" indent="0">
              <a:buNone/>
            </a:pPr>
            <a:r>
              <a:rPr lang="en-US" sz="1300" dirty="0">
                <a:solidFill>
                  <a:schemeClr val="tx1"/>
                </a:solidFill>
              </a:rPr>
              <a:t>the script</a:t>
            </a:r>
            <a:endParaRPr lang="en-US" sz="1300" dirty="0"/>
          </a:p>
        </p:txBody>
      </p:sp>
      <p:sp>
        <p:nvSpPr>
          <p:cNvPr id="28" name="Text 60"/>
          <p:cNvSpPr txBox="1"/>
          <p:nvPr/>
        </p:nvSpPr>
        <p:spPr>
          <a:xfrm>
            <a:off x="4754880" y="2944368"/>
            <a:ext cx="457200" cy="438912"/>
          </a:xfrm>
          <a:prstGeom prst="rect">
            <a:avLst/>
          </a:prstGeom>
          <a:noFill/>
          <a:ln/>
        </p:spPr>
        <p:txBody>
          <a:bodyPr wrap="square" lIns="0" tIns="0" rIns="0" bIns="0" rtlCol="0" anchor="ctr"/>
          <a:lstStyle/>
          <a:p>
            <a:pPr marL="0" indent="0">
              <a:buNone/>
            </a:pPr>
            <a:r>
              <a:rPr lang="en-US" sz="1300" b="1" dirty="0">
                <a:solidFill>
                  <a:schemeClr val="accent3"/>
                </a:solidFill>
                <a:latin typeface="Courier New" pitchFamily="34" charset="0"/>
                <a:ea typeface="Courier New" pitchFamily="34" charset="-122"/>
                <a:cs typeface="Courier New" pitchFamily="34" charset="-120"/>
              </a:rPr>
              <a:t>[1]</a:t>
            </a:r>
            <a:endParaRPr lang="en-US" sz="1300" dirty="0"/>
          </a:p>
        </p:txBody>
      </p:sp>
      <p:sp>
        <p:nvSpPr>
          <p:cNvPr id="29" name="Card 61"/>
          <p:cNvSpPr/>
          <p:nvPr/>
        </p:nvSpPr>
        <p:spPr>
          <a:xfrm>
            <a:off x="5257800" y="2944368"/>
            <a:ext cx="1783080" cy="438912"/>
          </a:xfrm>
          <a:prstGeom prst="roundRect">
            <a:avLst>
              <a:gd name="adj" fmla="val 16667"/>
            </a:avLst>
          </a:prstGeom>
          <a:solidFill>
            <a:schemeClr val="accent3"/>
          </a:solidFill>
          <a:ln w="12700">
            <a:solidFill>
              <a:schemeClr val="accent3"/>
            </a:solidFill>
            <a:prstDash val="solid"/>
          </a:ln>
        </p:spPr>
        <p:txBody>
          <a:bodyPr/>
          <a:lstStyle/>
          <a:p>
            <a:endParaRPr lang="en-ZM"/>
          </a:p>
        </p:txBody>
      </p:sp>
      <p:sp>
        <p:nvSpPr>
          <p:cNvPr id="30" name="Text 62"/>
          <p:cNvSpPr txBox="1"/>
          <p:nvPr/>
        </p:nvSpPr>
        <p:spPr>
          <a:xfrm>
            <a:off x="5257800" y="2944368"/>
            <a:ext cx="1783080" cy="438912"/>
          </a:xfrm>
          <a:prstGeom prst="rect">
            <a:avLst/>
          </a:prstGeom>
          <a:noFill/>
          <a:ln/>
        </p:spPr>
        <p:txBody>
          <a:bodyPr wrap="square" lIns="0" tIns="0" rIns="0" bIns="0"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my.backup</a:t>
            </a:r>
            <a:endParaRPr lang="en-US" sz="1100" dirty="0"/>
          </a:p>
        </p:txBody>
      </p:sp>
      <p:sp>
        <p:nvSpPr>
          <p:cNvPr id="31" name="Arrow 63"/>
          <p:cNvSpPr/>
          <p:nvPr/>
        </p:nvSpPr>
        <p:spPr>
          <a:xfrm>
            <a:off x="7114032" y="3163824"/>
            <a:ext cx="228600" cy="0"/>
          </a:xfrm>
          <a:prstGeom prst="line">
            <a:avLst/>
          </a:prstGeom>
          <a:noFill/>
          <a:ln w="25400">
            <a:solidFill>
              <a:schemeClr val="accent5"/>
            </a:solidFill>
            <a:prstDash val="solid"/>
            <a:tailEnd type="triangle"/>
          </a:ln>
        </p:spPr>
        <p:txBody>
          <a:bodyPr/>
          <a:lstStyle/>
          <a:p>
            <a:endParaRPr lang="en-ZM"/>
          </a:p>
        </p:txBody>
      </p:sp>
      <p:sp>
        <p:nvSpPr>
          <p:cNvPr id="32" name="Text 64"/>
          <p:cNvSpPr txBox="1"/>
          <p:nvPr/>
        </p:nvSpPr>
        <p:spPr>
          <a:xfrm>
            <a:off x="7406640" y="2944368"/>
            <a:ext cx="1280160" cy="438912"/>
          </a:xfrm>
          <a:prstGeom prst="rect">
            <a:avLst/>
          </a:prstGeom>
          <a:noFill/>
          <a:ln/>
        </p:spPr>
        <p:txBody>
          <a:bodyPr wrap="square" lIns="0" tIns="0" rIns="0" bIns="0" rtlCol="0" anchor="ctr"/>
          <a:lstStyle/>
          <a:p>
            <a:pPr marL="0" indent="0">
              <a:buNone/>
            </a:pPr>
            <a:r>
              <a:rPr lang="en-US" sz="1300" dirty="0">
                <a:solidFill>
                  <a:schemeClr val="tx1"/>
                </a:solidFill>
              </a:rPr>
              <a:t>which backup to unlock</a:t>
            </a:r>
            <a:endParaRPr lang="en-US" sz="1300" dirty="0"/>
          </a:p>
        </p:txBody>
      </p:sp>
      <p:sp>
        <p:nvSpPr>
          <p:cNvPr id="33" name="Text 65"/>
          <p:cNvSpPr txBox="1"/>
          <p:nvPr/>
        </p:nvSpPr>
        <p:spPr>
          <a:xfrm>
            <a:off x="4754880" y="3511296"/>
            <a:ext cx="457200" cy="438912"/>
          </a:xfrm>
          <a:prstGeom prst="rect">
            <a:avLst/>
          </a:prstGeom>
          <a:noFill/>
          <a:ln/>
        </p:spPr>
        <p:txBody>
          <a:bodyPr wrap="square" lIns="0" tIns="0" rIns="0" bIns="0" rtlCol="0" anchor="ctr"/>
          <a:lstStyle/>
          <a:p>
            <a:pPr marL="0" indent="0">
              <a:buNone/>
            </a:pPr>
            <a:r>
              <a:rPr lang="en-US" sz="1300" b="1" dirty="0">
                <a:solidFill>
                  <a:schemeClr val="accent4"/>
                </a:solidFill>
                <a:latin typeface="Courier New" pitchFamily="34" charset="0"/>
                <a:ea typeface="Courier New" pitchFamily="34" charset="-122"/>
                <a:cs typeface="Courier New" pitchFamily="34" charset="-120"/>
              </a:rPr>
              <a:t>[2]</a:t>
            </a:r>
            <a:endParaRPr lang="en-US" sz="1300" dirty="0"/>
          </a:p>
        </p:txBody>
      </p:sp>
      <p:sp>
        <p:nvSpPr>
          <p:cNvPr id="34" name="Card 66"/>
          <p:cNvSpPr/>
          <p:nvPr/>
        </p:nvSpPr>
        <p:spPr>
          <a:xfrm>
            <a:off x="5257800" y="3511296"/>
            <a:ext cx="1783080" cy="438912"/>
          </a:xfrm>
          <a:prstGeom prst="roundRect">
            <a:avLst>
              <a:gd name="adj" fmla="val 16667"/>
            </a:avLst>
          </a:prstGeom>
          <a:solidFill>
            <a:schemeClr val="accent4"/>
          </a:solidFill>
          <a:ln w="12700">
            <a:solidFill>
              <a:schemeClr val="accent4"/>
            </a:solidFill>
            <a:prstDash val="solid"/>
          </a:ln>
        </p:spPr>
        <p:txBody>
          <a:bodyPr/>
          <a:lstStyle/>
          <a:p>
            <a:endParaRPr lang="en-ZM"/>
          </a:p>
        </p:txBody>
      </p:sp>
      <p:sp>
        <p:nvSpPr>
          <p:cNvPr id="35" name="Text 67"/>
          <p:cNvSpPr txBox="1"/>
          <p:nvPr/>
        </p:nvSpPr>
        <p:spPr>
          <a:xfrm>
            <a:off x="5257800" y="3511296"/>
            <a:ext cx="1783080" cy="438912"/>
          </a:xfrm>
          <a:prstGeom prst="rect">
            <a:avLst/>
          </a:prstGeom>
          <a:noFill/>
          <a:ln/>
        </p:spPr>
        <p:txBody>
          <a:bodyPr wrap="square" lIns="0" tIns="0" rIns="0" bIns="0"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out</a:t>
            </a:r>
            <a:endParaRPr lang="en-US" sz="1100" dirty="0"/>
          </a:p>
        </p:txBody>
      </p:sp>
      <p:sp>
        <p:nvSpPr>
          <p:cNvPr id="36" name="Arrow 68"/>
          <p:cNvSpPr/>
          <p:nvPr/>
        </p:nvSpPr>
        <p:spPr>
          <a:xfrm>
            <a:off x="7114032" y="3730752"/>
            <a:ext cx="228600" cy="0"/>
          </a:xfrm>
          <a:prstGeom prst="line">
            <a:avLst/>
          </a:prstGeom>
          <a:noFill/>
          <a:ln w="25400">
            <a:solidFill>
              <a:schemeClr val="accent5"/>
            </a:solidFill>
            <a:prstDash val="solid"/>
            <a:tailEnd type="triangle"/>
          </a:ln>
        </p:spPr>
        <p:txBody>
          <a:bodyPr/>
          <a:lstStyle/>
          <a:p>
            <a:endParaRPr lang="en-ZM"/>
          </a:p>
        </p:txBody>
      </p:sp>
      <p:sp>
        <p:nvSpPr>
          <p:cNvPr id="37" name="Text 69"/>
          <p:cNvSpPr txBox="1"/>
          <p:nvPr/>
        </p:nvSpPr>
        <p:spPr>
          <a:xfrm>
            <a:off x="7406640" y="3511296"/>
            <a:ext cx="1280160" cy="438912"/>
          </a:xfrm>
          <a:prstGeom prst="rect">
            <a:avLst/>
          </a:prstGeom>
          <a:noFill/>
          <a:ln/>
        </p:spPr>
        <p:txBody>
          <a:bodyPr wrap="square" lIns="0" tIns="0" rIns="0" bIns="0" rtlCol="0" anchor="ctr"/>
          <a:lstStyle/>
          <a:p>
            <a:pPr marL="0" indent="0">
              <a:buNone/>
            </a:pPr>
            <a:r>
              <a:rPr lang="en-US" sz="1300" dirty="0">
                <a:solidFill>
                  <a:schemeClr val="tx1"/>
                </a:solidFill>
              </a:rPr>
              <a:t>where to put the results</a:t>
            </a:r>
            <a:endParaRPr lang="en-US" sz="1300" dirty="0"/>
          </a:p>
        </p:txBody>
      </p:sp>
      <p:sp>
        <p:nvSpPr>
          <p:cNvPr id="38" name="Text 70"/>
          <p:cNvSpPr txBox="1"/>
          <p:nvPr/>
        </p:nvSpPr>
        <p:spPr>
          <a:xfrm>
            <a:off x="4754880" y="4160520"/>
            <a:ext cx="3931920" cy="411480"/>
          </a:xfrm>
          <a:prstGeom prst="rect">
            <a:avLst/>
          </a:prstGeom>
          <a:noFill/>
          <a:ln/>
        </p:spPr>
        <p:txBody>
          <a:bodyPr wrap="square" lIns="0" tIns="0" rIns="0" bIns="0" rtlCol="0" anchor="t"/>
          <a:lstStyle/>
          <a:p>
            <a:pPr marL="0" indent="0">
              <a:buNone/>
            </a:pPr>
            <a:r>
              <a:rPr lang="en-US" sz="1200" i="1" dirty="0">
                <a:solidFill>
                  <a:schemeClr val="tx2"/>
                </a:solidFill>
              </a:rPr>
              <a:t>The author can't know your file name, so the tool reads it from the arguments you type.</a:t>
            </a:r>
            <a:endParaRPr lang="en-US" sz="1200" dirty="0"/>
          </a:p>
        </p:txBody>
      </p:sp>
    </p:spTree>
    <p:extLst>
      <p:ext uri="{BB962C8B-B14F-4D97-AF65-F5344CB8AC3E}">
        <p14:creationId xmlns:p14="http://schemas.microsoft.com/office/powerpoint/2010/main" val="3342649230"/>
      </p:ext>
    </p:extLst>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wipe(left)">
                                      <p:cBhvr>
                                        <p:cTn id="7" dur="350"/>
                                        <p:tgtEl>
                                          <p:spTgt spid="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wipe(down)">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wipe(down)">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wipe(down)">
                                      <p:cBhvr>
                                        <p:cTn id="27" dur="500"/>
                                        <p:tgtEl>
                                          <p:spTgt spid="9">
                                            <p:txEl>
                                              <p:pRg st="3" end="3"/>
                                            </p:txEl>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5">
                                            <p:bg/>
                                          </p:spTgt>
                                        </p:tgtEl>
                                        <p:attrNameLst>
                                          <p:attrName>style.visibility</p:attrName>
                                        </p:attrNameLst>
                                      </p:cBhvr>
                                      <p:to>
                                        <p:strVal val="visible"/>
                                      </p:to>
                                    </p:set>
                                    <p:animEffect transition="in" filter="wipe(left)">
                                      <p:cBhvr>
                                        <p:cTn id="31" dur="350"/>
                                        <p:tgtEl>
                                          <p:spTgt spid="15">
                                            <p:bg/>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animEffect transition="in" filter="wipe(down)">
                                      <p:cBhvr>
                                        <p:cTn id="36" dur="500"/>
                                        <p:tgtEl>
                                          <p:spTgt spid="1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5">
                                            <p:txEl>
                                              <p:pRg st="1" end="1"/>
                                            </p:txEl>
                                          </p:spTgt>
                                        </p:tgtEl>
                                        <p:attrNameLst>
                                          <p:attrName>style.visibility</p:attrName>
                                        </p:attrNameLst>
                                      </p:cBhvr>
                                      <p:to>
                                        <p:strVal val="visible"/>
                                      </p:to>
                                    </p:set>
                                    <p:animEffect transition="in" filter="wipe(down)">
                                      <p:cBhvr>
                                        <p:cTn id="41" dur="500"/>
                                        <p:tgtEl>
                                          <p:spTgt spid="15">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5">
                                            <p:txEl>
                                              <p:pRg st="2" end="2"/>
                                            </p:txEl>
                                          </p:spTgt>
                                        </p:tgtEl>
                                        <p:attrNameLst>
                                          <p:attrName>style.visibility</p:attrName>
                                        </p:attrNameLst>
                                      </p:cBhvr>
                                      <p:to>
                                        <p:strVal val="visible"/>
                                      </p:to>
                                    </p:set>
                                    <p:animEffect transition="in" filter="wipe(down)">
                                      <p:cBhvr>
                                        <p:cTn id="46" dur="500"/>
                                        <p:tgtEl>
                                          <p:spTgt spid="15">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5">
                                            <p:txEl>
                                              <p:pRg st="3" end="3"/>
                                            </p:txEl>
                                          </p:spTgt>
                                        </p:tgtEl>
                                        <p:attrNameLst>
                                          <p:attrName>style.visibility</p:attrName>
                                        </p:attrNameLst>
                                      </p:cBhvr>
                                      <p:to>
                                        <p:strVal val="visible"/>
                                      </p:to>
                                    </p:set>
                                    <p:animEffect transition="in" filter="wipe(down)">
                                      <p:cBhvr>
                                        <p:cTn id="51" dur="500"/>
                                        <p:tgtEl>
                                          <p:spTgt spid="15">
                                            <p:txEl>
                                              <p:pRg st="3" end="3"/>
                                            </p:txEl>
                                          </p:spTgt>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22">
                                            <p:bg/>
                                          </p:spTgt>
                                        </p:tgtEl>
                                        <p:attrNameLst>
                                          <p:attrName>style.visibility</p:attrName>
                                        </p:attrNameLst>
                                      </p:cBhvr>
                                      <p:to>
                                        <p:strVal val="visible"/>
                                      </p:to>
                                    </p:set>
                                    <p:animEffect transition="in" filter="wipe(left)">
                                      <p:cBhvr>
                                        <p:cTn id="55" dur="350"/>
                                        <p:tgtEl>
                                          <p:spTgt spid="22">
                                            <p:bg/>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2">
                                            <p:txEl>
                                              <p:pRg st="0" end="0"/>
                                            </p:txEl>
                                          </p:spTgt>
                                        </p:tgtEl>
                                        <p:attrNameLst>
                                          <p:attrName>style.visibility</p:attrName>
                                        </p:attrNameLst>
                                      </p:cBhvr>
                                      <p:to>
                                        <p:strVal val="visible"/>
                                      </p:to>
                                    </p:set>
                                    <p:animEffect transition="in" filter="wipe(down)">
                                      <p:cBhvr>
                                        <p:cTn id="60"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5" grpId="0" build="p" animBg="1"/>
      <p:bldP spid="22"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Packages and pip</a:t>
            </a:r>
            <a:endParaRPr lang="en-US" sz="3200" dirty="0"/>
          </a:p>
        </p:txBody>
      </p:sp>
      <p:sp>
        <p:nvSpPr>
          <p:cNvPr id="3" name="Card 275"/>
          <p:cNvSpPr/>
          <p:nvPr/>
        </p:nvSpPr>
        <p:spPr>
          <a:xfrm>
            <a:off x="457200" y="1143000"/>
            <a:ext cx="19202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Text 276"/>
          <p:cNvSpPr txBox="1"/>
          <p:nvPr/>
        </p:nvSpPr>
        <p:spPr>
          <a:xfrm>
            <a:off x="594360" y="1261872"/>
            <a:ext cx="1645920" cy="320040"/>
          </a:xfrm>
          <a:prstGeom prst="rect">
            <a:avLst/>
          </a:prstGeom>
          <a:noFill/>
          <a:ln/>
        </p:spPr>
        <p:txBody>
          <a:bodyPr wrap="square" lIns="0" tIns="0" rIns="0" bIns="0" rtlCol="0" anchor="t"/>
          <a:lstStyle/>
          <a:p>
            <a:pPr marL="0" indent="0">
              <a:buNone/>
            </a:pPr>
            <a:r>
              <a:rPr lang="en-US" sz="1600" b="1" dirty="0">
                <a:solidFill>
                  <a:schemeClr val="accent2"/>
                </a:solidFill>
              </a:rPr>
              <a:t>Package</a:t>
            </a:r>
            <a:endParaRPr lang="en-US" sz="1600" dirty="0"/>
          </a:p>
        </p:txBody>
      </p:sp>
      <p:sp>
        <p:nvSpPr>
          <p:cNvPr id="5" name="Text 277"/>
          <p:cNvSpPr txBox="1"/>
          <p:nvPr/>
        </p:nvSpPr>
        <p:spPr>
          <a:xfrm>
            <a:off x="594360" y="1627632"/>
            <a:ext cx="1645920" cy="868680"/>
          </a:xfrm>
          <a:prstGeom prst="rect">
            <a:avLst/>
          </a:prstGeom>
          <a:noFill/>
          <a:ln/>
        </p:spPr>
        <p:txBody>
          <a:bodyPr wrap="square" lIns="0" tIns="0" rIns="0" bIns="0" rtlCol="0" anchor="t"/>
          <a:lstStyle/>
          <a:p>
            <a:pPr marL="0" indent="0">
              <a:buNone/>
            </a:pPr>
            <a:r>
              <a:rPr lang="en-US" sz="1400" dirty="0">
                <a:solidFill>
                  <a:schemeClr val="tx1"/>
                </a:solidFill>
              </a:rPr>
              <a:t>Code someone else wrote and published for you to reuse</a:t>
            </a:r>
            <a:endParaRPr lang="en-US" sz="1400" dirty="0"/>
          </a:p>
        </p:txBody>
      </p:sp>
      <p:sp>
        <p:nvSpPr>
          <p:cNvPr id="6" name="Card 278"/>
          <p:cNvSpPr/>
          <p:nvPr/>
        </p:nvSpPr>
        <p:spPr>
          <a:xfrm>
            <a:off x="2560320" y="1143000"/>
            <a:ext cx="19202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7" name="Text 279"/>
          <p:cNvSpPr txBox="1"/>
          <p:nvPr/>
        </p:nvSpPr>
        <p:spPr>
          <a:xfrm>
            <a:off x="2697480" y="1261872"/>
            <a:ext cx="1645920" cy="320040"/>
          </a:xfrm>
          <a:prstGeom prst="rect">
            <a:avLst/>
          </a:prstGeom>
          <a:noFill/>
          <a:ln/>
        </p:spPr>
        <p:txBody>
          <a:bodyPr wrap="square" lIns="0" tIns="0" rIns="0" bIns="0" rtlCol="0" anchor="t"/>
          <a:lstStyle/>
          <a:p>
            <a:pPr marL="0" indent="0">
              <a:buNone/>
            </a:pPr>
            <a:r>
              <a:rPr lang="en-US" sz="1600" b="1" dirty="0">
                <a:solidFill>
                  <a:schemeClr val="accent2"/>
                </a:solidFill>
              </a:rPr>
              <a:t>Dependency</a:t>
            </a:r>
            <a:endParaRPr lang="en-US" sz="1600" dirty="0"/>
          </a:p>
        </p:txBody>
      </p:sp>
      <p:sp>
        <p:nvSpPr>
          <p:cNvPr id="8" name="Text 280"/>
          <p:cNvSpPr txBox="1"/>
          <p:nvPr/>
        </p:nvSpPr>
        <p:spPr>
          <a:xfrm>
            <a:off x="2697480" y="1627632"/>
            <a:ext cx="1645920" cy="868680"/>
          </a:xfrm>
          <a:prstGeom prst="rect">
            <a:avLst/>
          </a:prstGeom>
          <a:noFill/>
          <a:ln/>
        </p:spPr>
        <p:txBody>
          <a:bodyPr wrap="square" lIns="0" tIns="0" rIns="0" bIns="0" rtlCol="0" anchor="t"/>
          <a:lstStyle/>
          <a:p>
            <a:pPr marL="0" indent="0">
              <a:buNone/>
            </a:pPr>
            <a:r>
              <a:rPr lang="en-US" sz="1400" dirty="0">
                <a:solidFill>
                  <a:schemeClr val="tx1"/>
                </a:solidFill>
              </a:rPr>
              <a:t>A package a project needs in order to run</a:t>
            </a:r>
            <a:endParaRPr lang="en-US" sz="1400" dirty="0"/>
          </a:p>
        </p:txBody>
      </p:sp>
      <p:sp>
        <p:nvSpPr>
          <p:cNvPr id="9" name="Card 281"/>
          <p:cNvSpPr/>
          <p:nvPr/>
        </p:nvSpPr>
        <p:spPr>
          <a:xfrm>
            <a:off x="4663440" y="1143000"/>
            <a:ext cx="19202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0" name="Text 282"/>
          <p:cNvSpPr txBox="1"/>
          <p:nvPr/>
        </p:nvSpPr>
        <p:spPr>
          <a:xfrm>
            <a:off x="4800600" y="1261872"/>
            <a:ext cx="1645920" cy="320040"/>
          </a:xfrm>
          <a:prstGeom prst="rect">
            <a:avLst/>
          </a:prstGeom>
          <a:noFill/>
          <a:ln/>
        </p:spPr>
        <p:txBody>
          <a:bodyPr wrap="square" lIns="0" tIns="0" rIns="0" bIns="0" rtlCol="0" anchor="t"/>
          <a:lstStyle/>
          <a:p>
            <a:pPr marL="0" indent="0">
              <a:buNone/>
            </a:pPr>
            <a:r>
              <a:rPr lang="en-US" sz="1600" b="1" dirty="0">
                <a:solidFill>
                  <a:schemeClr val="accent2"/>
                </a:solidFill>
              </a:rPr>
              <a:t>PyPI</a:t>
            </a:r>
            <a:endParaRPr lang="en-US" sz="1600" dirty="0"/>
          </a:p>
        </p:txBody>
      </p:sp>
      <p:sp>
        <p:nvSpPr>
          <p:cNvPr id="11" name="Text 283"/>
          <p:cNvSpPr txBox="1"/>
          <p:nvPr/>
        </p:nvSpPr>
        <p:spPr>
          <a:xfrm>
            <a:off x="4800600" y="1627632"/>
            <a:ext cx="1645920" cy="868680"/>
          </a:xfrm>
          <a:prstGeom prst="rect">
            <a:avLst/>
          </a:prstGeom>
          <a:noFill/>
          <a:ln/>
        </p:spPr>
        <p:txBody>
          <a:bodyPr wrap="square" lIns="0" tIns="0" rIns="0" bIns="0" rtlCol="0" anchor="t"/>
          <a:lstStyle/>
          <a:p>
            <a:pPr marL="0" indent="0">
              <a:buNone/>
            </a:pPr>
            <a:r>
              <a:rPr lang="en-US" sz="1400" dirty="0">
                <a:solidFill>
                  <a:schemeClr val="tx1"/>
                </a:solidFill>
              </a:rPr>
              <a:t>pypi.org: the public online store of Python packages</a:t>
            </a:r>
            <a:endParaRPr lang="en-US" sz="1400" dirty="0"/>
          </a:p>
        </p:txBody>
      </p:sp>
      <p:sp>
        <p:nvSpPr>
          <p:cNvPr id="12" name="Card 284"/>
          <p:cNvSpPr/>
          <p:nvPr/>
        </p:nvSpPr>
        <p:spPr>
          <a:xfrm>
            <a:off x="6766560" y="1143000"/>
            <a:ext cx="19202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3" name="Text 285"/>
          <p:cNvSpPr txBox="1"/>
          <p:nvPr/>
        </p:nvSpPr>
        <p:spPr>
          <a:xfrm>
            <a:off x="6903720" y="1261872"/>
            <a:ext cx="1645920" cy="320040"/>
          </a:xfrm>
          <a:prstGeom prst="rect">
            <a:avLst/>
          </a:prstGeom>
          <a:noFill/>
          <a:ln/>
        </p:spPr>
        <p:txBody>
          <a:bodyPr wrap="square" lIns="0" tIns="0" rIns="0" bIns="0" rtlCol="0" anchor="t"/>
          <a:lstStyle/>
          <a:p>
            <a:pPr marL="0" indent="0">
              <a:buNone/>
            </a:pPr>
            <a:r>
              <a:rPr lang="en-US" sz="1600" b="1" dirty="0">
                <a:solidFill>
                  <a:schemeClr val="accent2"/>
                </a:solidFill>
              </a:rPr>
              <a:t>pip</a:t>
            </a:r>
            <a:endParaRPr lang="en-US" sz="1600" dirty="0"/>
          </a:p>
        </p:txBody>
      </p:sp>
      <p:sp>
        <p:nvSpPr>
          <p:cNvPr id="14" name="Text 286"/>
          <p:cNvSpPr txBox="1"/>
          <p:nvPr/>
        </p:nvSpPr>
        <p:spPr>
          <a:xfrm>
            <a:off x="6903720" y="1627632"/>
            <a:ext cx="1645920" cy="868680"/>
          </a:xfrm>
          <a:prstGeom prst="rect">
            <a:avLst/>
          </a:prstGeom>
          <a:noFill/>
          <a:ln/>
        </p:spPr>
        <p:txBody>
          <a:bodyPr wrap="square" lIns="0" tIns="0" rIns="0" bIns="0" rtlCol="0" anchor="t"/>
          <a:lstStyle/>
          <a:p>
            <a:pPr marL="0" indent="0">
              <a:buNone/>
            </a:pPr>
            <a:r>
              <a:rPr lang="en-US" sz="1400" dirty="0">
                <a:solidFill>
                  <a:schemeClr val="tx1"/>
                </a:solidFill>
              </a:rPr>
              <a:t>The program that downloads and installs packages</a:t>
            </a:r>
            <a:endParaRPr lang="en-US" sz="1400" dirty="0"/>
          </a:p>
        </p:txBody>
      </p:sp>
      <p:sp>
        <p:nvSpPr>
          <p:cNvPr id="15" name="Terminal 287"/>
          <p:cNvSpPr/>
          <p:nvPr/>
        </p:nvSpPr>
        <p:spPr>
          <a:xfrm>
            <a:off x="457200" y="2743200"/>
            <a:ext cx="4937760" cy="1737360"/>
          </a:xfrm>
          <a:prstGeom prst="roundRect">
            <a:avLst>
              <a:gd name="adj" fmla="val 4211"/>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6" name="Dot 288"/>
          <p:cNvSpPr/>
          <p:nvPr/>
        </p:nvSpPr>
        <p:spPr>
          <a:xfrm>
            <a:off x="603504" y="28529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7" name="Dot 289"/>
          <p:cNvSpPr/>
          <p:nvPr/>
        </p:nvSpPr>
        <p:spPr>
          <a:xfrm>
            <a:off x="758952" y="28529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8" name="Dot 290"/>
          <p:cNvSpPr/>
          <p:nvPr/>
        </p:nvSpPr>
        <p:spPr>
          <a:xfrm>
            <a:off x="914400" y="28529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9" name="Text 291"/>
          <p:cNvSpPr txBox="1"/>
          <p:nvPr/>
        </p:nvSpPr>
        <p:spPr>
          <a:xfrm>
            <a:off x="1143000" y="2807208"/>
            <a:ext cx="411480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pip commands</a:t>
            </a:r>
            <a:endParaRPr lang="en-US" sz="1000" dirty="0"/>
          </a:p>
        </p:txBody>
      </p:sp>
      <p:sp>
        <p:nvSpPr>
          <p:cNvPr id="20" name="Code 292"/>
          <p:cNvSpPr txBox="1"/>
          <p:nvPr/>
        </p:nvSpPr>
        <p:spPr>
          <a:xfrm>
            <a:off x="594360" y="3072384"/>
            <a:ext cx="4663440" cy="131673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pip install requests    # one package</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pip list                # installed</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pip uninstall requests  # remove</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python -m pip install … # safest form</a:t>
            </a:r>
            <a:endParaRPr lang="en-US" sz="1100" dirty="0"/>
          </a:p>
        </p:txBody>
      </p:sp>
      <p:sp>
        <p:nvSpPr>
          <p:cNvPr id="21" name="Card 293"/>
          <p:cNvSpPr/>
          <p:nvPr/>
        </p:nvSpPr>
        <p:spPr>
          <a:xfrm>
            <a:off x="5577840" y="2743200"/>
            <a:ext cx="3108960" cy="1737360"/>
          </a:xfrm>
          <a:prstGeom prst="roundRect">
            <a:avLst>
              <a:gd name="adj" fmla="val 4211"/>
            </a:avLst>
          </a:prstGeom>
          <a:solidFill>
            <a:schemeClr val="bg2"/>
          </a:solidFill>
          <a:ln w="12700">
            <a:solidFill>
              <a:schemeClr val="bg2"/>
            </a:solidFill>
            <a:prstDash val="solid"/>
          </a:ln>
        </p:spPr>
        <p:txBody>
          <a:bodyPr/>
          <a:lstStyle/>
          <a:p>
            <a:endParaRPr lang="en-ZM"/>
          </a:p>
        </p:txBody>
      </p:sp>
      <p:sp>
        <p:nvSpPr>
          <p:cNvPr id="22" name="Text 294"/>
          <p:cNvSpPr txBox="1"/>
          <p:nvPr/>
        </p:nvSpPr>
        <p:spPr>
          <a:xfrm>
            <a:off x="5760720" y="2852928"/>
            <a:ext cx="2743200" cy="320040"/>
          </a:xfrm>
          <a:prstGeom prst="rect">
            <a:avLst/>
          </a:prstGeom>
          <a:noFill/>
          <a:ln/>
        </p:spPr>
        <p:txBody>
          <a:bodyPr wrap="square" lIns="0" tIns="0" rIns="0" bIns="0" rtlCol="0" anchor="t"/>
          <a:lstStyle/>
          <a:p>
            <a:pPr marL="0" indent="0">
              <a:buNone/>
            </a:pPr>
            <a:r>
              <a:rPr lang="en-US" sz="1600" b="1" dirty="0">
                <a:solidFill>
                  <a:schemeClr val="tx1"/>
                </a:solidFill>
              </a:rPr>
              <a:t>Missing a dependency?</a:t>
            </a:r>
            <a:endParaRPr lang="en-US" sz="1600" dirty="0"/>
          </a:p>
        </p:txBody>
      </p:sp>
      <p:sp>
        <p:nvSpPr>
          <p:cNvPr id="23" name="Text 295"/>
          <p:cNvSpPr txBox="1"/>
          <p:nvPr/>
        </p:nvSpPr>
        <p:spPr>
          <a:xfrm>
            <a:off x="5760720" y="3218688"/>
            <a:ext cx="2743200" cy="457200"/>
          </a:xfrm>
          <a:prstGeom prst="rect">
            <a:avLst/>
          </a:prstGeom>
          <a:noFill/>
          <a:ln/>
        </p:spPr>
        <p:txBody>
          <a:bodyPr wrap="square" lIns="0" tIns="0" rIns="0" bIns="0" rtlCol="0" anchor="t"/>
          <a:lstStyle/>
          <a:p>
            <a:pPr marL="0" indent="0">
              <a:buNone/>
            </a:pPr>
            <a:r>
              <a:rPr lang="en-US" sz="1100" dirty="0">
                <a:solidFill>
                  <a:schemeClr val="accent4"/>
                </a:solidFill>
                <a:latin typeface="Courier New" pitchFamily="34" charset="0"/>
                <a:ea typeface="Courier New" pitchFamily="34" charset="-122"/>
                <a:cs typeface="Courier New" pitchFamily="34" charset="-120"/>
              </a:rPr>
              <a:t>ModuleNotFoundError: No module named 'x'</a:t>
            </a:r>
            <a:endParaRPr lang="en-US" sz="1100" dirty="0"/>
          </a:p>
        </p:txBody>
      </p:sp>
      <p:sp>
        <p:nvSpPr>
          <p:cNvPr id="24" name="Text 296"/>
          <p:cNvSpPr txBox="1"/>
          <p:nvPr/>
        </p:nvSpPr>
        <p:spPr>
          <a:xfrm>
            <a:off x="5760720" y="3749040"/>
            <a:ext cx="2743200" cy="640080"/>
          </a:xfrm>
          <a:prstGeom prst="rect">
            <a:avLst/>
          </a:prstGeom>
          <a:noFill/>
          <a:ln/>
        </p:spPr>
        <p:txBody>
          <a:bodyPr wrap="square" lIns="0" tIns="0" rIns="0" bIns="0" rtlCol="0" anchor="t"/>
          <a:lstStyle/>
          <a:p>
            <a:pPr marL="0" indent="0">
              <a:buNone/>
            </a:pPr>
            <a:r>
              <a:rPr lang="en-US" sz="1400" dirty="0">
                <a:solidFill>
                  <a:schemeClr val="tx1"/>
                </a:solidFill>
              </a:rPr>
              <a:t>Install it with pip, or activate the project's venv.</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bg/>
                                          </p:spTgt>
                                        </p:tgtEl>
                                        <p:attrNameLst>
                                          <p:attrName>style.visibility</p:attrName>
                                        </p:attrNameLst>
                                      </p:cBhvr>
                                      <p:to>
                                        <p:strVal val="visible"/>
                                      </p:to>
                                    </p:set>
                                    <p:animEffect transition="in" filter="wipe(left)">
                                      <p:cBhvr>
                                        <p:cTn id="7" dur="350"/>
                                        <p:tgtEl>
                                          <p:spTgt spid="20">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wipe(down)">
                                      <p:cBhvr>
                                        <p:cTn id="12" dur="5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animEffect transition="in" filter="wipe(down)">
                                      <p:cBhvr>
                                        <p:cTn id="17" dur="500"/>
                                        <p:tgtEl>
                                          <p:spTgt spid="2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0">
                                            <p:txEl>
                                              <p:pRg st="2" end="2"/>
                                            </p:txEl>
                                          </p:spTgt>
                                        </p:tgtEl>
                                        <p:attrNameLst>
                                          <p:attrName>style.visibility</p:attrName>
                                        </p:attrNameLst>
                                      </p:cBhvr>
                                      <p:to>
                                        <p:strVal val="visible"/>
                                      </p:to>
                                    </p:set>
                                    <p:animEffect transition="in" filter="wipe(down)">
                                      <p:cBhvr>
                                        <p:cTn id="22" dur="500"/>
                                        <p:tgtEl>
                                          <p:spTgt spid="2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0">
                                            <p:txEl>
                                              <p:pRg st="3" end="3"/>
                                            </p:txEl>
                                          </p:spTgt>
                                        </p:tgtEl>
                                        <p:attrNameLst>
                                          <p:attrName>style.visibility</p:attrName>
                                        </p:attrNameLst>
                                      </p:cBhvr>
                                      <p:to>
                                        <p:strVal val="visible"/>
                                      </p:to>
                                    </p:set>
                                    <p:animEffect transition="in" filter="wipe(down)">
                                      <p:cBhvr>
                                        <p:cTn id="27" dur="500"/>
                                        <p:tgtEl>
                                          <p:spTgt spid="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requirements.txt and venv</a:t>
            </a:r>
            <a:endParaRPr lang="en-US" sz="3200" dirty="0"/>
          </a:p>
        </p:txBody>
      </p:sp>
      <p:sp>
        <p:nvSpPr>
          <p:cNvPr id="3" name="Text 297"/>
          <p:cNvSpPr txBox="1"/>
          <p:nvPr/>
        </p:nvSpPr>
        <p:spPr>
          <a:xfrm>
            <a:off x="457200" y="1097280"/>
            <a:ext cx="3931920" cy="320040"/>
          </a:xfrm>
          <a:prstGeom prst="rect">
            <a:avLst/>
          </a:prstGeom>
          <a:noFill/>
          <a:ln/>
        </p:spPr>
        <p:txBody>
          <a:bodyPr wrap="square" lIns="0" tIns="0" rIns="0" bIns="0" rtlCol="0" anchor="t"/>
          <a:lstStyle/>
          <a:p>
            <a:pPr marL="0" indent="0">
              <a:buNone/>
            </a:pPr>
            <a:r>
              <a:rPr lang="en-US" sz="1600" b="1" dirty="0">
                <a:solidFill>
                  <a:schemeClr val="accent2"/>
                </a:solidFill>
              </a:rPr>
              <a:t>requirements.txt: the shopping list</a:t>
            </a:r>
            <a:endParaRPr lang="en-US" sz="1600" dirty="0"/>
          </a:p>
        </p:txBody>
      </p:sp>
      <p:sp>
        <p:nvSpPr>
          <p:cNvPr id="4" name="Terminal 298"/>
          <p:cNvSpPr/>
          <p:nvPr/>
        </p:nvSpPr>
        <p:spPr>
          <a:xfrm>
            <a:off x="457200" y="1508760"/>
            <a:ext cx="3931920" cy="914400"/>
          </a:xfrm>
          <a:prstGeom prst="roundRect">
            <a:avLst>
              <a:gd name="adj" fmla="val 8000"/>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5" name="Dot 299"/>
          <p:cNvSpPr/>
          <p:nvPr/>
        </p:nvSpPr>
        <p:spPr>
          <a:xfrm>
            <a:off x="603504" y="161848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6" name="Dot 300"/>
          <p:cNvSpPr/>
          <p:nvPr/>
        </p:nvSpPr>
        <p:spPr>
          <a:xfrm>
            <a:off x="758952" y="161848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7" name="Dot 301"/>
          <p:cNvSpPr/>
          <p:nvPr/>
        </p:nvSpPr>
        <p:spPr>
          <a:xfrm>
            <a:off x="914400" y="161848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8" name="Text 302"/>
          <p:cNvSpPr txBox="1"/>
          <p:nvPr/>
        </p:nvSpPr>
        <p:spPr>
          <a:xfrm>
            <a:off x="1143000" y="157276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requirements.txt (example)</a:t>
            </a:r>
            <a:endParaRPr lang="en-US" sz="1000" dirty="0"/>
          </a:p>
        </p:txBody>
      </p:sp>
      <p:sp>
        <p:nvSpPr>
          <p:cNvPr id="9" name="Code 303"/>
          <p:cNvSpPr txBox="1"/>
          <p:nvPr/>
        </p:nvSpPr>
        <p:spPr>
          <a:xfrm>
            <a:off x="621792" y="1837944"/>
            <a:ext cx="3657600" cy="493776"/>
          </a:xfrm>
          <a:prstGeom prst="rect">
            <a:avLst/>
          </a:prstGeom>
          <a:noFill/>
          <a:ln/>
        </p:spPr>
        <p:txBody>
          <a:bodyPr wrap="square" lIns="0" tIns="0" rIns="0" bIns="0" rtlCol="0" anchor="t"/>
          <a:lstStyle/>
          <a:p>
            <a:pPr marL="0" indent="0">
              <a:buNone/>
            </a:pPr>
            <a:r>
              <a:rPr lang="en-US" sz="1100" dirty="0">
                <a:solidFill>
                  <a:schemeClr val="bg1"/>
                </a:solidFill>
                <a:latin typeface="Courier New" pitchFamily="34" charset="0"/>
                <a:ea typeface="Courier New" pitchFamily="34" charset="-122"/>
                <a:cs typeface="Courier New" pitchFamily="34" charset="-120"/>
              </a:rPr>
              <a:t>cryptography&gt;=3.0</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protobuf==3.20.0</a:t>
            </a:r>
            <a:endParaRPr lang="en-US" sz="1100" dirty="0"/>
          </a:p>
        </p:txBody>
      </p:sp>
      <p:sp>
        <p:nvSpPr>
          <p:cNvPr id="10" name="Text 304"/>
          <p:cNvSpPr txBox="1"/>
          <p:nvPr/>
        </p:nvSpPr>
        <p:spPr>
          <a:xfrm>
            <a:off x="457200" y="2542032"/>
            <a:ext cx="3931920" cy="5486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a:t>
            </a:r>
            <a:r>
              <a:rPr lang="en-US" sz="1400" dirty="0">
                <a:solidFill>
                  <a:schemeClr val="tx1"/>
                </a:solidFill>
              </a:rPr>
              <a:t>  exactly this version</a:t>
            </a:r>
            <a:endParaRPr lang="en-US" sz="1400" dirty="0"/>
          </a:p>
          <a:p>
            <a:pPr marL="0" indent="0">
              <a:buNone/>
            </a:pPr>
            <a:r>
              <a:rPr lang="en-US" sz="1400" b="1" dirty="0">
                <a:solidFill>
                  <a:schemeClr val="tx1"/>
                </a:solidFill>
                <a:latin typeface="Courier New" pitchFamily="34" charset="0"/>
                <a:ea typeface="Courier New" pitchFamily="34" charset="-122"/>
                <a:cs typeface="Courier New" pitchFamily="34" charset="-120"/>
              </a:rPr>
              <a:t>&gt;=</a:t>
            </a:r>
            <a:r>
              <a:rPr lang="en-US" sz="1400" dirty="0">
                <a:solidFill>
                  <a:schemeClr val="tx1"/>
                </a:solidFill>
              </a:rPr>
              <a:t>  this version or newer</a:t>
            </a:r>
            <a:endParaRPr lang="en-US" sz="1400" dirty="0"/>
          </a:p>
        </p:txBody>
      </p:sp>
      <p:sp>
        <p:nvSpPr>
          <p:cNvPr id="11" name="Terminal 305"/>
          <p:cNvSpPr/>
          <p:nvPr/>
        </p:nvSpPr>
        <p:spPr>
          <a:xfrm>
            <a:off x="457200" y="3200400"/>
            <a:ext cx="3931920" cy="777240"/>
          </a:xfrm>
          <a:prstGeom prst="roundRect">
            <a:avLst>
              <a:gd name="adj" fmla="val 9412"/>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2" name="Dot 306"/>
          <p:cNvSpPr/>
          <p:nvPr/>
        </p:nvSpPr>
        <p:spPr>
          <a:xfrm>
            <a:off x="603504" y="33101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3" name="Dot 307"/>
          <p:cNvSpPr/>
          <p:nvPr/>
        </p:nvSpPr>
        <p:spPr>
          <a:xfrm>
            <a:off x="758952" y="33101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4" name="Dot 308"/>
          <p:cNvSpPr/>
          <p:nvPr/>
        </p:nvSpPr>
        <p:spPr>
          <a:xfrm>
            <a:off x="914400" y="33101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5" name="Code 309"/>
          <p:cNvSpPr txBox="1"/>
          <p:nvPr/>
        </p:nvSpPr>
        <p:spPr>
          <a:xfrm>
            <a:off x="621792" y="3529584"/>
            <a:ext cx="3657600" cy="35661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pip install -r requirements.txt</a:t>
            </a:r>
            <a:endParaRPr lang="en-US" sz="1100" dirty="0"/>
          </a:p>
        </p:txBody>
      </p:sp>
      <p:sp>
        <p:nvSpPr>
          <p:cNvPr id="16" name="Text 310"/>
          <p:cNvSpPr txBox="1"/>
          <p:nvPr/>
        </p:nvSpPr>
        <p:spPr>
          <a:xfrm>
            <a:off x="457200" y="4096512"/>
            <a:ext cx="3931920" cy="320040"/>
          </a:xfrm>
          <a:prstGeom prst="rect">
            <a:avLst/>
          </a:prstGeom>
          <a:noFill/>
          <a:ln/>
        </p:spPr>
        <p:txBody>
          <a:bodyPr wrap="square" lIns="0" tIns="0" rIns="0" bIns="0" rtlCol="0" anchor="t"/>
          <a:lstStyle/>
          <a:p>
            <a:pPr marL="0" indent="0">
              <a:buNone/>
            </a:pPr>
            <a:r>
              <a:rPr lang="en-US" sz="1400" dirty="0">
                <a:solidFill>
                  <a:schemeClr val="tx2"/>
                </a:solidFill>
              </a:rPr>
              <a:t>-r = read the package list from this file</a:t>
            </a:r>
            <a:endParaRPr lang="en-US" sz="1400" dirty="0"/>
          </a:p>
        </p:txBody>
      </p:sp>
      <p:sp>
        <p:nvSpPr>
          <p:cNvPr id="17" name="Text 311"/>
          <p:cNvSpPr txBox="1"/>
          <p:nvPr/>
        </p:nvSpPr>
        <p:spPr>
          <a:xfrm>
            <a:off x="4754880" y="1097280"/>
            <a:ext cx="3931920" cy="320040"/>
          </a:xfrm>
          <a:prstGeom prst="rect">
            <a:avLst/>
          </a:prstGeom>
          <a:noFill/>
          <a:ln/>
        </p:spPr>
        <p:txBody>
          <a:bodyPr wrap="square" lIns="0" tIns="0" rIns="0" bIns="0" rtlCol="0" anchor="t"/>
          <a:lstStyle/>
          <a:p>
            <a:pPr marL="0" indent="0">
              <a:buNone/>
            </a:pPr>
            <a:r>
              <a:rPr lang="en-US" sz="1600" b="1" dirty="0">
                <a:solidFill>
                  <a:schemeClr val="accent2"/>
                </a:solidFill>
              </a:rPr>
              <a:t>venv: a private package box</a:t>
            </a:r>
            <a:endParaRPr lang="en-US" sz="1600" dirty="0"/>
          </a:p>
        </p:txBody>
      </p:sp>
      <p:sp>
        <p:nvSpPr>
          <p:cNvPr id="18" name="Text 312"/>
          <p:cNvSpPr txBox="1"/>
          <p:nvPr/>
        </p:nvSpPr>
        <p:spPr>
          <a:xfrm>
            <a:off x="4754880" y="1463040"/>
            <a:ext cx="3931920" cy="640080"/>
          </a:xfrm>
          <a:prstGeom prst="rect">
            <a:avLst/>
          </a:prstGeom>
          <a:noFill/>
          <a:ln/>
        </p:spPr>
        <p:txBody>
          <a:bodyPr wrap="square" lIns="0" tIns="0" rIns="0" bIns="0" rtlCol="0" anchor="t"/>
          <a:lstStyle/>
          <a:p>
            <a:pPr marL="0" indent="0">
              <a:buNone/>
            </a:pPr>
            <a:r>
              <a:rPr lang="en-US" sz="1400" dirty="0">
                <a:solidFill>
                  <a:schemeClr val="tx1"/>
                </a:solidFill>
              </a:rPr>
              <a:t>Each project gets its own packages, so versions never clash between projects.</a:t>
            </a:r>
            <a:endParaRPr lang="en-US" sz="1400" dirty="0"/>
          </a:p>
        </p:txBody>
      </p:sp>
      <p:sp>
        <p:nvSpPr>
          <p:cNvPr id="19" name="Terminal 313"/>
          <p:cNvSpPr/>
          <p:nvPr/>
        </p:nvSpPr>
        <p:spPr>
          <a:xfrm>
            <a:off x="4754880" y="2194560"/>
            <a:ext cx="3931920" cy="1600200"/>
          </a:xfrm>
          <a:prstGeom prst="roundRect">
            <a:avLst>
              <a:gd name="adj" fmla="val 4571"/>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0" name="Dot 314"/>
          <p:cNvSpPr/>
          <p:nvPr/>
        </p:nvSpPr>
        <p:spPr>
          <a:xfrm>
            <a:off x="4901184" y="230428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1" name="Dot 315"/>
          <p:cNvSpPr/>
          <p:nvPr/>
        </p:nvSpPr>
        <p:spPr>
          <a:xfrm>
            <a:off x="5056632" y="230428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2" name="Dot 316"/>
          <p:cNvSpPr/>
          <p:nvPr/>
        </p:nvSpPr>
        <p:spPr>
          <a:xfrm>
            <a:off x="5212080" y="230428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3" name="Text 317"/>
          <p:cNvSpPr txBox="1"/>
          <p:nvPr/>
        </p:nvSpPr>
        <p:spPr>
          <a:xfrm>
            <a:off x="5440680" y="225856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virtual environment</a:t>
            </a:r>
            <a:endParaRPr lang="en-US" sz="1000" dirty="0"/>
          </a:p>
        </p:txBody>
      </p:sp>
      <p:sp>
        <p:nvSpPr>
          <p:cNvPr id="24" name="Code 318"/>
          <p:cNvSpPr txBox="1"/>
          <p:nvPr/>
        </p:nvSpPr>
        <p:spPr>
          <a:xfrm>
            <a:off x="4919472" y="2523744"/>
            <a:ext cx="3657600" cy="117957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python -m venv .venv</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.venv\Scripts\Activate.ps1</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(.venv) PS&gt; pip install -r ...</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(.venv) PS&gt; deactivate</a:t>
            </a:r>
            <a:endParaRPr lang="en-US" sz="1100" dirty="0"/>
          </a:p>
        </p:txBody>
      </p:sp>
      <p:sp>
        <p:nvSpPr>
          <p:cNvPr id="25" name="Text 319"/>
          <p:cNvSpPr txBox="1"/>
          <p:nvPr/>
        </p:nvSpPr>
        <p:spPr>
          <a:xfrm>
            <a:off x="4754880" y="3913632"/>
            <a:ext cx="3931920" cy="548640"/>
          </a:xfrm>
          <a:prstGeom prst="rect">
            <a:avLst/>
          </a:prstGeom>
          <a:noFill/>
          <a:ln/>
        </p:spPr>
        <p:txBody>
          <a:bodyPr wrap="square" lIns="0" tIns="0" rIns="0" bIns="0" rtlCol="0" anchor="t"/>
          <a:lstStyle/>
          <a:p>
            <a:pPr marL="0" indent="0">
              <a:buNone/>
            </a:pPr>
            <a:r>
              <a:rPr lang="en-US" sz="1200" b="1" dirty="0">
                <a:solidFill>
                  <a:schemeClr val="tx1"/>
                </a:solidFill>
              </a:rPr>
              <a:t>Blocked? Run once: </a:t>
            </a:r>
            <a:r>
              <a:rPr lang="en-US" sz="1200" dirty="0">
                <a:solidFill>
                  <a:schemeClr val="tx1"/>
                </a:solidFill>
                <a:latin typeface="Courier New" pitchFamily="34" charset="0"/>
                <a:ea typeface="Courier New" pitchFamily="34" charset="-122"/>
                <a:cs typeface="Courier New" pitchFamily="34" charset="-120"/>
              </a:rPr>
              <a:t>Set-ExecutionPolicy -Scope CurrentUser RemoteSigned</a:t>
            </a:r>
            <a:endParaRPr lang="en-US" sz="1200" dirty="0"/>
          </a:p>
        </p:txBody>
      </p:sp>
      <p:sp>
        <p:nvSpPr>
          <p:cNvPr id="26"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wipe(left)">
                                      <p:cBhvr>
                                        <p:cTn id="7" dur="350"/>
                                        <p:tgtEl>
                                          <p:spTgt spid="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wipe(down)">
                                      <p:cBhvr>
                                        <p:cTn id="17" dur="500"/>
                                        <p:tgtEl>
                                          <p:spTgt spid="9">
                                            <p:txEl>
                                              <p:pRg st="1" end="1"/>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5">
                                            <p:bg/>
                                          </p:spTgt>
                                        </p:tgtEl>
                                        <p:attrNameLst>
                                          <p:attrName>style.visibility</p:attrName>
                                        </p:attrNameLst>
                                      </p:cBhvr>
                                      <p:to>
                                        <p:strVal val="visible"/>
                                      </p:to>
                                    </p:set>
                                    <p:animEffect transition="in" filter="wipe(left)">
                                      <p:cBhvr>
                                        <p:cTn id="21" dur="350"/>
                                        <p:tgtEl>
                                          <p:spTgt spid="15">
                                            <p:bg/>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wipe(down)">
                                      <p:cBhvr>
                                        <p:cTn id="26" dur="500"/>
                                        <p:tgtEl>
                                          <p:spTgt spid="15">
                                            <p:txEl>
                                              <p:pRg st="0" end="0"/>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4">
                                            <p:bg/>
                                          </p:spTgt>
                                        </p:tgtEl>
                                        <p:attrNameLst>
                                          <p:attrName>style.visibility</p:attrName>
                                        </p:attrNameLst>
                                      </p:cBhvr>
                                      <p:to>
                                        <p:strVal val="visible"/>
                                      </p:to>
                                    </p:set>
                                    <p:animEffect transition="in" filter="wipe(left)">
                                      <p:cBhvr>
                                        <p:cTn id="30" dur="350"/>
                                        <p:tgtEl>
                                          <p:spTgt spid="24">
                                            <p:bg/>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animEffect transition="in" filter="wipe(down)">
                                      <p:cBhvr>
                                        <p:cTn id="35" dur="500"/>
                                        <p:tgtEl>
                                          <p:spTgt spid="24">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4">
                                            <p:txEl>
                                              <p:pRg st="1" end="1"/>
                                            </p:txEl>
                                          </p:spTgt>
                                        </p:tgtEl>
                                        <p:attrNameLst>
                                          <p:attrName>style.visibility</p:attrName>
                                        </p:attrNameLst>
                                      </p:cBhvr>
                                      <p:to>
                                        <p:strVal val="visible"/>
                                      </p:to>
                                    </p:set>
                                    <p:animEffect transition="in" filter="wipe(down)">
                                      <p:cBhvr>
                                        <p:cTn id="40" dur="500"/>
                                        <p:tgtEl>
                                          <p:spTgt spid="24">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4">
                                            <p:txEl>
                                              <p:pRg st="2" end="2"/>
                                            </p:txEl>
                                          </p:spTgt>
                                        </p:tgtEl>
                                        <p:attrNameLst>
                                          <p:attrName>style.visibility</p:attrName>
                                        </p:attrNameLst>
                                      </p:cBhvr>
                                      <p:to>
                                        <p:strVal val="visible"/>
                                      </p:to>
                                    </p:set>
                                    <p:animEffect transition="in" filter="wipe(down)">
                                      <p:cBhvr>
                                        <p:cTn id="45" dur="500"/>
                                        <p:tgtEl>
                                          <p:spTgt spid="24">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4">
                                            <p:txEl>
                                              <p:pRg st="3" end="3"/>
                                            </p:txEl>
                                          </p:spTgt>
                                        </p:tgtEl>
                                        <p:attrNameLst>
                                          <p:attrName>style.visibility</p:attrName>
                                        </p:attrNameLst>
                                      </p:cBhvr>
                                      <p:to>
                                        <p:strVal val="visible"/>
                                      </p:to>
                                    </p:set>
                                    <p:animEffect transition="in" filter="wipe(down)">
                                      <p:cBhvr>
                                        <p:cTn id="50" dur="5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5" grpId="0" build="p" animBg="1"/>
      <p:bldP spid="24"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lIns="0" tIns="0" rIns="0" bIns="0" rtlCol="0" anchor="b"/>
          <a:lstStyle/>
          <a:p>
            <a:pPr marL="0" indent="0">
              <a:buNone/>
            </a:pPr>
            <a:r>
              <a:rPr lang="en-US" sz="6000" b="1" dirty="0">
                <a:solidFill>
                  <a:schemeClr val="accent1"/>
                </a:solidFill>
              </a:rPr>
              <a:t>04</a:t>
            </a: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Git &amp; GitHub</a:t>
            </a:r>
            <a:endParaRPr lang="en-US" sz="4000" dirty="0"/>
          </a:p>
        </p:txBody>
      </p:sp>
      <p:sp>
        <p:nvSpPr>
          <p:cNvPr id="4" name="Text 0"/>
          <p:cNvSpPr>
            <a:spLocks noGrp="1"/>
          </p:cNvSpPr>
          <p:nvPr>
            <p:ph type="body" idx="102" hasCustomPrompt="1"/>
          </p:nvPr>
        </p:nvSpPr>
        <p:spPr>
          <a:xfrm>
            <a:off x="548640" y="2971800"/>
            <a:ext cx="7132320" cy="822960"/>
          </a:xfrm>
          <a:prstGeom prst="rect">
            <a:avLst/>
          </a:prstGeom>
          <a:noFill/>
          <a:ln/>
        </p:spPr>
        <p:txBody>
          <a:bodyPr wrap="square" lIns="0" tIns="0" rIns="0" bIns="0" rtlCol="0" anchor="t"/>
          <a:lstStyle/>
          <a:p>
            <a:pPr marL="0" indent="0">
              <a:buNone/>
            </a:pPr>
            <a:r>
              <a:rPr lang="en-US" sz="1800" dirty="0">
                <a:solidFill>
                  <a:schemeClr val="bg2"/>
                </a:solidFill>
              </a:rPr>
              <a:t>Track versions, share code, and download projects</a:t>
            </a:r>
            <a:endParaRPr lang="en-US" sz="1800" dirty="0"/>
          </a:p>
        </p:txBody>
      </p:sp>
      <p:sp>
        <p:nvSpPr>
          <p:cNvPr id="5" name="Text 0"/>
          <p:cNvSpPr>
            <a:spLocks noGrp="1"/>
          </p:cNvSpPr>
          <p:nvPr>
            <p:ph type="body" idx="103" hasCustomPrompt="1"/>
          </p:nvPr>
        </p:nvSpPr>
        <p:spPr>
          <a:xfrm>
            <a:off x="548640" y="4069080"/>
            <a:ext cx="8046720" cy="365760"/>
          </a:xfrm>
          <a:prstGeom prst="rect">
            <a:avLst/>
          </a:prstGeom>
          <a:noFill/>
          <a:ln/>
        </p:spPr>
        <p:txBody>
          <a:bodyPr wrap="square" lIns="0" tIns="0" rIns="0" bIns="0" rtlCol="0" anchor="t"/>
          <a:lstStyle/>
          <a:p>
            <a:pPr marL="0" indent="0">
              <a:buNone/>
            </a:pPr>
            <a:r>
              <a:rPr lang="en-US" sz="1400" dirty="0">
                <a:solidFill>
                  <a:schemeClr val="accent5"/>
                </a:solidFill>
              </a:rPr>
              <a:t>Parts 10–12 · Git · GitHub · Cloning</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800">
        <p14:honeycomb/>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Git: A Time Machine for Code</a:t>
            </a:r>
            <a:endParaRPr lang="en-US" sz="3200" dirty="0"/>
          </a:p>
        </p:txBody>
      </p:sp>
      <p:sp>
        <p:nvSpPr>
          <p:cNvPr id="3" name="Text 320"/>
          <p:cNvSpPr txBox="1"/>
          <p:nvPr/>
        </p:nvSpPr>
        <p:spPr>
          <a:xfrm>
            <a:off x="457200" y="1097280"/>
            <a:ext cx="8229600" cy="594360"/>
          </a:xfrm>
          <a:prstGeom prst="rect">
            <a:avLst/>
          </a:prstGeom>
          <a:noFill/>
          <a:ln/>
        </p:spPr>
        <p:txBody>
          <a:bodyPr wrap="square" lIns="0" tIns="0" rIns="0" bIns="0" rtlCol="0" anchor="t"/>
          <a:lstStyle/>
          <a:p>
            <a:pPr marL="0" indent="0">
              <a:buNone/>
            </a:pPr>
            <a:r>
              <a:rPr lang="en-US" sz="1500" dirty="0">
                <a:solidFill>
                  <a:schemeClr val="tx1"/>
                </a:solidFill>
              </a:rPr>
              <a:t>Git is a version control system. It records snapshots of a project folder so you can see what changed, go back in time, and collaborate safely.</a:t>
            </a:r>
            <a:endParaRPr lang="en-US" sz="1500" dirty="0"/>
          </a:p>
        </p:txBody>
      </p:sp>
      <p:sp>
        <p:nvSpPr>
          <p:cNvPr id="4" name="Card 321"/>
          <p:cNvSpPr/>
          <p:nvPr/>
        </p:nvSpPr>
        <p:spPr>
          <a:xfrm>
            <a:off x="457200" y="18288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5" name="Text 322"/>
          <p:cNvSpPr txBox="1"/>
          <p:nvPr/>
        </p:nvSpPr>
        <p:spPr>
          <a:xfrm>
            <a:off x="621792" y="19385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Repository</a:t>
            </a:r>
            <a:endParaRPr lang="en-US" sz="1600" dirty="0"/>
          </a:p>
        </p:txBody>
      </p:sp>
      <p:sp>
        <p:nvSpPr>
          <p:cNvPr id="6" name="Text 323"/>
          <p:cNvSpPr txBox="1"/>
          <p:nvPr/>
        </p:nvSpPr>
        <p:spPr>
          <a:xfrm>
            <a:off x="621792" y="2286000"/>
            <a:ext cx="2286000" cy="731520"/>
          </a:xfrm>
          <a:prstGeom prst="rect">
            <a:avLst/>
          </a:prstGeom>
          <a:noFill/>
          <a:ln/>
        </p:spPr>
        <p:txBody>
          <a:bodyPr wrap="square" lIns="0" tIns="0" rIns="0" bIns="0" rtlCol="0" anchor="t"/>
          <a:lstStyle/>
          <a:p>
            <a:pPr marL="0" indent="0">
              <a:buNone/>
            </a:pPr>
            <a:r>
              <a:rPr lang="en-US" sz="1400" dirty="0">
                <a:solidFill>
                  <a:schemeClr val="tx1"/>
                </a:solidFill>
              </a:rPr>
              <a:t>A folder Git tracks. History lives in a hidden .git folder.</a:t>
            </a:r>
            <a:endParaRPr lang="en-US" sz="1400" dirty="0"/>
          </a:p>
        </p:txBody>
      </p:sp>
      <p:sp>
        <p:nvSpPr>
          <p:cNvPr id="7" name="Card 324"/>
          <p:cNvSpPr/>
          <p:nvPr/>
        </p:nvSpPr>
        <p:spPr>
          <a:xfrm>
            <a:off x="3264408" y="18288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8" name="Text 325"/>
          <p:cNvSpPr txBox="1"/>
          <p:nvPr/>
        </p:nvSpPr>
        <p:spPr>
          <a:xfrm>
            <a:off x="3429000" y="19385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Commit</a:t>
            </a:r>
            <a:endParaRPr lang="en-US" sz="1600" dirty="0"/>
          </a:p>
        </p:txBody>
      </p:sp>
      <p:sp>
        <p:nvSpPr>
          <p:cNvPr id="9" name="Text 326"/>
          <p:cNvSpPr txBox="1"/>
          <p:nvPr/>
        </p:nvSpPr>
        <p:spPr>
          <a:xfrm>
            <a:off x="3429000" y="2286000"/>
            <a:ext cx="2286000" cy="731520"/>
          </a:xfrm>
          <a:prstGeom prst="rect">
            <a:avLst/>
          </a:prstGeom>
          <a:noFill/>
          <a:ln/>
        </p:spPr>
        <p:txBody>
          <a:bodyPr wrap="square" lIns="0" tIns="0" rIns="0" bIns="0" rtlCol="0" anchor="t"/>
          <a:lstStyle/>
          <a:p>
            <a:pPr marL="0" indent="0">
              <a:buNone/>
            </a:pPr>
            <a:r>
              <a:rPr lang="en-US" sz="1400" dirty="0">
                <a:solidFill>
                  <a:schemeClr val="tx1"/>
                </a:solidFill>
              </a:rPr>
              <a:t>One saved snapshot plus a message describing it.</a:t>
            </a:r>
            <a:endParaRPr lang="en-US" sz="1400" dirty="0"/>
          </a:p>
        </p:txBody>
      </p:sp>
      <p:sp>
        <p:nvSpPr>
          <p:cNvPr id="10" name="Card 327"/>
          <p:cNvSpPr/>
          <p:nvPr/>
        </p:nvSpPr>
        <p:spPr>
          <a:xfrm>
            <a:off x="6071616" y="18288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11" name="Text 328"/>
          <p:cNvSpPr txBox="1"/>
          <p:nvPr/>
        </p:nvSpPr>
        <p:spPr>
          <a:xfrm>
            <a:off x="6236208" y="19385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Staging</a:t>
            </a:r>
            <a:endParaRPr lang="en-US" sz="1600" dirty="0"/>
          </a:p>
        </p:txBody>
      </p:sp>
      <p:sp>
        <p:nvSpPr>
          <p:cNvPr id="12" name="Text 329"/>
          <p:cNvSpPr txBox="1"/>
          <p:nvPr/>
        </p:nvSpPr>
        <p:spPr>
          <a:xfrm>
            <a:off x="6236208" y="2286000"/>
            <a:ext cx="2286000" cy="731520"/>
          </a:xfrm>
          <a:prstGeom prst="rect">
            <a:avLst/>
          </a:prstGeom>
          <a:noFill/>
          <a:ln/>
        </p:spPr>
        <p:txBody>
          <a:bodyPr wrap="square" lIns="0" tIns="0" rIns="0" bIns="0" rtlCol="0" anchor="t"/>
          <a:lstStyle/>
          <a:p>
            <a:pPr marL="0" indent="0">
              <a:buNone/>
            </a:pPr>
            <a:r>
              <a:rPr lang="en-US" sz="1400" dirty="0">
                <a:solidFill>
                  <a:schemeClr val="tx1"/>
                </a:solidFill>
              </a:rPr>
              <a:t>Choosing which changes go into the next commit.</a:t>
            </a:r>
            <a:endParaRPr lang="en-US" sz="1400" dirty="0"/>
          </a:p>
        </p:txBody>
      </p:sp>
      <p:sp>
        <p:nvSpPr>
          <p:cNvPr id="13" name="Card 330"/>
          <p:cNvSpPr/>
          <p:nvPr/>
        </p:nvSpPr>
        <p:spPr>
          <a:xfrm>
            <a:off x="457200" y="32004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14" name="Text 331"/>
          <p:cNvSpPr txBox="1"/>
          <p:nvPr/>
        </p:nvSpPr>
        <p:spPr>
          <a:xfrm>
            <a:off x="621792" y="33101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Branch</a:t>
            </a:r>
            <a:endParaRPr lang="en-US" sz="1600" dirty="0"/>
          </a:p>
        </p:txBody>
      </p:sp>
      <p:sp>
        <p:nvSpPr>
          <p:cNvPr id="15" name="Text 332"/>
          <p:cNvSpPr txBox="1"/>
          <p:nvPr/>
        </p:nvSpPr>
        <p:spPr>
          <a:xfrm>
            <a:off x="621792" y="3657600"/>
            <a:ext cx="2286000" cy="731520"/>
          </a:xfrm>
          <a:prstGeom prst="rect">
            <a:avLst/>
          </a:prstGeom>
          <a:noFill/>
          <a:ln/>
        </p:spPr>
        <p:txBody>
          <a:bodyPr wrap="square" lIns="0" tIns="0" rIns="0" bIns="0" rtlCol="0" anchor="t"/>
          <a:lstStyle/>
          <a:p>
            <a:pPr marL="0" indent="0">
              <a:buNone/>
            </a:pPr>
            <a:r>
              <a:rPr lang="en-US" sz="1400" dirty="0">
                <a:solidFill>
                  <a:schemeClr val="tx1"/>
                </a:solidFill>
              </a:rPr>
              <a:t>A separate line of work.</a:t>
            </a:r>
            <a:endParaRPr lang="en-US" sz="1400" dirty="0"/>
          </a:p>
        </p:txBody>
      </p:sp>
      <p:sp>
        <p:nvSpPr>
          <p:cNvPr id="16" name="Card 333"/>
          <p:cNvSpPr/>
          <p:nvPr/>
        </p:nvSpPr>
        <p:spPr>
          <a:xfrm>
            <a:off x="3264408" y="32004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17" name="Text 334"/>
          <p:cNvSpPr txBox="1"/>
          <p:nvPr/>
        </p:nvSpPr>
        <p:spPr>
          <a:xfrm>
            <a:off x="3429000" y="33101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Clone</a:t>
            </a:r>
            <a:endParaRPr lang="en-US" sz="1600" dirty="0"/>
          </a:p>
        </p:txBody>
      </p:sp>
      <p:sp>
        <p:nvSpPr>
          <p:cNvPr id="18" name="Text 335"/>
          <p:cNvSpPr txBox="1"/>
          <p:nvPr/>
        </p:nvSpPr>
        <p:spPr>
          <a:xfrm>
            <a:off x="3429000" y="3657600"/>
            <a:ext cx="2286000" cy="731520"/>
          </a:xfrm>
          <a:prstGeom prst="rect">
            <a:avLst/>
          </a:prstGeom>
          <a:noFill/>
          <a:ln/>
        </p:spPr>
        <p:txBody>
          <a:bodyPr wrap="square" lIns="0" tIns="0" rIns="0" bIns="0" rtlCol="0" anchor="t"/>
          <a:lstStyle/>
          <a:p>
            <a:pPr marL="0" indent="0">
              <a:buNone/>
            </a:pPr>
            <a:r>
              <a:rPr lang="en-US" sz="1400" dirty="0">
                <a:solidFill>
                  <a:schemeClr val="tx1"/>
                </a:solidFill>
              </a:rPr>
              <a:t>A full copy of an existing repo, with all its history.</a:t>
            </a:r>
            <a:endParaRPr lang="en-US" sz="1400" dirty="0"/>
          </a:p>
        </p:txBody>
      </p:sp>
      <p:sp>
        <p:nvSpPr>
          <p:cNvPr id="19" name="Card 336"/>
          <p:cNvSpPr/>
          <p:nvPr/>
        </p:nvSpPr>
        <p:spPr>
          <a:xfrm>
            <a:off x="6071616" y="3200400"/>
            <a:ext cx="2606040" cy="1234440"/>
          </a:xfrm>
          <a:prstGeom prst="roundRect">
            <a:avLst>
              <a:gd name="adj" fmla="val 5926"/>
            </a:avLst>
          </a:prstGeom>
          <a:solidFill>
            <a:schemeClr val="bg2"/>
          </a:solidFill>
          <a:ln w="12700">
            <a:solidFill>
              <a:schemeClr val="bg2"/>
            </a:solidFill>
            <a:prstDash val="solid"/>
          </a:ln>
        </p:spPr>
        <p:txBody>
          <a:bodyPr/>
          <a:lstStyle/>
          <a:p>
            <a:endParaRPr lang="en-ZM"/>
          </a:p>
        </p:txBody>
      </p:sp>
      <p:sp>
        <p:nvSpPr>
          <p:cNvPr id="20" name="Text 337"/>
          <p:cNvSpPr txBox="1"/>
          <p:nvPr/>
        </p:nvSpPr>
        <p:spPr>
          <a:xfrm>
            <a:off x="6236208" y="3310128"/>
            <a:ext cx="2286000" cy="320040"/>
          </a:xfrm>
          <a:prstGeom prst="rect">
            <a:avLst/>
          </a:prstGeom>
          <a:noFill/>
          <a:ln/>
        </p:spPr>
        <p:txBody>
          <a:bodyPr wrap="square" lIns="0" tIns="0" rIns="0" bIns="0" rtlCol="0" anchor="t"/>
          <a:lstStyle/>
          <a:p>
            <a:pPr marL="0" indent="0">
              <a:buNone/>
            </a:pPr>
            <a:r>
              <a:rPr lang="en-US" sz="1600" b="1" dirty="0">
                <a:solidFill>
                  <a:schemeClr val="accent2"/>
                </a:solidFill>
              </a:rPr>
              <a:t>Remote</a:t>
            </a:r>
            <a:endParaRPr lang="en-US" sz="1600" dirty="0"/>
          </a:p>
        </p:txBody>
      </p:sp>
      <p:sp>
        <p:nvSpPr>
          <p:cNvPr id="21" name="Text 338"/>
          <p:cNvSpPr txBox="1"/>
          <p:nvPr/>
        </p:nvSpPr>
        <p:spPr>
          <a:xfrm>
            <a:off x="6236208" y="3657600"/>
            <a:ext cx="2286000" cy="731520"/>
          </a:xfrm>
          <a:prstGeom prst="rect">
            <a:avLst/>
          </a:prstGeom>
          <a:noFill/>
          <a:ln/>
        </p:spPr>
        <p:txBody>
          <a:bodyPr wrap="square" lIns="0" tIns="0" rIns="0" bIns="0" rtlCol="0" anchor="t"/>
          <a:lstStyle/>
          <a:p>
            <a:pPr marL="0" indent="0">
              <a:buNone/>
            </a:pPr>
            <a:r>
              <a:rPr lang="en-US" sz="1400" dirty="0">
                <a:solidFill>
                  <a:schemeClr val="tx1"/>
                </a:solidFill>
              </a:rPr>
              <a:t>The online copy, usually named origin.</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The Git Workflow</a:t>
            </a:r>
            <a:endParaRPr lang="en-US" sz="3200" dirty="0"/>
          </a:p>
        </p:txBody>
      </p:sp>
      <p:sp>
        <p:nvSpPr>
          <p:cNvPr id="3" name="Card 339"/>
          <p:cNvSpPr/>
          <p:nvPr/>
        </p:nvSpPr>
        <p:spPr>
          <a:xfrm>
            <a:off x="457200" y="1143000"/>
            <a:ext cx="1737360" cy="640080"/>
          </a:xfrm>
          <a:prstGeom prst="roundRect">
            <a:avLst>
              <a:gd name="adj" fmla="val 11429"/>
            </a:avLst>
          </a:prstGeom>
          <a:solidFill>
            <a:schemeClr val="accent2"/>
          </a:solidFill>
          <a:ln w="12700">
            <a:solidFill>
              <a:schemeClr val="accent2"/>
            </a:solidFill>
            <a:prstDash val="solid"/>
          </a:ln>
        </p:spPr>
        <p:txBody>
          <a:bodyPr/>
          <a:lstStyle/>
          <a:p>
            <a:endParaRPr lang="en-ZM"/>
          </a:p>
        </p:txBody>
      </p:sp>
      <p:sp>
        <p:nvSpPr>
          <p:cNvPr id="4" name="Text 340"/>
          <p:cNvSpPr txBox="1"/>
          <p:nvPr/>
        </p:nvSpPr>
        <p:spPr>
          <a:xfrm>
            <a:off x="457200" y="1143000"/>
            <a:ext cx="1737360" cy="640080"/>
          </a:xfrm>
          <a:prstGeom prst="rect">
            <a:avLst/>
          </a:prstGeom>
          <a:noFill/>
          <a:ln/>
        </p:spPr>
        <p:txBody>
          <a:bodyPr wrap="square" lIns="0" tIns="0" rIns="0" bIns="0" rtlCol="0" anchor="ctr"/>
          <a:lstStyle/>
          <a:p>
            <a:pPr marL="0" indent="0" algn="ctr">
              <a:buNone/>
            </a:pPr>
            <a:r>
              <a:rPr lang="en-US" sz="1500" b="1" dirty="0">
                <a:solidFill>
                  <a:schemeClr val="bg1"/>
                </a:solidFill>
              </a:rPr>
              <a:t>Edit files</a:t>
            </a:r>
            <a:endParaRPr lang="en-US" sz="1500" dirty="0"/>
          </a:p>
        </p:txBody>
      </p:sp>
      <p:sp>
        <p:nvSpPr>
          <p:cNvPr id="5" name="Text 341"/>
          <p:cNvSpPr txBox="1"/>
          <p:nvPr/>
        </p:nvSpPr>
        <p:spPr>
          <a:xfrm>
            <a:off x="457200" y="1828800"/>
            <a:ext cx="1737360" cy="274320"/>
          </a:xfrm>
          <a:prstGeom prst="rect">
            <a:avLst/>
          </a:prstGeom>
          <a:noFill/>
          <a:ln/>
        </p:spPr>
        <p:txBody>
          <a:bodyPr wrap="square" lIns="0" tIns="0" rIns="0" bIns="0" rtlCol="0" anchor="t"/>
          <a:lstStyle/>
          <a:p>
            <a:pPr marL="0" indent="0" algn="ctr">
              <a:buNone/>
            </a:pPr>
            <a:r>
              <a:rPr lang="en-US" sz="1200" dirty="0">
                <a:solidFill>
                  <a:schemeClr val="tx2"/>
                </a:solidFill>
              </a:rPr>
              <a:t>working folder</a:t>
            </a:r>
            <a:endParaRPr lang="en-US" sz="1200" dirty="0"/>
          </a:p>
        </p:txBody>
      </p:sp>
      <p:sp>
        <p:nvSpPr>
          <p:cNvPr id="6" name="Arrow 342"/>
          <p:cNvSpPr/>
          <p:nvPr/>
        </p:nvSpPr>
        <p:spPr>
          <a:xfrm>
            <a:off x="2240280" y="1463040"/>
            <a:ext cx="338328" cy="0"/>
          </a:xfrm>
          <a:prstGeom prst="line">
            <a:avLst/>
          </a:prstGeom>
          <a:noFill/>
          <a:ln w="25400">
            <a:solidFill>
              <a:schemeClr val="accent5"/>
            </a:solidFill>
            <a:prstDash val="solid"/>
            <a:tailEnd type="triangle"/>
          </a:ln>
        </p:spPr>
        <p:txBody>
          <a:bodyPr/>
          <a:lstStyle/>
          <a:p>
            <a:endParaRPr lang="en-ZM"/>
          </a:p>
        </p:txBody>
      </p:sp>
      <p:sp>
        <p:nvSpPr>
          <p:cNvPr id="7" name="Card 343"/>
          <p:cNvSpPr/>
          <p:nvPr/>
        </p:nvSpPr>
        <p:spPr>
          <a:xfrm>
            <a:off x="2624328" y="1143000"/>
            <a:ext cx="1737360" cy="640080"/>
          </a:xfrm>
          <a:prstGeom prst="roundRect">
            <a:avLst>
              <a:gd name="adj" fmla="val 11429"/>
            </a:avLst>
          </a:prstGeom>
          <a:solidFill>
            <a:schemeClr val="accent2"/>
          </a:solidFill>
          <a:ln w="12700">
            <a:solidFill>
              <a:schemeClr val="accent2"/>
            </a:solidFill>
            <a:prstDash val="solid"/>
          </a:ln>
        </p:spPr>
        <p:txBody>
          <a:bodyPr/>
          <a:lstStyle/>
          <a:p>
            <a:endParaRPr lang="en-ZM"/>
          </a:p>
        </p:txBody>
      </p:sp>
      <p:sp>
        <p:nvSpPr>
          <p:cNvPr id="8" name="Text 344"/>
          <p:cNvSpPr txBox="1"/>
          <p:nvPr/>
        </p:nvSpPr>
        <p:spPr>
          <a:xfrm>
            <a:off x="2624328" y="1143000"/>
            <a:ext cx="1737360" cy="64008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git add</a:t>
            </a:r>
            <a:endParaRPr lang="en-US" sz="1500" dirty="0"/>
          </a:p>
        </p:txBody>
      </p:sp>
      <p:sp>
        <p:nvSpPr>
          <p:cNvPr id="9" name="Text 345"/>
          <p:cNvSpPr txBox="1"/>
          <p:nvPr/>
        </p:nvSpPr>
        <p:spPr>
          <a:xfrm>
            <a:off x="2624328" y="1828800"/>
            <a:ext cx="1737360" cy="274320"/>
          </a:xfrm>
          <a:prstGeom prst="rect">
            <a:avLst/>
          </a:prstGeom>
          <a:noFill/>
          <a:ln/>
        </p:spPr>
        <p:txBody>
          <a:bodyPr wrap="square" lIns="0" tIns="0" rIns="0" bIns="0" rtlCol="0" anchor="t"/>
          <a:lstStyle/>
          <a:p>
            <a:pPr marL="0" indent="0" algn="ctr">
              <a:buNone/>
            </a:pPr>
            <a:r>
              <a:rPr lang="en-US" sz="1200" dirty="0">
                <a:solidFill>
                  <a:schemeClr val="tx2"/>
                </a:solidFill>
              </a:rPr>
              <a:t>staging</a:t>
            </a:r>
            <a:endParaRPr lang="en-US" sz="1200" dirty="0"/>
          </a:p>
        </p:txBody>
      </p:sp>
      <p:sp>
        <p:nvSpPr>
          <p:cNvPr id="10" name="Arrow 346"/>
          <p:cNvSpPr/>
          <p:nvPr/>
        </p:nvSpPr>
        <p:spPr>
          <a:xfrm>
            <a:off x="4407408" y="1463040"/>
            <a:ext cx="338328" cy="0"/>
          </a:xfrm>
          <a:prstGeom prst="line">
            <a:avLst/>
          </a:prstGeom>
          <a:noFill/>
          <a:ln w="25400">
            <a:solidFill>
              <a:schemeClr val="accent5"/>
            </a:solidFill>
            <a:prstDash val="solid"/>
            <a:tailEnd type="triangle"/>
          </a:ln>
        </p:spPr>
        <p:txBody>
          <a:bodyPr/>
          <a:lstStyle/>
          <a:p>
            <a:endParaRPr lang="en-ZM"/>
          </a:p>
        </p:txBody>
      </p:sp>
      <p:sp>
        <p:nvSpPr>
          <p:cNvPr id="11" name="Card 347"/>
          <p:cNvSpPr/>
          <p:nvPr/>
        </p:nvSpPr>
        <p:spPr>
          <a:xfrm>
            <a:off x="4791456" y="1143000"/>
            <a:ext cx="1737360" cy="640080"/>
          </a:xfrm>
          <a:prstGeom prst="roundRect">
            <a:avLst>
              <a:gd name="adj" fmla="val 11429"/>
            </a:avLst>
          </a:prstGeom>
          <a:solidFill>
            <a:schemeClr val="accent2"/>
          </a:solidFill>
          <a:ln w="12700">
            <a:solidFill>
              <a:schemeClr val="accent2"/>
            </a:solidFill>
            <a:prstDash val="solid"/>
          </a:ln>
        </p:spPr>
        <p:txBody>
          <a:bodyPr/>
          <a:lstStyle/>
          <a:p>
            <a:endParaRPr lang="en-ZM"/>
          </a:p>
        </p:txBody>
      </p:sp>
      <p:sp>
        <p:nvSpPr>
          <p:cNvPr id="12" name="Text 348"/>
          <p:cNvSpPr txBox="1"/>
          <p:nvPr/>
        </p:nvSpPr>
        <p:spPr>
          <a:xfrm>
            <a:off x="4791456" y="1143000"/>
            <a:ext cx="1737360" cy="64008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git commit</a:t>
            </a:r>
            <a:endParaRPr lang="en-US" sz="1500" dirty="0"/>
          </a:p>
        </p:txBody>
      </p:sp>
      <p:sp>
        <p:nvSpPr>
          <p:cNvPr id="13" name="Text 349"/>
          <p:cNvSpPr txBox="1"/>
          <p:nvPr/>
        </p:nvSpPr>
        <p:spPr>
          <a:xfrm>
            <a:off x="4791456" y="1828800"/>
            <a:ext cx="1737360" cy="274320"/>
          </a:xfrm>
          <a:prstGeom prst="rect">
            <a:avLst/>
          </a:prstGeom>
          <a:noFill/>
          <a:ln/>
        </p:spPr>
        <p:txBody>
          <a:bodyPr wrap="square" lIns="0" tIns="0" rIns="0" bIns="0" rtlCol="0" anchor="t"/>
          <a:lstStyle/>
          <a:p>
            <a:pPr marL="0" indent="0" algn="ctr">
              <a:buNone/>
            </a:pPr>
            <a:r>
              <a:rPr lang="en-US" sz="1200" dirty="0">
                <a:solidFill>
                  <a:schemeClr val="tx2"/>
                </a:solidFill>
              </a:rPr>
              <a:t>history</a:t>
            </a:r>
            <a:endParaRPr lang="en-US" sz="1200" dirty="0"/>
          </a:p>
        </p:txBody>
      </p:sp>
      <p:sp>
        <p:nvSpPr>
          <p:cNvPr id="14" name="Arrow 350"/>
          <p:cNvSpPr/>
          <p:nvPr/>
        </p:nvSpPr>
        <p:spPr>
          <a:xfrm>
            <a:off x="6574536" y="1463040"/>
            <a:ext cx="338328" cy="0"/>
          </a:xfrm>
          <a:prstGeom prst="line">
            <a:avLst/>
          </a:prstGeom>
          <a:noFill/>
          <a:ln w="25400">
            <a:solidFill>
              <a:schemeClr val="accent5"/>
            </a:solidFill>
            <a:prstDash val="solid"/>
            <a:tailEnd type="triangle"/>
          </a:ln>
        </p:spPr>
        <p:txBody>
          <a:bodyPr/>
          <a:lstStyle/>
          <a:p>
            <a:endParaRPr lang="en-ZM"/>
          </a:p>
        </p:txBody>
      </p:sp>
      <p:sp>
        <p:nvSpPr>
          <p:cNvPr id="15" name="Card 351"/>
          <p:cNvSpPr/>
          <p:nvPr/>
        </p:nvSpPr>
        <p:spPr>
          <a:xfrm>
            <a:off x="6958584" y="1143000"/>
            <a:ext cx="1737360" cy="640080"/>
          </a:xfrm>
          <a:prstGeom prst="roundRect">
            <a:avLst>
              <a:gd name="adj" fmla="val 11429"/>
            </a:avLst>
          </a:prstGeom>
          <a:solidFill>
            <a:schemeClr val="accent3"/>
          </a:solidFill>
          <a:ln w="12700">
            <a:solidFill>
              <a:schemeClr val="accent3"/>
            </a:solidFill>
            <a:prstDash val="solid"/>
          </a:ln>
        </p:spPr>
        <p:txBody>
          <a:bodyPr/>
          <a:lstStyle/>
          <a:p>
            <a:endParaRPr lang="en-ZM"/>
          </a:p>
        </p:txBody>
      </p:sp>
      <p:sp>
        <p:nvSpPr>
          <p:cNvPr id="16" name="Text 352"/>
          <p:cNvSpPr txBox="1"/>
          <p:nvPr/>
        </p:nvSpPr>
        <p:spPr>
          <a:xfrm>
            <a:off x="6958584" y="1143000"/>
            <a:ext cx="1737360" cy="64008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git push</a:t>
            </a:r>
            <a:endParaRPr lang="en-US" sz="1500" dirty="0"/>
          </a:p>
        </p:txBody>
      </p:sp>
      <p:sp>
        <p:nvSpPr>
          <p:cNvPr id="17" name="Text 353"/>
          <p:cNvSpPr txBox="1"/>
          <p:nvPr/>
        </p:nvSpPr>
        <p:spPr>
          <a:xfrm>
            <a:off x="6958584" y="1828800"/>
            <a:ext cx="1737360" cy="274320"/>
          </a:xfrm>
          <a:prstGeom prst="rect">
            <a:avLst/>
          </a:prstGeom>
          <a:noFill/>
          <a:ln/>
        </p:spPr>
        <p:txBody>
          <a:bodyPr wrap="square" lIns="0" tIns="0" rIns="0" bIns="0" rtlCol="0" anchor="t"/>
          <a:lstStyle/>
          <a:p>
            <a:pPr marL="0" indent="0" algn="ctr">
              <a:buNone/>
            </a:pPr>
            <a:r>
              <a:rPr lang="en-US" sz="1200" dirty="0">
                <a:solidFill>
                  <a:schemeClr val="tx2"/>
                </a:solidFill>
              </a:rPr>
              <a:t>to GitHub</a:t>
            </a:r>
            <a:endParaRPr lang="en-US" sz="1200" dirty="0"/>
          </a:p>
        </p:txBody>
      </p:sp>
      <p:sp>
        <p:nvSpPr>
          <p:cNvPr id="18" name="Terminal 354"/>
          <p:cNvSpPr/>
          <p:nvPr/>
        </p:nvSpPr>
        <p:spPr>
          <a:xfrm>
            <a:off x="457200" y="2331720"/>
            <a:ext cx="3931920" cy="2148840"/>
          </a:xfrm>
          <a:prstGeom prst="roundRect">
            <a:avLst>
              <a:gd name="adj" fmla="val 3404"/>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9" name="Dot 355"/>
          <p:cNvSpPr/>
          <p:nvPr/>
        </p:nvSpPr>
        <p:spPr>
          <a:xfrm>
            <a:off x="603504" y="244144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0" name="Dot 356"/>
          <p:cNvSpPr/>
          <p:nvPr/>
        </p:nvSpPr>
        <p:spPr>
          <a:xfrm>
            <a:off x="758952" y="244144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1" name="Dot 357"/>
          <p:cNvSpPr/>
          <p:nvPr/>
        </p:nvSpPr>
        <p:spPr>
          <a:xfrm>
            <a:off x="914400" y="244144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2" name="Text 358"/>
          <p:cNvSpPr txBox="1"/>
          <p:nvPr/>
        </p:nvSpPr>
        <p:spPr>
          <a:xfrm>
            <a:off x="1143000" y="239572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one-time setup</a:t>
            </a:r>
            <a:endParaRPr lang="en-US" sz="1000" dirty="0"/>
          </a:p>
        </p:txBody>
      </p:sp>
      <p:sp>
        <p:nvSpPr>
          <p:cNvPr id="23" name="Code 359"/>
          <p:cNvSpPr txBox="1"/>
          <p:nvPr/>
        </p:nvSpPr>
        <p:spPr>
          <a:xfrm>
            <a:off x="621792" y="2660904"/>
            <a:ext cx="3657600" cy="172821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git --version</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config --global</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user.name "Your Name"</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config --global</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user.email "you@x.com"</a:t>
            </a:r>
            <a:endParaRPr lang="en-US" sz="1100" dirty="0"/>
          </a:p>
          <a:p>
            <a:pPr marL="0" indent="0">
              <a:buNone/>
            </a:pPr>
            <a:r>
              <a:rPr lang="en-US" sz="1100" dirty="0">
                <a:solidFill>
                  <a:schemeClr val="accent5"/>
                </a:solidFill>
                <a:latin typeface="Courier New" pitchFamily="34" charset="0"/>
                <a:ea typeface="Courier New" pitchFamily="34" charset="-122"/>
                <a:cs typeface="Courier New" pitchFamily="34" charset="-120"/>
              </a:rPr>
              <a:t># --global = all your repos</a:t>
            </a:r>
            <a:endParaRPr lang="en-US" sz="1100" dirty="0"/>
          </a:p>
        </p:txBody>
      </p:sp>
      <p:sp>
        <p:nvSpPr>
          <p:cNvPr id="24" name="Terminal 360"/>
          <p:cNvSpPr/>
          <p:nvPr/>
        </p:nvSpPr>
        <p:spPr>
          <a:xfrm>
            <a:off x="4754880" y="2331720"/>
            <a:ext cx="3931920" cy="2148840"/>
          </a:xfrm>
          <a:prstGeom prst="roundRect">
            <a:avLst>
              <a:gd name="adj" fmla="val 3404"/>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25" name="Dot 361"/>
          <p:cNvSpPr/>
          <p:nvPr/>
        </p:nvSpPr>
        <p:spPr>
          <a:xfrm>
            <a:off x="4901184" y="244144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26" name="Dot 362"/>
          <p:cNvSpPr/>
          <p:nvPr/>
        </p:nvSpPr>
        <p:spPr>
          <a:xfrm>
            <a:off x="5056632" y="244144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27" name="Dot 363"/>
          <p:cNvSpPr/>
          <p:nvPr/>
        </p:nvSpPr>
        <p:spPr>
          <a:xfrm>
            <a:off x="5212080" y="244144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28" name="Text 364"/>
          <p:cNvSpPr txBox="1"/>
          <p:nvPr/>
        </p:nvSpPr>
        <p:spPr>
          <a:xfrm>
            <a:off x="5440680" y="2395728"/>
            <a:ext cx="310896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practice</a:t>
            </a:r>
            <a:endParaRPr lang="en-US" sz="1000" dirty="0"/>
          </a:p>
        </p:txBody>
      </p:sp>
      <p:sp>
        <p:nvSpPr>
          <p:cNvPr id="29" name="Code 365"/>
          <p:cNvSpPr txBox="1"/>
          <p:nvPr/>
        </p:nvSpPr>
        <p:spPr>
          <a:xfrm>
            <a:off x="4919472" y="2660904"/>
            <a:ext cx="3657600" cy="172821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git init</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status</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add hello.py</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commit -m "Add hello"</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diff        # changes</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log --oneline</a:t>
            </a:r>
            <a:endParaRPr lang="en-US" sz="1100" dirty="0"/>
          </a:p>
        </p:txBody>
      </p:sp>
      <p:sp>
        <p:nvSpPr>
          <p:cNvPr id="30"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bg/>
                                          </p:spTgt>
                                        </p:tgtEl>
                                        <p:attrNameLst>
                                          <p:attrName>style.visibility</p:attrName>
                                        </p:attrNameLst>
                                      </p:cBhvr>
                                      <p:to>
                                        <p:strVal val="visible"/>
                                      </p:to>
                                    </p:set>
                                    <p:animEffect transition="in" filter="wipe(left)">
                                      <p:cBhvr>
                                        <p:cTn id="7" dur="350"/>
                                        <p:tgtEl>
                                          <p:spTgt spid="2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wipe(down)">
                                      <p:cBhvr>
                                        <p:cTn id="12" dur="500"/>
                                        <p:tgtEl>
                                          <p:spTgt spid="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3">
                                            <p:txEl>
                                              <p:pRg st="1" end="1"/>
                                            </p:txEl>
                                          </p:spTgt>
                                        </p:tgtEl>
                                        <p:attrNameLst>
                                          <p:attrName>style.visibility</p:attrName>
                                        </p:attrNameLst>
                                      </p:cBhvr>
                                      <p:to>
                                        <p:strVal val="visible"/>
                                      </p:to>
                                    </p:set>
                                    <p:animEffect transition="in" filter="wipe(down)">
                                      <p:cBhvr>
                                        <p:cTn id="17" dur="500"/>
                                        <p:tgtEl>
                                          <p:spTgt spid="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3">
                                            <p:txEl>
                                              <p:pRg st="2" end="2"/>
                                            </p:txEl>
                                          </p:spTgt>
                                        </p:tgtEl>
                                        <p:attrNameLst>
                                          <p:attrName>style.visibility</p:attrName>
                                        </p:attrNameLst>
                                      </p:cBhvr>
                                      <p:to>
                                        <p:strVal val="visible"/>
                                      </p:to>
                                    </p:set>
                                    <p:animEffect transition="in" filter="wipe(down)">
                                      <p:cBhvr>
                                        <p:cTn id="22" dur="500"/>
                                        <p:tgtEl>
                                          <p:spTgt spid="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3" end="3"/>
                                            </p:txEl>
                                          </p:spTgt>
                                        </p:tgtEl>
                                        <p:attrNameLst>
                                          <p:attrName>style.visibility</p:attrName>
                                        </p:attrNameLst>
                                      </p:cBhvr>
                                      <p:to>
                                        <p:strVal val="visible"/>
                                      </p:to>
                                    </p:set>
                                    <p:animEffect transition="in" filter="wipe(down)">
                                      <p:cBhvr>
                                        <p:cTn id="27" dur="500"/>
                                        <p:tgtEl>
                                          <p:spTgt spid="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3">
                                            <p:txEl>
                                              <p:pRg st="4" end="4"/>
                                            </p:txEl>
                                          </p:spTgt>
                                        </p:tgtEl>
                                        <p:attrNameLst>
                                          <p:attrName>style.visibility</p:attrName>
                                        </p:attrNameLst>
                                      </p:cBhvr>
                                      <p:to>
                                        <p:strVal val="visible"/>
                                      </p:to>
                                    </p:set>
                                    <p:animEffect transition="in" filter="wipe(down)">
                                      <p:cBhvr>
                                        <p:cTn id="32" dur="500"/>
                                        <p:tgtEl>
                                          <p:spTgt spid="2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3">
                                            <p:txEl>
                                              <p:pRg st="5" end="5"/>
                                            </p:txEl>
                                          </p:spTgt>
                                        </p:tgtEl>
                                        <p:attrNameLst>
                                          <p:attrName>style.visibility</p:attrName>
                                        </p:attrNameLst>
                                      </p:cBhvr>
                                      <p:to>
                                        <p:strVal val="visible"/>
                                      </p:to>
                                    </p:set>
                                    <p:animEffect transition="in" filter="wipe(down)">
                                      <p:cBhvr>
                                        <p:cTn id="37" dur="500"/>
                                        <p:tgtEl>
                                          <p:spTgt spid="23">
                                            <p:txEl>
                                              <p:pRg st="5" end="5"/>
                                            </p:txEl>
                                          </p:spTgt>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9">
                                            <p:bg/>
                                          </p:spTgt>
                                        </p:tgtEl>
                                        <p:attrNameLst>
                                          <p:attrName>style.visibility</p:attrName>
                                        </p:attrNameLst>
                                      </p:cBhvr>
                                      <p:to>
                                        <p:strVal val="visible"/>
                                      </p:to>
                                    </p:set>
                                    <p:animEffect transition="in" filter="wipe(left)">
                                      <p:cBhvr>
                                        <p:cTn id="41" dur="350"/>
                                        <p:tgtEl>
                                          <p:spTgt spid="29">
                                            <p:bg/>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9">
                                            <p:txEl>
                                              <p:pRg st="0" end="0"/>
                                            </p:txEl>
                                          </p:spTgt>
                                        </p:tgtEl>
                                        <p:attrNameLst>
                                          <p:attrName>style.visibility</p:attrName>
                                        </p:attrNameLst>
                                      </p:cBhvr>
                                      <p:to>
                                        <p:strVal val="visible"/>
                                      </p:to>
                                    </p:set>
                                    <p:animEffect transition="in" filter="wipe(down)">
                                      <p:cBhvr>
                                        <p:cTn id="46" dur="500"/>
                                        <p:tgtEl>
                                          <p:spTgt spid="29">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9">
                                            <p:txEl>
                                              <p:pRg st="1" end="1"/>
                                            </p:txEl>
                                          </p:spTgt>
                                        </p:tgtEl>
                                        <p:attrNameLst>
                                          <p:attrName>style.visibility</p:attrName>
                                        </p:attrNameLst>
                                      </p:cBhvr>
                                      <p:to>
                                        <p:strVal val="visible"/>
                                      </p:to>
                                    </p:set>
                                    <p:animEffect transition="in" filter="wipe(down)">
                                      <p:cBhvr>
                                        <p:cTn id="51" dur="500"/>
                                        <p:tgtEl>
                                          <p:spTgt spid="29">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9">
                                            <p:txEl>
                                              <p:pRg st="2" end="2"/>
                                            </p:txEl>
                                          </p:spTgt>
                                        </p:tgtEl>
                                        <p:attrNameLst>
                                          <p:attrName>style.visibility</p:attrName>
                                        </p:attrNameLst>
                                      </p:cBhvr>
                                      <p:to>
                                        <p:strVal val="visible"/>
                                      </p:to>
                                    </p:set>
                                    <p:animEffect transition="in" filter="wipe(down)">
                                      <p:cBhvr>
                                        <p:cTn id="56" dur="500"/>
                                        <p:tgtEl>
                                          <p:spTgt spid="29">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9">
                                            <p:txEl>
                                              <p:pRg st="3" end="3"/>
                                            </p:txEl>
                                          </p:spTgt>
                                        </p:tgtEl>
                                        <p:attrNameLst>
                                          <p:attrName>style.visibility</p:attrName>
                                        </p:attrNameLst>
                                      </p:cBhvr>
                                      <p:to>
                                        <p:strVal val="visible"/>
                                      </p:to>
                                    </p:set>
                                    <p:animEffect transition="in" filter="wipe(down)">
                                      <p:cBhvr>
                                        <p:cTn id="61" dur="500"/>
                                        <p:tgtEl>
                                          <p:spTgt spid="29">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29">
                                            <p:txEl>
                                              <p:pRg st="4" end="4"/>
                                            </p:txEl>
                                          </p:spTgt>
                                        </p:tgtEl>
                                        <p:attrNameLst>
                                          <p:attrName>style.visibility</p:attrName>
                                        </p:attrNameLst>
                                      </p:cBhvr>
                                      <p:to>
                                        <p:strVal val="visible"/>
                                      </p:to>
                                    </p:set>
                                    <p:animEffect transition="in" filter="wipe(down)">
                                      <p:cBhvr>
                                        <p:cTn id="66" dur="500"/>
                                        <p:tgtEl>
                                          <p:spTgt spid="29">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29">
                                            <p:txEl>
                                              <p:pRg st="5" end="5"/>
                                            </p:txEl>
                                          </p:spTgt>
                                        </p:tgtEl>
                                        <p:attrNameLst>
                                          <p:attrName>style.visibility</p:attrName>
                                        </p:attrNameLst>
                                      </p:cBhvr>
                                      <p:to>
                                        <p:strVal val="visible"/>
                                      </p:to>
                                    </p:set>
                                    <p:animEffect transition="in" filter="wipe(down)">
                                      <p:cBhvr>
                                        <p:cTn id="71" dur="500"/>
                                        <p:tgtEl>
                                          <p:spTgt spid="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animBg="1"/>
      <p:bldP spid="29"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Git vs GitHub</a:t>
            </a:r>
            <a:endParaRPr lang="en-US" sz="3200" dirty="0"/>
          </a:p>
        </p:txBody>
      </p:sp>
      <p:sp>
        <p:nvSpPr>
          <p:cNvPr id="3" name="Card 366"/>
          <p:cNvSpPr/>
          <p:nvPr/>
        </p:nvSpPr>
        <p:spPr>
          <a:xfrm>
            <a:off x="457200" y="1143000"/>
            <a:ext cx="393192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Text 367"/>
          <p:cNvSpPr txBox="1"/>
          <p:nvPr/>
        </p:nvSpPr>
        <p:spPr>
          <a:xfrm>
            <a:off x="640080" y="1252728"/>
            <a:ext cx="35661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Git</a:t>
            </a:r>
            <a:endParaRPr lang="en-US" sz="2000" dirty="0"/>
          </a:p>
        </p:txBody>
      </p:sp>
      <p:sp>
        <p:nvSpPr>
          <p:cNvPr id="5" name="Text 368"/>
          <p:cNvSpPr txBox="1"/>
          <p:nvPr/>
        </p:nvSpPr>
        <p:spPr>
          <a:xfrm>
            <a:off x="640080" y="1664208"/>
            <a:ext cx="3566160" cy="868680"/>
          </a:xfrm>
          <a:prstGeom prst="rect">
            <a:avLst/>
          </a:prstGeom>
          <a:noFill/>
          <a:ln/>
        </p:spPr>
        <p:txBody>
          <a:bodyPr wrap="square" lIns="0" tIns="0" rIns="0" bIns="0" rtlCol="0" anchor="t"/>
          <a:lstStyle/>
          <a:p>
            <a:pPr marL="0" indent="0">
              <a:spcAft>
                <a:spcPts val="400"/>
              </a:spcAft>
              <a:buNone/>
            </a:pPr>
            <a:r>
              <a:rPr lang="en-US" sz="1400" dirty="0">
                <a:solidFill>
                  <a:schemeClr val="tx1"/>
                </a:solidFill>
              </a:rPr>
              <a:t>A program on your computer that records versions.</a:t>
            </a:r>
            <a:endParaRPr lang="en-US" sz="1400" dirty="0"/>
          </a:p>
          <a:p>
            <a:pPr marL="0" indent="0">
              <a:spcAft>
                <a:spcPts val="400"/>
              </a:spcAft>
              <a:buNone/>
            </a:pPr>
            <a:r>
              <a:rPr lang="en-US" sz="1400" i="1" dirty="0">
                <a:solidFill>
                  <a:schemeClr val="tx2"/>
                </a:solidFill>
              </a:rPr>
              <a:t>Like your camera's photo history.</a:t>
            </a:r>
            <a:endParaRPr lang="en-US" sz="1400" dirty="0"/>
          </a:p>
        </p:txBody>
      </p:sp>
      <p:sp>
        <p:nvSpPr>
          <p:cNvPr id="6" name="Card 369"/>
          <p:cNvSpPr/>
          <p:nvPr/>
        </p:nvSpPr>
        <p:spPr>
          <a:xfrm>
            <a:off x="457200" y="2743200"/>
            <a:ext cx="3931920" cy="1737360"/>
          </a:xfrm>
          <a:prstGeom prst="roundRect">
            <a:avLst>
              <a:gd name="adj" fmla="val 4211"/>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ZM"/>
          </a:p>
        </p:txBody>
      </p:sp>
      <p:sp>
        <p:nvSpPr>
          <p:cNvPr id="7" name="Text 370"/>
          <p:cNvSpPr txBox="1"/>
          <p:nvPr/>
        </p:nvSpPr>
        <p:spPr>
          <a:xfrm>
            <a:off x="640080" y="2852928"/>
            <a:ext cx="3566160" cy="36576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GitHub</a:t>
            </a:r>
            <a:endParaRPr lang="en-US" sz="2000" dirty="0"/>
          </a:p>
        </p:txBody>
      </p:sp>
      <p:sp>
        <p:nvSpPr>
          <p:cNvPr id="8" name="Text 371"/>
          <p:cNvSpPr txBox="1"/>
          <p:nvPr/>
        </p:nvSpPr>
        <p:spPr>
          <a:xfrm>
            <a:off x="640080" y="3264408"/>
            <a:ext cx="3566160" cy="1143000"/>
          </a:xfrm>
          <a:prstGeom prst="rect">
            <a:avLst/>
          </a:prstGeom>
          <a:noFill/>
          <a:ln/>
        </p:spPr>
        <p:txBody>
          <a:bodyPr wrap="square" lIns="0" tIns="0" rIns="0" bIns="0" rtlCol="0" anchor="t"/>
          <a:lstStyle/>
          <a:p>
            <a:pPr marL="0" indent="0">
              <a:spcAft>
                <a:spcPts val="400"/>
              </a:spcAft>
              <a:buNone/>
            </a:pPr>
            <a:r>
              <a:rPr lang="en-US" sz="1400" dirty="0">
                <a:solidFill>
                  <a:schemeClr val="bg1"/>
                </a:solidFill>
              </a:rPr>
              <a:t>A website that hosts Git repos so people can share and collaborate. No account needed to download.</a:t>
            </a:r>
            <a:endParaRPr lang="en-US" sz="1400" dirty="0"/>
          </a:p>
          <a:p>
            <a:pPr marL="0" indent="0">
              <a:spcAft>
                <a:spcPts val="400"/>
              </a:spcAft>
              <a:buNone/>
            </a:pPr>
            <a:r>
              <a:rPr lang="en-US" sz="1400" i="1" dirty="0">
                <a:solidFill>
                  <a:schemeClr val="accent5"/>
                </a:solidFill>
              </a:rPr>
              <a:t>Like a photo-sharing site.</a:t>
            </a:r>
            <a:endParaRPr lang="en-US" sz="1400" dirty="0"/>
          </a:p>
        </p:txBody>
      </p:sp>
      <p:sp>
        <p:nvSpPr>
          <p:cNvPr id="9" name="Text 372"/>
          <p:cNvSpPr txBox="1"/>
          <p:nvPr/>
        </p:nvSpPr>
        <p:spPr>
          <a:xfrm>
            <a:off x="4754880" y="1143000"/>
            <a:ext cx="3931920" cy="320040"/>
          </a:xfrm>
          <a:prstGeom prst="rect">
            <a:avLst/>
          </a:prstGeom>
          <a:noFill/>
          <a:ln/>
        </p:spPr>
        <p:txBody>
          <a:bodyPr wrap="square" lIns="0" tIns="0" rIns="0" bIns="0" rtlCol="0" anchor="t"/>
          <a:lstStyle/>
          <a:p>
            <a:pPr marL="0" indent="0">
              <a:buNone/>
            </a:pPr>
            <a:r>
              <a:rPr lang="en-US" sz="1600" b="1" dirty="0">
                <a:solidFill>
                  <a:schemeClr val="accent2"/>
                </a:solidFill>
              </a:rPr>
              <a:t>Reading a repo page</a:t>
            </a:r>
            <a:endParaRPr lang="en-US" sz="1600" dirty="0"/>
          </a:p>
        </p:txBody>
      </p:sp>
      <p:sp>
        <p:nvSpPr>
          <p:cNvPr id="10" name="Badge 373"/>
          <p:cNvSpPr/>
          <p:nvPr/>
        </p:nvSpPr>
        <p:spPr>
          <a:xfrm>
            <a:off x="4754880" y="1609344"/>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11" name="Text 374"/>
          <p:cNvSpPr txBox="1"/>
          <p:nvPr/>
        </p:nvSpPr>
        <p:spPr>
          <a:xfrm>
            <a:off x="4754880" y="1609344"/>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1</a:t>
            </a:r>
            <a:endParaRPr lang="en-US" sz="1100" dirty="0"/>
          </a:p>
        </p:txBody>
      </p:sp>
      <p:sp>
        <p:nvSpPr>
          <p:cNvPr id="12" name="Text 375"/>
          <p:cNvSpPr txBox="1"/>
          <p:nvPr/>
        </p:nvSpPr>
        <p:spPr>
          <a:xfrm>
            <a:off x="5212080" y="1572768"/>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Owner / name</a:t>
            </a:r>
            <a:r>
              <a:rPr lang="en-US" sz="1400" dirty="0">
                <a:solidFill>
                  <a:schemeClr val="tx2"/>
                </a:solidFill>
              </a:rPr>
              <a:t>  ·  who made it</a:t>
            </a:r>
            <a:endParaRPr lang="en-US" sz="1400" dirty="0"/>
          </a:p>
        </p:txBody>
      </p:sp>
      <p:sp>
        <p:nvSpPr>
          <p:cNvPr id="13" name="Badge 376"/>
          <p:cNvSpPr/>
          <p:nvPr/>
        </p:nvSpPr>
        <p:spPr>
          <a:xfrm>
            <a:off x="4754880" y="2093976"/>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14" name="Text 377"/>
          <p:cNvSpPr txBox="1"/>
          <p:nvPr/>
        </p:nvSpPr>
        <p:spPr>
          <a:xfrm>
            <a:off x="4754880" y="2093976"/>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2</a:t>
            </a:r>
            <a:endParaRPr lang="en-US" sz="1100" dirty="0"/>
          </a:p>
        </p:txBody>
      </p:sp>
      <p:sp>
        <p:nvSpPr>
          <p:cNvPr id="15" name="Text 378"/>
          <p:cNvSpPr txBox="1"/>
          <p:nvPr/>
        </p:nvSpPr>
        <p:spPr>
          <a:xfrm>
            <a:off x="5212080" y="2057400"/>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File list</a:t>
            </a:r>
            <a:r>
              <a:rPr lang="en-US" sz="1400" dirty="0">
                <a:solidFill>
                  <a:schemeClr val="tx2"/>
                </a:solidFill>
              </a:rPr>
              <a:t>  ·  the project's files</a:t>
            </a:r>
            <a:endParaRPr lang="en-US" sz="1400" dirty="0"/>
          </a:p>
        </p:txBody>
      </p:sp>
      <p:sp>
        <p:nvSpPr>
          <p:cNvPr id="16" name="Badge 379"/>
          <p:cNvSpPr/>
          <p:nvPr/>
        </p:nvSpPr>
        <p:spPr>
          <a:xfrm>
            <a:off x="4754880" y="2578608"/>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17" name="Text 380"/>
          <p:cNvSpPr txBox="1"/>
          <p:nvPr/>
        </p:nvSpPr>
        <p:spPr>
          <a:xfrm>
            <a:off x="4754880" y="2578608"/>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3</a:t>
            </a:r>
            <a:endParaRPr lang="en-US" sz="1100" dirty="0"/>
          </a:p>
        </p:txBody>
      </p:sp>
      <p:sp>
        <p:nvSpPr>
          <p:cNvPr id="18" name="Text 381"/>
          <p:cNvSpPr txBox="1"/>
          <p:nvPr/>
        </p:nvSpPr>
        <p:spPr>
          <a:xfrm>
            <a:off x="5212080" y="2542032"/>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README</a:t>
            </a:r>
            <a:r>
              <a:rPr lang="en-US" sz="1400" dirty="0">
                <a:solidFill>
                  <a:schemeClr val="tx2"/>
                </a:solidFill>
              </a:rPr>
              <a:t>  ·  instructions; read it first</a:t>
            </a:r>
            <a:endParaRPr lang="en-US" sz="1400" dirty="0"/>
          </a:p>
        </p:txBody>
      </p:sp>
      <p:sp>
        <p:nvSpPr>
          <p:cNvPr id="19" name="Badge 382"/>
          <p:cNvSpPr/>
          <p:nvPr/>
        </p:nvSpPr>
        <p:spPr>
          <a:xfrm>
            <a:off x="4754880" y="3063240"/>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20" name="Text 383"/>
          <p:cNvSpPr txBox="1"/>
          <p:nvPr/>
        </p:nvSpPr>
        <p:spPr>
          <a:xfrm>
            <a:off x="4754880" y="3063240"/>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4</a:t>
            </a:r>
            <a:endParaRPr lang="en-US" sz="1100" dirty="0"/>
          </a:p>
        </p:txBody>
      </p:sp>
      <p:sp>
        <p:nvSpPr>
          <p:cNvPr id="21" name="Text 384"/>
          <p:cNvSpPr txBox="1"/>
          <p:nvPr/>
        </p:nvSpPr>
        <p:spPr>
          <a:xfrm>
            <a:off x="5212080" y="3026664"/>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Green Code button</a:t>
            </a:r>
            <a:r>
              <a:rPr lang="en-US" sz="1400" dirty="0">
                <a:solidFill>
                  <a:schemeClr val="tx2"/>
                </a:solidFill>
              </a:rPr>
              <a:t>  ·  download</a:t>
            </a:r>
            <a:endParaRPr lang="en-US" sz="1400" dirty="0"/>
          </a:p>
        </p:txBody>
      </p:sp>
      <p:sp>
        <p:nvSpPr>
          <p:cNvPr id="22" name="Badge 385"/>
          <p:cNvSpPr/>
          <p:nvPr/>
        </p:nvSpPr>
        <p:spPr>
          <a:xfrm>
            <a:off x="4754880" y="3547872"/>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23" name="Text 386"/>
          <p:cNvSpPr txBox="1"/>
          <p:nvPr/>
        </p:nvSpPr>
        <p:spPr>
          <a:xfrm>
            <a:off x="4754880" y="3547872"/>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5</a:t>
            </a:r>
            <a:endParaRPr lang="en-US" sz="1100" dirty="0"/>
          </a:p>
        </p:txBody>
      </p:sp>
      <p:sp>
        <p:nvSpPr>
          <p:cNvPr id="24" name="Text 387"/>
          <p:cNvSpPr txBox="1"/>
          <p:nvPr/>
        </p:nvSpPr>
        <p:spPr>
          <a:xfrm>
            <a:off x="5212080" y="3511296"/>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Issues</a:t>
            </a:r>
            <a:r>
              <a:rPr lang="en-US" sz="1400" dirty="0">
                <a:solidFill>
                  <a:schemeClr val="tx2"/>
                </a:solidFill>
              </a:rPr>
              <a:t>  ·  bug reports; check when stuck</a:t>
            </a:r>
            <a:endParaRPr lang="en-US" sz="1400" dirty="0"/>
          </a:p>
        </p:txBody>
      </p:sp>
      <p:sp>
        <p:nvSpPr>
          <p:cNvPr id="25" name="Badge 388"/>
          <p:cNvSpPr/>
          <p:nvPr/>
        </p:nvSpPr>
        <p:spPr>
          <a:xfrm>
            <a:off x="4754880" y="4032504"/>
            <a:ext cx="310896" cy="310896"/>
          </a:xfrm>
          <a:prstGeom prst="ellipse">
            <a:avLst/>
          </a:prstGeom>
          <a:solidFill>
            <a:schemeClr val="accent2"/>
          </a:solidFill>
          <a:ln w="12700">
            <a:solidFill>
              <a:schemeClr val="accent2"/>
            </a:solidFill>
            <a:prstDash val="solid"/>
          </a:ln>
        </p:spPr>
        <p:txBody>
          <a:bodyPr/>
          <a:lstStyle/>
          <a:p>
            <a:endParaRPr lang="en-ZM"/>
          </a:p>
        </p:txBody>
      </p:sp>
      <p:sp>
        <p:nvSpPr>
          <p:cNvPr id="26" name="Text 389"/>
          <p:cNvSpPr txBox="1"/>
          <p:nvPr/>
        </p:nvSpPr>
        <p:spPr>
          <a:xfrm>
            <a:off x="4754880" y="4032504"/>
            <a:ext cx="310896"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mbria" pitchFamily="34" charset="0"/>
                <a:ea typeface="Cambria" pitchFamily="34" charset="-122"/>
                <a:cs typeface="Cambria" pitchFamily="34" charset="-120"/>
              </a:rPr>
              <a:t>6</a:t>
            </a:r>
            <a:endParaRPr lang="en-US" sz="1100" dirty="0"/>
          </a:p>
        </p:txBody>
      </p:sp>
      <p:sp>
        <p:nvSpPr>
          <p:cNvPr id="27" name="Text 390"/>
          <p:cNvSpPr txBox="1"/>
          <p:nvPr/>
        </p:nvSpPr>
        <p:spPr>
          <a:xfrm>
            <a:off x="5212080" y="3995928"/>
            <a:ext cx="3474720" cy="384048"/>
          </a:xfrm>
          <a:prstGeom prst="rect">
            <a:avLst/>
          </a:prstGeom>
          <a:noFill/>
          <a:ln/>
        </p:spPr>
        <p:txBody>
          <a:bodyPr wrap="square" lIns="0" tIns="0" rIns="0" bIns="0" rtlCol="0" anchor="ctr"/>
          <a:lstStyle/>
          <a:p>
            <a:pPr marL="0" indent="0">
              <a:buNone/>
            </a:pPr>
            <a:r>
              <a:rPr lang="en-US" sz="1400" b="1" dirty="0">
                <a:solidFill>
                  <a:schemeClr val="tx1"/>
                </a:solidFill>
              </a:rPr>
              <a:t>Commits</a:t>
            </a:r>
            <a:r>
              <a:rPr lang="en-US" sz="1400" dirty="0">
                <a:solidFill>
                  <a:schemeClr val="tx2"/>
                </a:solidFill>
              </a:rPr>
              <a:t>  ·  the project's history</a:t>
            </a:r>
            <a:endParaRPr lang="en-US" sz="1400" dirty="0"/>
          </a:p>
        </p:txBody>
      </p:sp>
      <p:sp>
        <p:nvSpPr>
          <p:cNvPr id="28"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Getting the Code: ZIP or Clone</a:t>
            </a:r>
            <a:endParaRPr lang="en-US" sz="3200" dirty="0"/>
          </a:p>
        </p:txBody>
      </p:sp>
      <p:sp>
        <p:nvSpPr>
          <p:cNvPr id="3" name="Card 391"/>
          <p:cNvSpPr/>
          <p:nvPr/>
        </p:nvSpPr>
        <p:spPr>
          <a:xfrm>
            <a:off x="457200" y="1143000"/>
            <a:ext cx="3931920" cy="1828800"/>
          </a:xfrm>
          <a:prstGeom prst="roundRect">
            <a:avLst>
              <a:gd name="adj" fmla="val 4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Text 392"/>
          <p:cNvSpPr txBox="1"/>
          <p:nvPr/>
        </p:nvSpPr>
        <p:spPr>
          <a:xfrm>
            <a:off x="640080" y="1252728"/>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Download ZIP</a:t>
            </a:r>
            <a:endParaRPr lang="en-US" sz="1800" dirty="0"/>
          </a:p>
        </p:txBody>
      </p:sp>
      <p:sp>
        <p:nvSpPr>
          <p:cNvPr id="5" name="Text 393"/>
          <p:cNvSpPr txBox="1"/>
          <p:nvPr/>
        </p:nvSpPr>
        <p:spPr>
          <a:xfrm>
            <a:off x="640080" y="1645920"/>
            <a:ext cx="3566160" cy="320040"/>
          </a:xfrm>
          <a:prstGeom prst="rect">
            <a:avLst/>
          </a:prstGeom>
          <a:noFill/>
          <a:ln/>
        </p:spPr>
        <p:txBody>
          <a:bodyPr wrap="square" lIns="0" tIns="0" rIns="0" bIns="0" rtlCol="0" anchor="t"/>
          <a:lstStyle/>
          <a:p>
            <a:pPr marL="0" indent="0">
              <a:buNone/>
            </a:pPr>
            <a:r>
              <a:rPr lang="en-US" sz="1400" dirty="0">
                <a:solidFill>
                  <a:schemeClr val="tx2"/>
                </a:solidFill>
              </a:rPr>
              <a:t>Green Code button → Download ZIP → extract</a:t>
            </a:r>
            <a:endParaRPr lang="en-US" sz="1400" dirty="0"/>
          </a:p>
        </p:txBody>
      </p:sp>
      <p:sp>
        <p:nvSpPr>
          <p:cNvPr id="6" name="Text 394"/>
          <p:cNvSpPr txBox="1"/>
          <p:nvPr/>
        </p:nvSpPr>
        <p:spPr>
          <a:xfrm>
            <a:off x="640080" y="2057400"/>
            <a:ext cx="3566160" cy="822960"/>
          </a:xfrm>
          <a:prstGeom prst="rect">
            <a:avLst/>
          </a:prstGeom>
          <a:noFill/>
          <a:ln/>
        </p:spPr>
        <p:txBody>
          <a:bodyPr wrap="square" lIns="0" tIns="0" rIns="0" bIns="0" rtlCol="0" anchor="t"/>
          <a:lstStyle/>
          <a:p>
            <a:pPr marL="0" indent="0">
              <a:buNone/>
            </a:pPr>
            <a:r>
              <a:rPr lang="en-US" sz="1400" b="1" dirty="0">
                <a:solidFill>
                  <a:schemeClr val="accent3"/>
                </a:solidFill>
              </a:rPr>
              <a:t>✓  Quick, no Git needed</a:t>
            </a:r>
            <a:endParaRPr lang="en-US" sz="1400" dirty="0"/>
          </a:p>
          <a:p>
            <a:pPr marL="0" indent="0">
              <a:buNone/>
            </a:pPr>
            <a:r>
              <a:rPr lang="en-US" sz="1400" b="1" dirty="0">
                <a:solidFill>
                  <a:schemeClr val="accent4"/>
                </a:solidFill>
              </a:rPr>
              <a:t>✗  No history, no easy updates</a:t>
            </a:r>
            <a:endParaRPr lang="en-US" sz="1400" dirty="0"/>
          </a:p>
        </p:txBody>
      </p:sp>
      <p:sp>
        <p:nvSpPr>
          <p:cNvPr id="7" name="Card 395"/>
          <p:cNvSpPr/>
          <p:nvPr/>
        </p:nvSpPr>
        <p:spPr>
          <a:xfrm>
            <a:off x="4754880" y="1143000"/>
            <a:ext cx="3931920" cy="1828800"/>
          </a:xfrm>
          <a:prstGeom prst="roundRect">
            <a:avLst>
              <a:gd name="adj" fmla="val 4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8" name="Text 396"/>
          <p:cNvSpPr txBox="1"/>
          <p:nvPr/>
        </p:nvSpPr>
        <p:spPr>
          <a:xfrm>
            <a:off x="4937760" y="1252728"/>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git clone</a:t>
            </a:r>
            <a:endParaRPr lang="en-US" sz="1800" dirty="0"/>
          </a:p>
        </p:txBody>
      </p:sp>
      <p:sp>
        <p:nvSpPr>
          <p:cNvPr id="9" name="Text 397"/>
          <p:cNvSpPr txBox="1"/>
          <p:nvPr/>
        </p:nvSpPr>
        <p:spPr>
          <a:xfrm>
            <a:off x="4937760" y="1645920"/>
            <a:ext cx="3566160" cy="320040"/>
          </a:xfrm>
          <a:prstGeom prst="rect">
            <a:avLst/>
          </a:prstGeom>
          <a:noFill/>
          <a:ln/>
        </p:spPr>
        <p:txBody>
          <a:bodyPr wrap="square" lIns="0" tIns="0" rIns="0" bIns="0" rtlCol="0" anchor="t"/>
          <a:lstStyle/>
          <a:p>
            <a:pPr marL="0" indent="0">
              <a:buNone/>
            </a:pPr>
            <a:r>
              <a:rPr lang="en-US" sz="1400" dirty="0">
                <a:solidFill>
                  <a:schemeClr val="tx2"/>
                </a:solidFill>
              </a:rPr>
              <a:t>git clone &lt;url&gt; from a terminal</a:t>
            </a:r>
            <a:endParaRPr lang="en-US" sz="1400" dirty="0"/>
          </a:p>
        </p:txBody>
      </p:sp>
      <p:sp>
        <p:nvSpPr>
          <p:cNvPr id="10" name="Text 398"/>
          <p:cNvSpPr txBox="1"/>
          <p:nvPr/>
        </p:nvSpPr>
        <p:spPr>
          <a:xfrm>
            <a:off x="4937760" y="2057400"/>
            <a:ext cx="3566160" cy="822960"/>
          </a:xfrm>
          <a:prstGeom prst="rect">
            <a:avLst/>
          </a:prstGeom>
          <a:noFill/>
          <a:ln/>
        </p:spPr>
        <p:txBody>
          <a:bodyPr wrap="square" lIns="0" tIns="0" rIns="0" bIns="0" rtlCol="0" anchor="t"/>
          <a:lstStyle/>
          <a:p>
            <a:pPr marL="0" indent="0">
              <a:buNone/>
            </a:pPr>
            <a:r>
              <a:rPr lang="en-US" sz="1400" b="1" dirty="0">
                <a:solidFill>
                  <a:schemeClr val="accent3"/>
                </a:solidFill>
              </a:rPr>
              <a:t>✓  Full history</a:t>
            </a:r>
            <a:endParaRPr lang="en-US" sz="1400" dirty="0"/>
          </a:p>
          <a:p>
            <a:pPr marL="0" indent="0">
              <a:buNone/>
            </a:pPr>
            <a:r>
              <a:rPr lang="en-US" sz="1400" b="1" dirty="0">
                <a:solidFill>
                  <a:schemeClr val="accent3"/>
                </a:solidFill>
              </a:rPr>
              <a:t>✓  Update later with git pull</a:t>
            </a:r>
            <a:endParaRPr lang="en-US" sz="1400" dirty="0"/>
          </a:p>
        </p:txBody>
      </p:sp>
      <p:sp>
        <p:nvSpPr>
          <p:cNvPr id="11" name="Terminal 399"/>
          <p:cNvSpPr/>
          <p:nvPr/>
        </p:nvSpPr>
        <p:spPr>
          <a:xfrm>
            <a:off x="457200" y="3154680"/>
            <a:ext cx="8229600" cy="1325880"/>
          </a:xfrm>
          <a:prstGeom prst="roundRect">
            <a:avLst>
              <a:gd name="adj" fmla="val 551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12" name="Dot 400"/>
          <p:cNvSpPr/>
          <p:nvPr/>
        </p:nvSpPr>
        <p:spPr>
          <a:xfrm>
            <a:off x="603504" y="326440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13" name="Dot 401"/>
          <p:cNvSpPr/>
          <p:nvPr/>
        </p:nvSpPr>
        <p:spPr>
          <a:xfrm>
            <a:off x="758952" y="326440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14" name="Dot 402"/>
          <p:cNvSpPr/>
          <p:nvPr/>
        </p:nvSpPr>
        <p:spPr>
          <a:xfrm>
            <a:off x="914400" y="326440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15" name="Text 403"/>
          <p:cNvSpPr txBox="1"/>
          <p:nvPr/>
        </p:nvSpPr>
        <p:spPr>
          <a:xfrm>
            <a:off x="1143000" y="3218688"/>
            <a:ext cx="740664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cloning</a:t>
            </a:r>
            <a:endParaRPr lang="en-US" sz="1000" dirty="0"/>
          </a:p>
        </p:txBody>
      </p:sp>
      <p:sp>
        <p:nvSpPr>
          <p:cNvPr id="16" name="Code 404"/>
          <p:cNvSpPr txBox="1"/>
          <p:nvPr/>
        </p:nvSpPr>
        <p:spPr>
          <a:xfrm>
            <a:off x="621792" y="3483864"/>
            <a:ext cx="7955280" cy="90525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cd ~\Downloads\signal</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clone https://github.com/mossblaser/signal_for_android_decryption.git</a:t>
            </a:r>
            <a:endParaRPr lang="en-US" sz="1100" dirty="0"/>
          </a:p>
          <a:p>
            <a:pPr marL="0" indent="0">
              <a:buNone/>
            </a:pPr>
            <a:r>
              <a:rPr lang="en-US" sz="1100" dirty="0">
                <a:solidFill>
                  <a:schemeClr val="accent5"/>
                </a:solidFill>
                <a:latin typeface="Courier New" pitchFamily="34" charset="0"/>
                <a:ea typeface="Courier New" pitchFamily="34" charset="-122"/>
                <a:cs typeface="Courier New" pitchFamily="34" charset="-120"/>
              </a:rPr>
              <a:t># creates the folder signal_for_android_decryption</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git pull   # later: download any new commits</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bg/>
                                          </p:spTgt>
                                        </p:tgtEl>
                                        <p:attrNameLst>
                                          <p:attrName>style.visibility</p:attrName>
                                        </p:attrNameLst>
                                      </p:cBhvr>
                                      <p:to>
                                        <p:strVal val="visible"/>
                                      </p:to>
                                    </p:set>
                                    <p:animEffect transition="in" filter="wipe(left)">
                                      <p:cBhvr>
                                        <p:cTn id="7" dur="350"/>
                                        <p:tgtEl>
                                          <p:spTgt spid="1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down)">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wipe(down)">
                                      <p:cBhvr>
                                        <p:cTn id="17" dur="500"/>
                                        <p:tgtEl>
                                          <p:spTgt spid="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wipe(down)">
                                      <p:cBhvr>
                                        <p:cTn id="22" dur="500"/>
                                        <p:tgtEl>
                                          <p:spTgt spid="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6">
                                            <p:txEl>
                                              <p:pRg st="3" end="3"/>
                                            </p:txEl>
                                          </p:spTgt>
                                        </p:tgtEl>
                                        <p:attrNameLst>
                                          <p:attrName>style.visibility</p:attrName>
                                        </p:attrNameLst>
                                      </p:cBhvr>
                                      <p:to>
                                        <p:strVal val="visible"/>
                                      </p:to>
                                    </p:set>
                                    <p:animEffect transition="in" filter="wipe(down)">
                                      <p:cBhvr>
                                        <p:cTn id="27"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After Cloning: The Routine</a:t>
            </a:r>
            <a:endParaRPr lang="en-US" sz="3200" dirty="0"/>
          </a:p>
        </p:txBody>
      </p:sp>
      <p:sp>
        <p:nvSpPr>
          <p:cNvPr id="3" name="Badge 405"/>
          <p:cNvSpPr/>
          <p:nvPr/>
        </p:nvSpPr>
        <p:spPr>
          <a:xfrm>
            <a:off x="457200" y="117043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4" name="Text 406"/>
          <p:cNvSpPr txBox="1"/>
          <p:nvPr/>
        </p:nvSpPr>
        <p:spPr>
          <a:xfrm>
            <a:off x="457200" y="117043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5" name="Text 407"/>
          <p:cNvSpPr txBox="1"/>
          <p:nvPr/>
        </p:nvSpPr>
        <p:spPr>
          <a:xfrm>
            <a:off x="960120" y="114300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Go into the folder</a:t>
            </a:r>
            <a:endParaRPr lang="en-US" sz="1500" dirty="0"/>
          </a:p>
        </p:txBody>
      </p:sp>
      <p:sp>
        <p:nvSpPr>
          <p:cNvPr id="6" name="Text 408"/>
          <p:cNvSpPr txBox="1"/>
          <p:nvPr/>
        </p:nvSpPr>
        <p:spPr>
          <a:xfrm>
            <a:off x="960120" y="1490472"/>
            <a:ext cx="3429000" cy="3200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cd signal_for_android_decryption</a:t>
            </a:r>
            <a:endParaRPr lang="en-US" sz="1200" dirty="0"/>
          </a:p>
        </p:txBody>
      </p:sp>
      <p:sp>
        <p:nvSpPr>
          <p:cNvPr id="7" name="Badge 409"/>
          <p:cNvSpPr/>
          <p:nvPr/>
        </p:nvSpPr>
        <p:spPr>
          <a:xfrm>
            <a:off x="457200" y="199339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8" name="Text 410"/>
          <p:cNvSpPr txBox="1"/>
          <p:nvPr/>
        </p:nvSpPr>
        <p:spPr>
          <a:xfrm>
            <a:off x="457200" y="199339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9" name="Text 411"/>
          <p:cNvSpPr txBox="1"/>
          <p:nvPr/>
        </p:nvSpPr>
        <p:spPr>
          <a:xfrm>
            <a:off x="960120" y="196596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Look around</a:t>
            </a:r>
            <a:endParaRPr lang="en-US" sz="1500" dirty="0"/>
          </a:p>
        </p:txBody>
      </p:sp>
      <p:sp>
        <p:nvSpPr>
          <p:cNvPr id="10" name="Text 412"/>
          <p:cNvSpPr txBox="1"/>
          <p:nvPr/>
        </p:nvSpPr>
        <p:spPr>
          <a:xfrm>
            <a:off x="960120" y="2313432"/>
            <a:ext cx="3429000" cy="3200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ls</a:t>
            </a:r>
            <a:endParaRPr lang="en-US" sz="1200" dirty="0"/>
          </a:p>
        </p:txBody>
      </p:sp>
      <p:sp>
        <p:nvSpPr>
          <p:cNvPr id="11" name="Badge 413"/>
          <p:cNvSpPr/>
          <p:nvPr/>
        </p:nvSpPr>
        <p:spPr>
          <a:xfrm>
            <a:off x="457200" y="281635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12" name="Text 414"/>
          <p:cNvSpPr txBox="1"/>
          <p:nvPr/>
        </p:nvSpPr>
        <p:spPr>
          <a:xfrm>
            <a:off x="457200" y="281635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415"/>
          <p:cNvSpPr txBox="1"/>
          <p:nvPr/>
        </p:nvSpPr>
        <p:spPr>
          <a:xfrm>
            <a:off x="960120" y="278892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Read the README</a:t>
            </a:r>
            <a:endParaRPr lang="en-US" sz="1500" dirty="0"/>
          </a:p>
        </p:txBody>
      </p:sp>
      <p:sp>
        <p:nvSpPr>
          <p:cNvPr id="14" name="Text 416"/>
          <p:cNvSpPr txBox="1"/>
          <p:nvPr/>
        </p:nvSpPr>
        <p:spPr>
          <a:xfrm>
            <a:off x="960120" y="3136392"/>
            <a:ext cx="3429000" cy="3200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notepad README.md</a:t>
            </a:r>
            <a:endParaRPr lang="en-US" sz="1200" dirty="0"/>
          </a:p>
        </p:txBody>
      </p:sp>
      <p:sp>
        <p:nvSpPr>
          <p:cNvPr id="15" name="Badge 417"/>
          <p:cNvSpPr/>
          <p:nvPr/>
        </p:nvSpPr>
        <p:spPr>
          <a:xfrm>
            <a:off x="457200" y="363931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16" name="Text 418"/>
          <p:cNvSpPr txBox="1"/>
          <p:nvPr/>
        </p:nvSpPr>
        <p:spPr>
          <a:xfrm>
            <a:off x="457200" y="363931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17" name="Text 419"/>
          <p:cNvSpPr txBox="1"/>
          <p:nvPr/>
        </p:nvSpPr>
        <p:spPr>
          <a:xfrm>
            <a:off x="960120" y="361188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Check the Python version</a:t>
            </a:r>
            <a:endParaRPr lang="en-US" sz="1500" dirty="0"/>
          </a:p>
        </p:txBody>
      </p:sp>
      <p:sp>
        <p:nvSpPr>
          <p:cNvPr id="18" name="Text 420"/>
          <p:cNvSpPr txBox="1"/>
          <p:nvPr/>
        </p:nvSpPr>
        <p:spPr>
          <a:xfrm>
            <a:off x="960120" y="3959352"/>
            <a:ext cx="3429000" cy="3200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python --version   (needs 3.7+)</a:t>
            </a:r>
            <a:endParaRPr lang="en-US" sz="1200" dirty="0"/>
          </a:p>
        </p:txBody>
      </p:sp>
      <p:sp>
        <p:nvSpPr>
          <p:cNvPr id="19" name="Badge 421"/>
          <p:cNvSpPr/>
          <p:nvPr/>
        </p:nvSpPr>
        <p:spPr>
          <a:xfrm>
            <a:off x="4754880" y="117043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20" name="Text 422"/>
          <p:cNvSpPr txBox="1"/>
          <p:nvPr/>
        </p:nvSpPr>
        <p:spPr>
          <a:xfrm>
            <a:off x="4754880" y="117043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21" name="Text 423"/>
          <p:cNvSpPr txBox="1"/>
          <p:nvPr/>
        </p:nvSpPr>
        <p:spPr>
          <a:xfrm>
            <a:off x="5257800" y="114300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Create &amp; activate a venv</a:t>
            </a:r>
            <a:endParaRPr lang="en-US" sz="1500" dirty="0"/>
          </a:p>
        </p:txBody>
      </p:sp>
      <p:sp>
        <p:nvSpPr>
          <p:cNvPr id="22" name="Text 424"/>
          <p:cNvSpPr txBox="1"/>
          <p:nvPr/>
        </p:nvSpPr>
        <p:spPr>
          <a:xfrm>
            <a:off x="5257800" y="1490472"/>
            <a:ext cx="3429000" cy="5486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python -m venv .venv</a:t>
            </a:r>
            <a:endParaRPr lang="en-US" sz="1200" dirty="0"/>
          </a:p>
          <a:p>
            <a:pPr marL="0" indent="0">
              <a:buNone/>
            </a:pPr>
            <a:r>
              <a:rPr lang="en-US" sz="1200" dirty="0">
                <a:solidFill>
                  <a:schemeClr val="accent2"/>
                </a:solidFill>
                <a:latin typeface="Courier New" pitchFamily="34" charset="0"/>
                <a:ea typeface="Courier New" pitchFamily="34" charset="-122"/>
                <a:cs typeface="Courier New" pitchFamily="34" charset="-120"/>
              </a:rPr>
              <a:t>.venv\Scripts\Activate.ps1</a:t>
            </a:r>
            <a:endParaRPr lang="en-US" sz="1200" dirty="0"/>
          </a:p>
        </p:txBody>
      </p:sp>
      <p:sp>
        <p:nvSpPr>
          <p:cNvPr id="23" name="Badge 425"/>
          <p:cNvSpPr/>
          <p:nvPr/>
        </p:nvSpPr>
        <p:spPr>
          <a:xfrm>
            <a:off x="4754880" y="222199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24" name="Text 426"/>
          <p:cNvSpPr txBox="1"/>
          <p:nvPr/>
        </p:nvSpPr>
        <p:spPr>
          <a:xfrm>
            <a:off x="4754880" y="222199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6</a:t>
            </a:r>
            <a:endParaRPr lang="en-US" sz="1400" dirty="0"/>
          </a:p>
        </p:txBody>
      </p:sp>
      <p:sp>
        <p:nvSpPr>
          <p:cNvPr id="25" name="Text 427"/>
          <p:cNvSpPr txBox="1"/>
          <p:nvPr/>
        </p:nvSpPr>
        <p:spPr>
          <a:xfrm>
            <a:off x="5257800" y="219456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Install dependencies</a:t>
            </a:r>
            <a:endParaRPr lang="en-US" sz="1500" dirty="0"/>
          </a:p>
        </p:txBody>
      </p:sp>
      <p:sp>
        <p:nvSpPr>
          <p:cNvPr id="26" name="Text 428"/>
          <p:cNvSpPr txBox="1"/>
          <p:nvPr/>
        </p:nvSpPr>
        <p:spPr>
          <a:xfrm>
            <a:off x="5257800" y="2542032"/>
            <a:ext cx="3429000" cy="320040"/>
          </a:xfrm>
          <a:prstGeom prst="rect">
            <a:avLst/>
          </a:prstGeom>
          <a:noFill/>
          <a:ln/>
        </p:spPr>
        <p:txBody>
          <a:bodyPr wrap="square" lIns="0" tIns="0" rIns="0" bIns="0" rtlCol="0" anchor="t"/>
          <a:lstStyle/>
          <a:p>
            <a:pPr marL="0" indent="0">
              <a:buNone/>
            </a:pPr>
            <a:r>
              <a:rPr lang="en-US" sz="1200" dirty="0">
                <a:solidFill>
                  <a:schemeClr val="accent2"/>
                </a:solidFill>
                <a:latin typeface="Courier New" pitchFamily="34" charset="0"/>
                <a:ea typeface="Courier New" pitchFamily="34" charset="-122"/>
                <a:cs typeface="Courier New" pitchFamily="34" charset="-120"/>
              </a:rPr>
              <a:t>pip install -r requirements.txt</a:t>
            </a:r>
            <a:endParaRPr lang="en-US" sz="1200" dirty="0"/>
          </a:p>
        </p:txBody>
      </p:sp>
      <p:sp>
        <p:nvSpPr>
          <p:cNvPr id="27" name="Badge 429"/>
          <p:cNvSpPr/>
          <p:nvPr/>
        </p:nvSpPr>
        <p:spPr>
          <a:xfrm>
            <a:off x="4754880" y="3044952"/>
            <a:ext cx="365760" cy="365760"/>
          </a:xfrm>
          <a:prstGeom prst="ellipse">
            <a:avLst/>
          </a:prstGeom>
          <a:solidFill>
            <a:schemeClr val="accent2"/>
          </a:solidFill>
          <a:ln w="12700">
            <a:solidFill>
              <a:schemeClr val="accent2"/>
            </a:solidFill>
            <a:prstDash val="solid"/>
          </a:ln>
        </p:spPr>
        <p:txBody>
          <a:bodyPr/>
          <a:lstStyle/>
          <a:p>
            <a:endParaRPr lang="en-ZM"/>
          </a:p>
        </p:txBody>
      </p:sp>
      <p:sp>
        <p:nvSpPr>
          <p:cNvPr id="28" name="Text 430"/>
          <p:cNvSpPr txBox="1"/>
          <p:nvPr/>
        </p:nvSpPr>
        <p:spPr>
          <a:xfrm>
            <a:off x="4754880" y="304495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7</a:t>
            </a:r>
            <a:endParaRPr lang="en-US" sz="1400" dirty="0"/>
          </a:p>
        </p:txBody>
      </p:sp>
      <p:sp>
        <p:nvSpPr>
          <p:cNvPr id="29" name="Text 431"/>
          <p:cNvSpPr txBox="1"/>
          <p:nvPr/>
        </p:nvSpPr>
        <p:spPr>
          <a:xfrm>
            <a:off x="5257800" y="3017520"/>
            <a:ext cx="3429000" cy="320040"/>
          </a:xfrm>
          <a:prstGeom prst="rect">
            <a:avLst/>
          </a:prstGeom>
          <a:noFill/>
          <a:ln/>
        </p:spPr>
        <p:txBody>
          <a:bodyPr wrap="square" lIns="0" tIns="0" rIns="0" bIns="0" rtlCol="0" anchor="ctr"/>
          <a:lstStyle/>
          <a:p>
            <a:pPr marL="0" indent="0">
              <a:buNone/>
            </a:pPr>
            <a:r>
              <a:rPr lang="en-US" sz="1500" b="1" dirty="0">
                <a:solidFill>
                  <a:schemeClr val="tx1"/>
                </a:solidFill>
              </a:rPr>
              <a:t>Run the main script</a:t>
            </a:r>
            <a:endParaRPr lang="en-US" sz="1500" dirty="0"/>
          </a:p>
        </p:txBody>
      </p:sp>
      <p:sp>
        <p:nvSpPr>
          <p:cNvPr id="30" name="Text 432"/>
          <p:cNvSpPr txBox="1"/>
          <p:nvPr/>
        </p:nvSpPr>
        <p:spPr>
          <a:xfrm>
            <a:off x="5257800" y="3364992"/>
            <a:ext cx="3429000" cy="320040"/>
          </a:xfrm>
          <a:prstGeom prst="rect">
            <a:avLst/>
          </a:prstGeom>
          <a:noFill/>
          <a:ln/>
        </p:spPr>
        <p:txBody>
          <a:bodyPr wrap="square" lIns="0" tIns="0" rIns="0" bIns="0" rtlCol="0" anchor="t"/>
          <a:lstStyle/>
          <a:p>
            <a:pPr marL="0" indent="0">
              <a:buNone/>
            </a:pPr>
            <a:r>
              <a:rPr lang="en-US" sz="1200" i="1" dirty="0">
                <a:solidFill>
                  <a:schemeClr val="accent2"/>
                </a:solidFill>
              </a:rPr>
              <a:t>exactly as the README says</a:t>
            </a:r>
            <a:endParaRPr lang="en-US" sz="1200" dirty="0"/>
          </a:p>
        </p:txBody>
      </p:sp>
      <p:sp>
        <p:nvSpPr>
          <p:cNvPr id="31" name="Card 433"/>
          <p:cNvSpPr/>
          <p:nvPr/>
        </p:nvSpPr>
        <p:spPr>
          <a:xfrm>
            <a:off x="4754880" y="3840480"/>
            <a:ext cx="3931920" cy="640080"/>
          </a:xfrm>
          <a:prstGeom prst="roundRect">
            <a:avLst>
              <a:gd name="adj" fmla="val 11429"/>
            </a:avLst>
          </a:prstGeom>
          <a:solidFill>
            <a:schemeClr val="accent1"/>
          </a:solidFill>
          <a:ln w="12700">
            <a:solidFill>
              <a:schemeClr val="accent1"/>
            </a:solidFill>
            <a:prstDash val="solid"/>
          </a:ln>
        </p:spPr>
        <p:txBody>
          <a:bodyPr/>
          <a:lstStyle/>
          <a:p>
            <a:endParaRPr lang="en-ZM"/>
          </a:p>
        </p:txBody>
      </p:sp>
      <p:sp>
        <p:nvSpPr>
          <p:cNvPr id="32" name="Text 434"/>
          <p:cNvSpPr txBox="1"/>
          <p:nvPr/>
        </p:nvSpPr>
        <p:spPr>
          <a:xfrm>
            <a:off x="4937760" y="3840480"/>
            <a:ext cx="3566160" cy="640080"/>
          </a:xfrm>
          <a:prstGeom prst="rect">
            <a:avLst/>
          </a:prstGeom>
          <a:noFill/>
          <a:ln/>
        </p:spPr>
        <p:txBody>
          <a:bodyPr wrap="square" lIns="0" tIns="0" rIns="0" bIns="0" rtlCol="0" anchor="ctr"/>
          <a:lstStyle/>
          <a:p>
            <a:pPr marL="0" indent="0">
              <a:buNone/>
            </a:pPr>
            <a:r>
              <a:rPr lang="en-US" sz="1400" b="1" dirty="0">
                <a:solidFill>
                  <a:schemeClr val="tx1"/>
                </a:solidFill>
              </a:rPr>
              <a:t>This routine works for almost any Python project on GitHub.</a:t>
            </a:r>
            <a:endParaRPr lang="en-US" sz="1400" dirty="0"/>
          </a:p>
        </p:txBody>
      </p:sp>
      <p:sp>
        <p:nvSpPr>
          <p:cNvPr id="33"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743200" cy="1097280"/>
          </a:xfrm>
          <a:prstGeom prst="rect">
            <a:avLst/>
          </a:prstGeom>
          <a:noFill/>
          <a:ln/>
        </p:spPr>
        <p:txBody>
          <a:bodyPr wrap="square" lIns="0" tIns="0" rIns="0" bIns="0" rtlCol="0" anchor="b"/>
          <a:lstStyle/>
          <a:p>
            <a:pPr marL="0" indent="0">
              <a:buNone/>
            </a:pPr>
            <a:r>
              <a:rPr lang="en-US" sz="6000" b="1" dirty="0">
                <a:solidFill>
                  <a:schemeClr val="accent1"/>
                </a:solidFill>
              </a:rPr>
              <a:t>05</a:t>
            </a:r>
            <a:endParaRPr lang="en-US" sz="6000" dirty="0"/>
          </a:p>
        </p:txBody>
      </p:sp>
      <p:sp>
        <p:nvSpPr>
          <p:cNvPr id="3" name="Text 0"/>
          <p:cNvSpPr>
            <a:spLocks noGrp="1"/>
          </p:cNvSpPr>
          <p:nvPr>
            <p:ph type="title" idx="101" hasCustomPrompt="1"/>
          </p:nvPr>
        </p:nvSpPr>
        <p:spPr>
          <a:xfrm>
            <a:off x="548640" y="210312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Final Task</a:t>
            </a:r>
            <a:endParaRPr lang="en-US" sz="4000" dirty="0"/>
          </a:p>
        </p:txBody>
      </p:sp>
      <p:sp>
        <p:nvSpPr>
          <p:cNvPr id="4" name="Text 0"/>
          <p:cNvSpPr>
            <a:spLocks noGrp="1"/>
          </p:cNvSpPr>
          <p:nvPr>
            <p:ph type="body" idx="102" hasCustomPrompt="1"/>
          </p:nvPr>
        </p:nvSpPr>
        <p:spPr>
          <a:xfrm>
            <a:off x="548640" y="2971800"/>
            <a:ext cx="7132320" cy="822960"/>
          </a:xfrm>
          <a:prstGeom prst="rect">
            <a:avLst/>
          </a:prstGeom>
          <a:noFill/>
          <a:ln/>
        </p:spPr>
        <p:txBody>
          <a:bodyPr wrap="square" lIns="0" tIns="0" rIns="0" bIns="0" rtlCol="0" anchor="t"/>
          <a:lstStyle/>
          <a:p>
            <a:pPr marL="0" indent="0">
              <a:buNone/>
            </a:pPr>
            <a:r>
              <a:rPr lang="en-US" sz="1800" dirty="0">
                <a:solidFill>
                  <a:schemeClr val="bg2"/>
                </a:solidFill>
              </a:rPr>
              <a:t>Unlock your own Signal Android backup, using everything so far</a:t>
            </a:r>
            <a:endParaRPr lang="en-US" sz="1800" dirty="0"/>
          </a:p>
        </p:txBody>
      </p:sp>
      <p:sp>
        <p:nvSpPr>
          <p:cNvPr id="5" name="Text 0"/>
          <p:cNvSpPr>
            <a:spLocks noGrp="1"/>
          </p:cNvSpPr>
          <p:nvPr>
            <p:ph type="body" idx="103" hasCustomPrompt="1"/>
          </p:nvPr>
        </p:nvSpPr>
        <p:spPr>
          <a:xfrm>
            <a:off x="548640" y="4069080"/>
            <a:ext cx="8046720" cy="365760"/>
          </a:xfrm>
          <a:prstGeom prst="rect">
            <a:avLst/>
          </a:prstGeom>
          <a:noFill/>
          <a:ln/>
        </p:spPr>
        <p:txBody>
          <a:bodyPr wrap="square" lIns="0" tIns="0" rIns="0" bIns="0" rtlCol="0" anchor="t"/>
          <a:lstStyle/>
          <a:p>
            <a:pPr marL="0" indent="0">
              <a:buNone/>
            </a:pPr>
            <a:r>
              <a:rPr lang="en-US" sz="1400" dirty="0">
                <a:solidFill>
                  <a:schemeClr val="accent5"/>
                </a:solidFill>
              </a:rPr>
              <a:t>Part 13 · Backup → copy → clone → install → run → explore</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800">
        <p14:honeycomb/>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What We're Doing</a:t>
            </a:r>
            <a:endParaRPr lang="en-US" sz="3200" dirty="0"/>
          </a:p>
        </p:txBody>
      </p:sp>
      <p:sp>
        <p:nvSpPr>
          <p:cNvPr id="3" name="Card 435"/>
          <p:cNvSpPr/>
          <p:nvPr/>
        </p:nvSpPr>
        <p:spPr>
          <a:xfrm>
            <a:off x="457200" y="1143000"/>
            <a:ext cx="178308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Text 436"/>
          <p:cNvSpPr txBox="1"/>
          <p:nvPr/>
        </p:nvSpPr>
        <p:spPr>
          <a:xfrm>
            <a:off x="566928" y="1234440"/>
            <a:ext cx="1563624" cy="365760"/>
          </a:xfrm>
          <a:prstGeom prst="rect">
            <a:avLst/>
          </a:prstGeom>
          <a:noFill/>
          <a:ln/>
        </p:spPr>
        <p:txBody>
          <a:bodyPr wrap="square" lIns="0" tIns="0" rIns="0" bIns="0" rtlCol="0" anchor="ctr"/>
          <a:lstStyle/>
          <a:p>
            <a:pPr marL="0" indent="0">
              <a:buNone/>
            </a:pPr>
            <a:r>
              <a:rPr lang="en-US" sz="1500" b="1" dirty="0">
                <a:solidFill>
                  <a:schemeClr val="tx1"/>
                </a:solidFill>
              </a:rPr>
              <a:t>Signal app</a:t>
            </a:r>
            <a:endParaRPr lang="en-US" sz="1500" dirty="0"/>
          </a:p>
        </p:txBody>
      </p:sp>
      <p:sp>
        <p:nvSpPr>
          <p:cNvPr id="5" name="Text 437"/>
          <p:cNvSpPr txBox="1"/>
          <p:nvPr/>
        </p:nvSpPr>
        <p:spPr>
          <a:xfrm>
            <a:off x="566928" y="1645920"/>
            <a:ext cx="1563624" cy="914400"/>
          </a:xfrm>
          <a:prstGeom prst="rect">
            <a:avLst/>
          </a:prstGeom>
          <a:noFill/>
          <a:ln/>
        </p:spPr>
        <p:txBody>
          <a:bodyPr wrap="square" lIns="0" tIns="0" rIns="0" bIns="0" rtlCol="0" anchor="t"/>
          <a:lstStyle/>
          <a:p>
            <a:pPr marL="0" indent="0">
              <a:buNone/>
            </a:pPr>
            <a:r>
              <a:rPr lang="en-US" sz="1400" dirty="0">
                <a:solidFill>
                  <a:schemeClr val="tx2"/>
                </a:solidFill>
              </a:rPr>
              <a:t>Private messaging. On Android it can save everything to one file</a:t>
            </a:r>
            <a:endParaRPr lang="en-US" sz="1400" dirty="0"/>
          </a:p>
        </p:txBody>
      </p:sp>
      <p:sp>
        <p:nvSpPr>
          <p:cNvPr id="6" name="Arrow 438"/>
          <p:cNvSpPr/>
          <p:nvPr/>
        </p:nvSpPr>
        <p:spPr>
          <a:xfrm>
            <a:off x="2286000" y="1874520"/>
            <a:ext cx="256032" cy="0"/>
          </a:xfrm>
          <a:prstGeom prst="line">
            <a:avLst/>
          </a:prstGeom>
          <a:noFill/>
          <a:ln w="25400">
            <a:solidFill>
              <a:schemeClr val="accent5"/>
            </a:solidFill>
            <a:prstDash val="solid"/>
            <a:tailEnd type="triangle"/>
          </a:ln>
        </p:spPr>
        <p:txBody>
          <a:bodyPr/>
          <a:lstStyle/>
          <a:p>
            <a:endParaRPr lang="en-ZM"/>
          </a:p>
        </p:txBody>
      </p:sp>
      <p:sp>
        <p:nvSpPr>
          <p:cNvPr id="7" name="Card 439"/>
          <p:cNvSpPr/>
          <p:nvPr/>
        </p:nvSpPr>
        <p:spPr>
          <a:xfrm>
            <a:off x="2587752" y="1143000"/>
            <a:ext cx="178308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8" name="Text 440"/>
          <p:cNvSpPr txBox="1"/>
          <p:nvPr/>
        </p:nvSpPr>
        <p:spPr>
          <a:xfrm>
            <a:off x="2697480" y="1234440"/>
            <a:ext cx="1563624" cy="365760"/>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.backup</a:t>
            </a:r>
            <a:endParaRPr lang="en-US" sz="1100" dirty="0"/>
          </a:p>
        </p:txBody>
      </p:sp>
      <p:sp>
        <p:nvSpPr>
          <p:cNvPr id="9" name="Text 441"/>
          <p:cNvSpPr txBox="1"/>
          <p:nvPr/>
        </p:nvSpPr>
        <p:spPr>
          <a:xfrm>
            <a:off x="2697480" y="1645920"/>
            <a:ext cx="1563624" cy="914400"/>
          </a:xfrm>
          <a:prstGeom prst="rect">
            <a:avLst/>
          </a:prstGeom>
          <a:noFill/>
          <a:ln/>
        </p:spPr>
        <p:txBody>
          <a:bodyPr wrap="square" lIns="0" tIns="0" rIns="0" bIns="0" rtlCol="0" anchor="t"/>
          <a:lstStyle/>
          <a:p>
            <a:pPr marL="0" indent="0">
              <a:buNone/>
            </a:pPr>
            <a:r>
              <a:rPr lang="en-US" sz="1400" dirty="0">
                <a:solidFill>
                  <a:schemeClr val="tx2"/>
                </a:solidFill>
              </a:rPr>
              <a:t>Encrypted with a key from a 30-digit passphrase</a:t>
            </a:r>
            <a:endParaRPr lang="en-US" sz="1400" dirty="0"/>
          </a:p>
        </p:txBody>
      </p:sp>
      <p:sp>
        <p:nvSpPr>
          <p:cNvPr id="10" name="Arrow 442"/>
          <p:cNvSpPr/>
          <p:nvPr/>
        </p:nvSpPr>
        <p:spPr>
          <a:xfrm>
            <a:off x="4416552" y="1874520"/>
            <a:ext cx="256032" cy="0"/>
          </a:xfrm>
          <a:prstGeom prst="line">
            <a:avLst/>
          </a:prstGeom>
          <a:noFill/>
          <a:ln w="25400">
            <a:solidFill>
              <a:schemeClr val="accent5"/>
            </a:solidFill>
            <a:prstDash val="solid"/>
            <a:tailEnd type="triangle"/>
          </a:ln>
        </p:spPr>
        <p:txBody>
          <a:bodyPr/>
          <a:lstStyle/>
          <a:p>
            <a:endParaRPr lang="en-ZM"/>
          </a:p>
        </p:txBody>
      </p:sp>
      <p:sp>
        <p:nvSpPr>
          <p:cNvPr id="11" name="Card 443"/>
          <p:cNvSpPr/>
          <p:nvPr/>
        </p:nvSpPr>
        <p:spPr>
          <a:xfrm>
            <a:off x="4718304" y="1143000"/>
            <a:ext cx="178308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12" name="Text 444"/>
          <p:cNvSpPr txBox="1"/>
          <p:nvPr/>
        </p:nvSpPr>
        <p:spPr>
          <a:xfrm>
            <a:off x="4828032" y="1234440"/>
            <a:ext cx="1563624" cy="365760"/>
          </a:xfrm>
          <a:prstGeom prst="rect">
            <a:avLst/>
          </a:prstGeom>
          <a:noFill/>
          <a:ln/>
        </p:spPr>
        <p:txBody>
          <a:bodyPr wrap="square" lIns="0" tIns="0" rIns="0" bIns="0" rtlCol="0" anchor="ctr"/>
          <a:lstStyle/>
          <a:p>
            <a:pPr marL="0" indent="0">
              <a:buNone/>
            </a:pPr>
            <a:r>
              <a:rPr lang="en-US" sz="1100" b="1" dirty="0">
                <a:solidFill>
                  <a:schemeClr val="tx1"/>
                </a:solidFill>
                <a:latin typeface="Courier New" pitchFamily="34" charset="0"/>
                <a:ea typeface="Courier New" pitchFamily="34" charset="-122"/>
                <a:cs typeface="Courier New" pitchFamily="34" charset="-120"/>
              </a:rPr>
              <a:t>decrypt_backup.py</a:t>
            </a:r>
            <a:endParaRPr lang="en-US" sz="1100" dirty="0"/>
          </a:p>
        </p:txBody>
      </p:sp>
      <p:sp>
        <p:nvSpPr>
          <p:cNvPr id="13" name="Text 445"/>
          <p:cNvSpPr txBox="1"/>
          <p:nvPr/>
        </p:nvSpPr>
        <p:spPr>
          <a:xfrm>
            <a:off x="4828032" y="1645920"/>
            <a:ext cx="1563624" cy="914400"/>
          </a:xfrm>
          <a:prstGeom prst="rect">
            <a:avLst/>
          </a:prstGeom>
          <a:noFill/>
          <a:ln/>
        </p:spPr>
        <p:txBody>
          <a:bodyPr wrap="square" lIns="0" tIns="0" rIns="0" bIns="0" rtlCol="0" anchor="t"/>
          <a:lstStyle/>
          <a:p>
            <a:pPr marL="0" indent="0">
              <a:buNone/>
            </a:pPr>
            <a:r>
              <a:rPr lang="en-US" sz="1400" dirty="0">
                <a:solidFill>
                  <a:schemeClr val="tx2"/>
                </a:solidFill>
              </a:rPr>
              <a:t>Uses crypto packages + your passphrase</a:t>
            </a:r>
            <a:endParaRPr lang="en-US" sz="1400" dirty="0"/>
          </a:p>
        </p:txBody>
      </p:sp>
      <p:sp>
        <p:nvSpPr>
          <p:cNvPr id="14" name="Arrow 446"/>
          <p:cNvSpPr/>
          <p:nvPr/>
        </p:nvSpPr>
        <p:spPr>
          <a:xfrm>
            <a:off x="6547104" y="1874520"/>
            <a:ext cx="256032" cy="0"/>
          </a:xfrm>
          <a:prstGeom prst="line">
            <a:avLst/>
          </a:prstGeom>
          <a:noFill/>
          <a:ln w="25400">
            <a:solidFill>
              <a:schemeClr val="accent5"/>
            </a:solidFill>
            <a:prstDash val="solid"/>
            <a:tailEnd type="triangle"/>
          </a:ln>
        </p:spPr>
        <p:txBody>
          <a:bodyPr/>
          <a:lstStyle/>
          <a:p>
            <a:endParaRPr lang="en-ZM"/>
          </a:p>
        </p:txBody>
      </p:sp>
      <p:sp>
        <p:nvSpPr>
          <p:cNvPr id="15" name="Card 447"/>
          <p:cNvSpPr/>
          <p:nvPr/>
        </p:nvSpPr>
        <p:spPr>
          <a:xfrm>
            <a:off x="6848856" y="1143000"/>
            <a:ext cx="1783080" cy="1463040"/>
          </a:xfrm>
          <a:prstGeom prst="roundRect">
            <a:avLst>
              <a:gd name="adj" fmla="val 5000"/>
            </a:avLst>
          </a:prstGeom>
          <a:solidFill>
            <a:schemeClr val="accent3"/>
          </a:solidFill>
          <a:ln w="12700">
            <a:solidFill>
              <a:schemeClr val="accent3"/>
            </a:solidFill>
            <a:prstDash val="solid"/>
          </a:ln>
          <a:effectLst>
            <a:outerShdw blurRad="76200" dist="25400" dir="5400000" algn="bl" rotWithShape="0">
              <a:srgbClr val="000000">
                <a:alpha val="12000"/>
              </a:srgbClr>
            </a:outerShdw>
          </a:effectLst>
        </p:spPr>
        <p:txBody>
          <a:bodyPr/>
          <a:lstStyle/>
          <a:p>
            <a:endParaRPr lang="en-ZM"/>
          </a:p>
        </p:txBody>
      </p:sp>
      <p:sp>
        <p:nvSpPr>
          <p:cNvPr id="16" name="Text 448"/>
          <p:cNvSpPr txBox="1"/>
          <p:nvPr/>
        </p:nvSpPr>
        <p:spPr>
          <a:xfrm>
            <a:off x="6958584" y="1234440"/>
            <a:ext cx="1563624" cy="365760"/>
          </a:xfrm>
          <a:prstGeom prst="rect">
            <a:avLst/>
          </a:prstGeom>
          <a:noFill/>
          <a:ln/>
        </p:spPr>
        <p:txBody>
          <a:bodyPr wrap="square" lIns="0" tIns="0" rIns="0" bIns="0" rtlCol="0" anchor="ctr"/>
          <a:lstStyle/>
          <a:p>
            <a:pPr marL="0" indent="0">
              <a:buNone/>
            </a:pPr>
            <a:r>
              <a:rPr lang="en-US" sz="1100" b="1" dirty="0">
                <a:solidFill>
                  <a:schemeClr val="bg1"/>
                </a:solidFill>
                <a:latin typeface="Courier New" pitchFamily="34" charset="0"/>
                <a:ea typeface="Courier New" pitchFamily="34" charset="-122"/>
                <a:cs typeface="Courier New" pitchFamily="34" charset="-120"/>
              </a:rPr>
              <a:t>unlocked\</a:t>
            </a:r>
            <a:endParaRPr lang="en-US" sz="1100" dirty="0"/>
          </a:p>
        </p:txBody>
      </p:sp>
      <p:sp>
        <p:nvSpPr>
          <p:cNvPr id="17" name="Text 449"/>
          <p:cNvSpPr txBox="1"/>
          <p:nvPr/>
        </p:nvSpPr>
        <p:spPr>
          <a:xfrm>
            <a:off x="6958584" y="1645920"/>
            <a:ext cx="1563624" cy="914400"/>
          </a:xfrm>
          <a:prstGeom prst="rect">
            <a:avLst/>
          </a:prstGeom>
          <a:noFill/>
          <a:ln/>
        </p:spPr>
        <p:txBody>
          <a:bodyPr wrap="square" lIns="0" tIns="0" rIns="0" bIns="0" rtlCol="0" anchor="t"/>
          <a:lstStyle/>
          <a:p>
            <a:pPr marL="0" indent="0">
              <a:buNone/>
            </a:pPr>
            <a:r>
              <a:rPr lang="en-US" sz="1400" dirty="0">
                <a:solidFill>
                  <a:schemeClr val="bg1"/>
                </a:solidFill>
              </a:rPr>
              <a:t>Messages, photos, stickers, settings</a:t>
            </a:r>
            <a:endParaRPr lang="en-US" sz="1400" dirty="0"/>
          </a:p>
        </p:txBody>
      </p:sp>
      <p:sp>
        <p:nvSpPr>
          <p:cNvPr id="18" name="Card 450"/>
          <p:cNvSpPr/>
          <p:nvPr/>
        </p:nvSpPr>
        <p:spPr>
          <a:xfrm>
            <a:off x="457200" y="2834640"/>
            <a:ext cx="2606040" cy="1645920"/>
          </a:xfrm>
          <a:prstGeom prst="roundRect">
            <a:avLst>
              <a:gd name="adj" fmla="val 4444"/>
            </a:avLst>
          </a:prstGeom>
          <a:solidFill>
            <a:schemeClr val="bg2"/>
          </a:solidFill>
          <a:ln w="12700">
            <a:solidFill>
              <a:schemeClr val="bg2"/>
            </a:solidFill>
            <a:prstDash val="solid"/>
          </a:ln>
        </p:spPr>
        <p:txBody>
          <a:bodyPr/>
          <a:lstStyle/>
          <a:p>
            <a:endParaRPr lang="en-ZM"/>
          </a:p>
        </p:txBody>
      </p:sp>
      <p:sp>
        <p:nvSpPr>
          <p:cNvPr id="19" name="Badge 451"/>
          <p:cNvSpPr/>
          <p:nvPr/>
        </p:nvSpPr>
        <p:spPr>
          <a:xfrm>
            <a:off x="621792" y="2971800"/>
            <a:ext cx="347472" cy="347472"/>
          </a:xfrm>
          <a:prstGeom prst="ellipse">
            <a:avLst/>
          </a:prstGeom>
          <a:solidFill>
            <a:schemeClr val="accent4"/>
          </a:solidFill>
          <a:ln w="12700">
            <a:solidFill>
              <a:schemeClr val="accent4"/>
            </a:solidFill>
            <a:prstDash val="solid"/>
          </a:ln>
        </p:spPr>
        <p:txBody>
          <a:bodyPr/>
          <a:lstStyle/>
          <a:p>
            <a:endParaRPr lang="en-ZM"/>
          </a:p>
        </p:txBody>
      </p:sp>
      <p:sp>
        <p:nvSpPr>
          <p:cNvPr id="20" name="Text 452"/>
          <p:cNvSpPr txBox="1"/>
          <p:nvPr/>
        </p:nvSpPr>
        <p:spPr>
          <a:xfrm>
            <a:off x="621792" y="297180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21" name="Text 453"/>
          <p:cNvSpPr txBox="1"/>
          <p:nvPr/>
        </p:nvSpPr>
        <p:spPr>
          <a:xfrm>
            <a:off x="1078992" y="2971800"/>
            <a:ext cx="1874520" cy="347472"/>
          </a:xfrm>
          <a:prstGeom prst="rect">
            <a:avLst/>
          </a:prstGeom>
          <a:noFill/>
          <a:ln/>
        </p:spPr>
        <p:txBody>
          <a:bodyPr wrap="square" lIns="0" tIns="0" rIns="0" bIns="0" rtlCol="0" anchor="ctr"/>
          <a:lstStyle/>
          <a:p>
            <a:pPr marL="0" indent="0">
              <a:buNone/>
            </a:pPr>
            <a:r>
              <a:rPr lang="en-US" sz="1400" b="1" dirty="0">
                <a:solidFill>
                  <a:schemeClr val="tx1"/>
                </a:solidFill>
              </a:rPr>
              <a:t>Your own backup only</a:t>
            </a:r>
            <a:endParaRPr lang="en-US" sz="1400" dirty="0"/>
          </a:p>
        </p:txBody>
      </p:sp>
      <p:sp>
        <p:nvSpPr>
          <p:cNvPr id="22" name="Text 454"/>
          <p:cNvSpPr txBox="1"/>
          <p:nvPr/>
        </p:nvSpPr>
        <p:spPr>
          <a:xfrm>
            <a:off x="621792" y="3429000"/>
            <a:ext cx="2286000" cy="1005840"/>
          </a:xfrm>
          <a:prstGeom prst="rect">
            <a:avLst/>
          </a:prstGeom>
          <a:noFill/>
          <a:ln/>
        </p:spPr>
        <p:txBody>
          <a:bodyPr wrap="square" lIns="0" tIns="0" rIns="0" bIns="0" rtlCol="0" anchor="t"/>
          <a:lstStyle/>
          <a:p>
            <a:pPr marL="0" indent="0">
              <a:buNone/>
            </a:pPr>
            <a:r>
              <a:rPr lang="en-US" sz="1400" dirty="0">
                <a:solidFill>
                  <a:schemeClr val="tx2"/>
                </a:solidFill>
              </a:rPr>
              <a:t>Needs your passphrase. It can't break into anyone else's messages.</a:t>
            </a:r>
            <a:endParaRPr lang="en-US" sz="1400" dirty="0"/>
          </a:p>
        </p:txBody>
      </p:sp>
      <p:sp>
        <p:nvSpPr>
          <p:cNvPr id="23" name="Card 455"/>
          <p:cNvSpPr/>
          <p:nvPr/>
        </p:nvSpPr>
        <p:spPr>
          <a:xfrm>
            <a:off x="3264408" y="2834640"/>
            <a:ext cx="2606040" cy="1645920"/>
          </a:xfrm>
          <a:prstGeom prst="roundRect">
            <a:avLst>
              <a:gd name="adj" fmla="val 4444"/>
            </a:avLst>
          </a:prstGeom>
          <a:solidFill>
            <a:schemeClr val="bg2"/>
          </a:solidFill>
          <a:ln w="12700">
            <a:solidFill>
              <a:schemeClr val="bg2"/>
            </a:solidFill>
            <a:prstDash val="solid"/>
          </a:ln>
        </p:spPr>
        <p:txBody>
          <a:bodyPr/>
          <a:lstStyle/>
          <a:p>
            <a:endParaRPr lang="en-ZM"/>
          </a:p>
        </p:txBody>
      </p:sp>
      <p:sp>
        <p:nvSpPr>
          <p:cNvPr id="24" name="Badge 456"/>
          <p:cNvSpPr/>
          <p:nvPr/>
        </p:nvSpPr>
        <p:spPr>
          <a:xfrm>
            <a:off x="3429000" y="2971800"/>
            <a:ext cx="347472" cy="347472"/>
          </a:xfrm>
          <a:prstGeom prst="ellipse">
            <a:avLst/>
          </a:prstGeom>
          <a:solidFill>
            <a:schemeClr val="accent4"/>
          </a:solidFill>
          <a:ln w="12700">
            <a:solidFill>
              <a:schemeClr val="accent4"/>
            </a:solidFill>
            <a:prstDash val="solid"/>
          </a:ln>
        </p:spPr>
        <p:txBody>
          <a:bodyPr/>
          <a:lstStyle/>
          <a:p>
            <a:endParaRPr lang="en-ZM"/>
          </a:p>
        </p:txBody>
      </p:sp>
      <p:sp>
        <p:nvSpPr>
          <p:cNvPr id="25" name="Text 457"/>
          <p:cNvSpPr txBox="1"/>
          <p:nvPr/>
        </p:nvSpPr>
        <p:spPr>
          <a:xfrm>
            <a:off x="3429000" y="297180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26" name="Text 458"/>
          <p:cNvSpPr txBox="1"/>
          <p:nvPr/>
        </p:nvSpPr>
        <p:spPr>
          <a:xfrm>
            <a:off x="3886200" y="2971800"/>
            <a:ext cx="1874520" cy="347472"/>
          </a:xfrm>
          <a:prstGeom prst="rect">
            <a:avLst/>
          </a:prstGeom>
          <a:noFill/>
          <a:ln/>
        </p:spPr>
        <p:txBody>
          <a:bodyPr wrap="square" lIns="0" tIns="0" rIns="0" bIns="0" rtlCol="0" anchor="ctr"/>
          <a:lstStyle/>
          <a:p>
            <a:pPr marL="0" indent="0">
              <a:buNone/>
            </a:pPr>
            <a:r>
              <a:rPr lang="en-US" sz="1400" b="1" dirty="0">
                <a:solidFill>
                  <a:schemeClr val="tx1"/>
                </a:solidFill>
              </a:rPr>
              <a:t>Made around 2021</a:t>
            </a:r>
            <a:endParaRPr lang="en-US" sz="1400" dirty="0"/>
          </a:p>
        </p:txBody>
      </p:sp>
      <p:sp>
        <p:nvSpPr>
          <p:cNvPr id="27" name="Text 459"/>
          <p:cNvSpPr txBox="1"/>
          <p:nvPr/>
        </p:nvSpPr>
        <p:spPr>
          <a:xfrm>
            <a:off x="3429000" y="3429000"/>
            <a:ext cx="2286000" cy="1005840"/>
          </a:xfrm>
          <a:prstGeom prst="rect">
            <a:avLst/>
          </a:prstGeom>
          <a:noFill/>
          <a:ln/>
        </p:spPr>
        <p:txBody>
          <a:bodyPr wrap="square" lIns="0" tIns="0" rIns="0" bIns="0" rtlCol="0" anchor="t"/>
          <a:lstStyle/>
          <a:p>
            <a:pPr marL="0" indent="0">
              <a:buNone/>
            </a:pPr>
            <a:r>
              <a:rPr lang="en-US" sz="1400" dirty="0">
                <a:solidFill>
                  <a:schemeClr val="tx2"/>
                </a:solidFill>
              </a:rPr>
              <a:t>Newer Signal versions may create backups it can't read.</a:t>
            </a:r>
            <a:endParaRPr lang="en-US" sz="1400" dirty="0"/>
          </a:p>
        </p:txBody>
      </p:sp>
      <p:sp>
        <p:nvSpPr>
          <p:cNvPr id="28" name="Card 460"/>
          <p:cNvSpPr/>
          <p:nvPr/>
        </p:nvSpPr>
        <p:spPr>
          <a:xfrm>
            <a:off x="6071616" y="2834640"/>
            <a:ext cx="2606040" cy="1645920"/>
          </a:xfrm>
          <a:prstGeom prst="roundRect">
            <a:avLst>
              <a:gd name="adj" fmla="val 4444"/>
            </a:avLst>
          </a:prstGeom>
          <a:solidFill>
            <a:schemeClr val="bg2"/>
          </a:solidFill>
          <a:ln w="12700">
            <a:solidFill>
              <a:schemeClr val="bg2"/>
            </a:solidFill>
            <a:prstDash val="solid"/>
          </a:ln>
        </p:spPr>
        <p:txBody>
          <a:bodyPr/>
          <a:lstStyle/>
          <a:p>
            <a:endParaRPr lang="en-ZM"/>
          </a:p>
        </p:txBody>
      </p:sp>
      <p:sp>
        <p:nvSpPr>
          <p:cNvPr id="29" name="Badge 461"/>
          <p:cNvSpPr/>
          <p:nvPr/>
        </p:nvSpPr>
        <p:spPr>
          <a:xfrm>
            <a:off x="6236208" y="2971800"/>
            <a:ext cx="347472" cy="347472"/>
          </a:xfrm>
          <a:prstGeom prst="ellipse">
            <a:avLst/>
          </a:prstGeom>
          <a:solidFill>
            <a:schemeClr val="accent4"/>
          </a:solidFill>
          <a:ln w="12700">
            <a:solidFill>
              <a:schemeClr val="accent4"/>
            </a:solidFill>
            <a:prstDash val="solid"/>
          </a:ln>
        </p:spPr>
        <p:txBody>
          <a:bodyPr/>
          <a:lstStyle/>
          <a:p>
            <a:endParaRPr lang="en-ZM"/>
          </a:p>
        </p:txBody>
      </p:sp>
      <p:sp>
        <p:nvSpPr>
          <p:cNvPr id="30" name="Text 462"/>
          <p:cNvSpPr txBox="1"/>
          <p:nvPr/>
        </p:nvSpPr>
        <p:spPr>
          <a:xfrm>
            <a:off x="6236208" y="297180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31" name="Text 463"/>
          <p:cNvSpPr txBox="1"/>
          <p:nvPr/>
        </p:nvSpPr>
        <p:spPr>
          <a:xfrm>
            <a:off x="6693408" y="2971800"/>
            <a:ext cx="1874520" cy="347472"/>
          </a:xfrm>
          <a:prstGeom prst="rect">
            <a:avLst/>
          </a:prstGeom>
          <a:noFill/>
          <a:ln/>
        </p:spPr>
        <p:txBody>
          <a:bodyPr wrap="square" lIns="0" tIns="0" rIns="0" bIns="0" rtlCol="0" anchor="ctr"/>
          <a:lstStyle/>
          <a:p>
            <a:pPr marL="0" indent="0">
              <a:buNone/>
            </a:pPr>
            <a:r>
              <a:rPr lang="en-US" sz="1400" b="1" dirty="0">
                <a:solidFill>
                  <a:schemeClr val="tx1"/>
                </a:solidFill>
              </a:rPr>
              <a:t>Output is unencrypted</a:t>
            </a:r>
            <a:endParaRPr lang="en-US" sz="1400" dirty="0"/>
          </a:p>
        </p:txBody>
      </p:sp>
      <p:sp>
        <p:nvSpPr>
          <p:cNvPr id="32" name="Text 464"/>
          <p:cNvSpPr txBox="1"/>
          <p:nvPr/>
        </p:nvSpPr>
        <p:spPr>
          <a:xfrm>
            <a:off x="6236208" y="3429000"/>
            <a:ext cx="2286000" cy="1005840"/>
          </a:xfrm>
          <a:prstGeom prst="rect">
            <a:avLst/>
          </a:prstGeom>
          <a:noFill/>
          <a:ln/>
        </p:spPr>
        <p:txBody>
          <a:bodyPr wrap="square" lIns="0" tIns="0" rIns="0" bIns="0" rtlCol="0" anchor="t"/>
          <a:lstStyle/>
          <a:p>
            <a:pPr marL="0" indent="0">
              <a:buNone/>
            </a:pPr>
            <a:r>
              <a:rPr lang="en-US" sz="1400" dirty="0">
                <a:solidFill>
                  <a:schemeClr val="tx2"/>
                </a:solidFill>
              </a:rPr>
              <a:t>Keep it private and delete it when you're done.</a:t>
            </a:r>
            <a:endParaRPr lang="en-US" sz="1400" dirty="0"/>
          </a:p>
        </p:txBody>
      </p:sp>
      <p:sp>
        <p:nvSpPr>
          <p:cNvPr id="33"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Steps 1–2: Get the Backup</a:t>
            </a:r>
            <a:endParaRPr lang="en-US" sz="3200" dirty="0"/>
          </a:p>
        </p:txBody>
      </p:sp>
      <p:sp>
        <p:nvSpPr>
          <p:cNvPr id="3" name="Card 465"/>
          <p:cNvSpPr/>
          <p:nvPr/>
        </p:nvSpPr>
        <p:spPr>
          <a:xfrm>
            <a:off x="457200" y="1143000"/>
            <a:ext cx="3931920" cy="3337560"/>
          </a:xfrm>
          <a:prstGeom prst="roundRect">
            <a:avLst>
              <a:gd name="adj" fmla="val 2192"/>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4" name="Badge 466"/>
          <p:cNvSpPr/>
          <p:nvPr/>
        </p:nvSpPr>
        <p:spPr>
          <a:xfrm>
            <a:off x="640080" y="1298448"/>
            <a:ext cx="411480" cy="411480"/>
          </a:xfrm>
          <a:prstGeom prst="ellipse">
            <a:avLst/>
          </a:prstGeom>
          <a:solidFill>
            <a:schemeClr val="accent2"/>
          </a:solidFill>
          <a:ln w="12700">
            <a:solidFill>
              <a:schemeClr val="accent2"/>
            </a:solidFill>
            <a:prstDash val="solid"/>
          </a:ln>
        </p:spPr>
        <p:txBody>
          <a:bodyPr/>
          <a:lstStyle/>
          <a:p>
            <a:endParaRPr lang="en-ZM"/>
          </a:p>
        </p:txBody>
      </p:sp>
      <p:sp>
        <p:nvSpPr>
          <p:cNvPr id="5" name="Text 467"/>
          <p:cNvSpPr txBox="1"/>
          <p:nvPr/>
        </p:nvSpPr>
        <p:spPr>
          <a:xfrm>
            <a:off x="640080" y="1298448"/>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468"/>
          <p:cNvSpPr txBox="1"/>
          <p:nvPr/>
        </p:nvSpPr>
        <p:spPr>
          <a:xfrm>
            <a:off x="1188720" y="1298448"/>
            <a:ext cx="3017520" cy="411480"/>
          </a:xfrm>
          <a:prstGeom prst="rect">
            <a:avLst/>
          </a:prstGeom>
          <a:noFill/>
          <a:ln/>
        </p:spPr>
        <p:txBody>
          <a:bodyPr wrap="square" lIns="0" tIns="0" rIns="0" bIns="0" rtlCol="0" anchor="ctr"/>
          <a:lstStyle/>
          <a:p>
            <a:pPr marL="0" indent="0">
              <a:buNone/>
            </a:pPr>
            <a:r>
              <a:rPr lang="en-US" sz="1700" b="1" dirty="0">
                <a:solidFill>
                  <a:schemeClr val="tx1"/>
                </a:solidFill>
              </a:rPr>
              <a:t>Create it on your phone</a:t>
            </a:r>
            <a:endParaRPr lang="en-US" sz="1700" dirty="0"/>
          </a:p>
        </p:txBody>
      </p:sp>
      <p:sp>
        <p:nvSpPr>
          <p:cNvPr id="7" name="Text 469"/>
          <p:cNvSpPr txBox="1"/>
          <p:nvPr/>
        </p:nvSpPr>
        <p:spPr>
          <a:xfrm>
            <a:off x="640080" y="1874520"/>
            <a:ext cx="3566160" cy="251460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400" dirty="0">
                <a:solidFill>
                  <a:schemeClr val="tx1"/>
                </a:solidFill>
              </a:rPr>
              <a:t>Signal: profile picture → Settings → Chats → Chat backups → Turn on</a:t>
            </a:r>
            <a:endParaRPr lang="en-US" sz="1400" dirty="0"/>
          </a:p>
          <a:p>
            <a:pPr marL="342900" indent="-342900">
              <a:spcAft>
                <a:spcPts val="800"/>
              </a:spcAft>
              <a:buSzPct val="100000"/>
              <a:buFont typeface="+mj-lt"/>
              <a:buAutoNum type="arabicPeriod"/>
            </a:pPr>
            <a:r>
              <a:rPr lang="en-US" sz="1400" dirty="0">
                <a:solidFill>
                  <a:schemeClr val="tx1"/>
                </a:solidFill>
              </a:rPr>
              <a:t>Write the 30-digit passphrase on paper. Without it nobody can unlock the backup</a:t>
            </a:r>
            <a:endParaRPr lang="en-US" sz="1400" dirty="0"/>
          </a:p>
          <a:p>
            <a:pPr marL="342900" indent="-342900">
              <a:spcAft>
                <a:spcPts val="800"/>
              </a:spcAft>
              <a:buSzPct val="100000"/>
              <a:buFont typeface="+mj-lt"/>
              <a:buAutoNum type="arabicPeriod"/>
            </a:pPr>
            <a:r>
              <a:rPr lang="en-US" sz="1400" dirty="0">
                <a:solidFill>
                  <a:schemeClr val="tx1"/>
                </a:solidFill>
              </a:rPr>
              <a:t>Tap Create backup and wait; lots of media can take hours</a:t>
            </a:r>
            <a:endParaRPr lang="en-US" sz="1400" dirty="0"/>
          </a:p>
        </p:txBody>
      </p:sp>
      <p:sp>
        <p:nvSpPr>
          <p:cNvPr id="8" name="Card 470"/>
          <p:cNvSpPr/>
          <p:nvPr/>
        </p:nvSpPr>
        <p:spPr>
          <a:xfrm>
            <a:off x="4754880" y="1143000"/>
            <a:ext cx="3931920" cy="3337560"/>
          </a:xfrm>
          <a:prstGeom prst="roundRect">
            <a:avLst>
              <a:gd name="adj" fmla="val 2192"/>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ZM"/>
          </a:p>
        </p:txBody>
      </p:sp>
      <p:sp>
        <p:nvSpPr>
          <p:cNvPr id="9" name="Badge 471"/>
          <p:cNvSpPr/>
          <p:nvPr/>
        </p:nvSpPr>
        <p:spPr>
          <a:xfrm>
            <a:off x="4937760" y="1298448"/>
            <a:ext cx="411480" cy="411480"/>
          </a:xfrm>
          <a:prstGeom prst="ellipse">
            <a:avLst/>
          </a:prstGeom>
          <a:solidFill>
            <a:schemeClr val="accent2"/>
          </a:solidFill>
          <a:ln w="12700">
            <a:solidFill>
              <a:schemeClr val="accent2"/>
            </a:solidFill>
            <a:prstDash val="solid"/>
          </a:ln>
        </p:spPr>
        <p:txBody>
          <a:bodyPr/>
          <a:lstStyle/>
          <a:p>
            <a:endParaRPr lang="en-ZM"/>
          </a:p>
        </p:txBody>
      </p:sp>
      <p:sp>
        <p:nvSpPr>
          <p:cNvPr id="10" name="Text 472"/>
          <p:cNvSpPr txBox="1"/>
          <p:nvPr/>
        </p:nvSpPr>
        <p:spPr>
          <a:xfrm>
            <a:off x="4937760" y="1298448"/>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1" name="Text 473"/>
          <p:cNvSpPr txBox="1"/>
          <p:nvPr/>
        </p:nvSpPr>
        <p:spPr>
          <a:xfrm>
            <a:off x="5486400" y="1298448"/>
            <a:ext cx="3017520" cy="411480"/>
          </a:xfrm>
          <a:prstGeom prst="rect">
            <a:avLst/>
          </a:prstGeom>
          <a:noFill/>
          <a:ln/>
        </p:spPr>
        <p:txBody>
          <a:bodyPr wrap="square" lIns="0" tIns="0" rIns="0" bIns="0" rtlCol="0" anchor="ctr"/>
          <a:lstStyle/>
          <a:p>
            <a:pPr marL="0" indent="0">
              <a:buNone/>
            </a:pPr>
            <a:r>
              <a:rPr lang="en-US" sz="1700" b="1" dirty="0">
                <a:solidFill>
                  <a:schemeClr val="tx1"/>
                </a:solidFill>
              </a:rPr>
              <a:t>Copy it to the PC</a:t>
            </a:r>
            <a:endParaRPr lang="en-US" sz="1700" dirty="0"/>
          </a:p>
        </p:txBody>
      </p:sp>
      <p:sp>
        <p:nvSpPr>
          <p:cNvPr id="12" name="Text 474"/>
          <p:cNvSpPr txBox="1"/>
          <p:nvPr/>
        </p:nvSpPr>
        <p:spPr>
          <a:xfrm>
            <a:off x="4937760" y="1874520"/>
            <a:ext cx="3566160" cy="251460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400" dirty="0">
                <a:solidFill>
                  <a:schemeClr val="tx1"/>
                </a:solidFill>
              </a:rPr>
              <a:t>Connect with USB and choose File transfer on the phone</a:t>
            </a:r>
            <a:endParaRPr lang="en-US" sz="1400" dirty="0"/>
          </a:p>
          <a:p>
            <a:pPr marL="342900" indent="-342900">
              <a:spcAft>
                <a:spcPts val="800"/>
              </a:spcAft>
              <a:buSzPct val="100000"/>
              <a:buFont typeface="+mj-lt"/>
              <a:buAutoNum type="arabicPeriod"/>
            </a:pPr>
            <a:r>
              <a:rPr lang="en-US" sz="1400" dirty="0">
                <a:solidFill>
                  <a:schemeClr val="tx1"/>
                </a:solidFill>
              </a:rPr>
              <a:t>Open the backup folder shown on Signal's Chat backups screen</a:t>
            </a:r>
            <a:endParaRPr lang="en-US" sz="1400" dirty="0"/>
          </a:p>
          <a:p>
            <a:pPr marL="342900" indent="-342900">
              <a:spcAft>
                <a:spcPts val="800"/>
              </a:spcAft>
              <a:buSzPct val="100000"/>
              <a:buFont typeface="+mj-lt"/>
              <a:buAutoNum type="arabicPeriod"/>
            </a:pPr>
            <a:r>
              <a:rPr lang="en-US" sz="1400" dirty="0">
                <a:solidFill>
                  <a:schemeClr val="tx1"/>
                </a:solidFill>
              </a:rPr>
              <a:t>Copy signal-YYYY-MM-DD-….backup to C:\Users\HP\Downloads\signal</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Steps 3–5: Prepare the Tool</a:t>
            </a:r>
            <a:endParaRPr lang="en-US" sz="3200" dirty="0"/>
          </a:p>
        </p:txBody>
      </p:sp>
      <p:sp>
        <p:nvSpPr>
          <p:cNvPr id="3" name="Terminal 475"/>
          <p:cNvSpPr/>
          <p:nvPr/>
        </p:nvSpPr>
        <p:spPr>
          <a:xfrm>
            <a:off x="457200" y="1097280"/>
            <a:ext cx="8229600" cy="3429000"/>
          </a:xfrm>
          <a:prstGeom prst="roundRect">
            <a:avLst>
              <a:gd name="adj" fmla="val 2133"/>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4" name="Dot 476"/>
          <p:cNvSpPr/>
          <p:nvPr/>
        </p:nvSpPr>
        <p:spPr>
          <a:xfrm>
            <a:off x="603504" y="120700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5" name="Dot 477"/>
          <p:cNvSpPr/>
          <p:nvPr/>
        </p:nvSpPr>
        <p:spPr>
          <a:xfrm>
            <a:off x="758952" y="120700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6" name="Dot 478"/>
          <p:cNvSpPr/>
          <p:nvPr/>
        </p:nvSpPr>
        <p:spPr>
          <a:xfrm>
            <a:off x="914400" y="120700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7" name="Text 479"/>
          <p:cNvSpPr txBox="1"/>
          <p:nvPr/>
        </p:nvSpPr>
        <p:spPr>
          <a:xfrm>
            <a:off x="1143000" y="1161288"/>
            <a:ext cx="740664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PowerShell</a:t>
            </a:r>
            <a:endParaRPr lang="en-US" sz="1000" dirty="0"/>
          </a:p>
        </p:txBody>
      </p:sp>
      <p:sp>
        <p:nvSpPr>
          <p:cNvPr id="8" name="Code 480"/>
          <p:cNvSpPr txBox="1"/>
          <p:nvPr/>
        </p:nvSpPr>
        <p:spPr>
          <a:xfrm>
            <a:off x="621792" y="1426464"/>
            <a:ext cx="7955280" cy="3008376"/>
          </a:xfrm>
          <a:prstGeom prst="rect">
            <a:avLst/>
          </a:prstGeom>
          <a:noFill/>
          <a:ln/>
        </p:spPr>
        <p:txBody>
          <a:bodyPr wrap="square" lIns="0" tIns="0" rIns="0" bIns="0" rtlCol="0" anchor="t"/>
          <a:lstStyle/>
          <a:p>
            <a:pPr marL="0" indent="0">
              <a:buNone/>
            </a:pPr>
            <a:r>
              <a:rPr lang="en-US" sz="1250" dirty="0">
                <a:solidFill>
                  <a:schemeClr val="accent5"/>
                </a:solidFill>
                <a:latin typeface="Courier New" pitchFamily="34" charset="0"/>
                <a:ea typeface="Courier New" pitchFamily="34" charset="-122"/>
                <a:cs typeface="Courier New" pitchFamily="34" charset="-120"/>
              </a:rPr>
              <a:t># Step 3: check your tools (Parts 6, 7, 10)</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python --version        # must be 3.7 or newer</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git --version</a:t>
            </a:r>
            <a:endParaRPr lang="en-US" sz="1250" dirty="0"/>
          </a:p>
          <a:p>
            <a:pPr marL="0" indent="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chemeClr val="accent5"/>
                </a:solidFill>
                <a:latin typeface="Courier New" pitchFamily="34" charset="0"/>
                <a:ea typeface="Courier New" pitchFamily="34" charset="-122"/>
                <a:cs typeface="Courier New" pitchFamily="34" charset="-120"/>
              </a:rPr>
              <a:t># Step 4: clone the tool (Parts 11-12)</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cd ~\Downloads\signal</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git clone https://github.com/mossblaser/signal_for_android_decryption.git</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cd signal_for_android_decryption</a:t>
            </a:r>
            <a:endParaRPr lang="en-US" sz="1250" dirty="0"/>
          </a:p>
          <a:p>
            <a:pPr marL="0" indent="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chemeClr val="accent5"/>
                </a:solidFill>
                <a:latin typeface="Courier New" pitchFamily="34" charset="0"/>
                <a:ea typeface="Courier New" pitchFamily="34" charset="-122"/>
                <a:cs typeface="Courier New" pitchFamily="34" charset="-120"/>
              </a:rPr>
              <a:t># Step 5: environment + dependencies (Part 9)</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python -m venv .venv</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.venv\Scripts\Activate.ps1</a:t>
            </a:r>
            <a:endParaRPr lang="en-US" sz="1250" dirty="0"/>
          </a:p>
          <a:p>
            <a:pPr marL="0" indent="0">
              <a:buNone/>
            </a:pPr>
            <a:r>
              <a:rPr lang="en-US" sz="1250" dirty="0">
                <a:solidFill>
                  <a:schemeClr val="accent1"/>
                </a:solidFill>
                <a:latin typeface="Courier New" pitchFamily="34" charset="0"/>
                <a:ea typeface="Courier New" pitchFamily="34" charset="-122"/>
                <a:cs typeface="Courier New" pitchFamily="34" charset="-120"/>
              </a:rPr>
              <a:t>PS&gt; pip install -r requirements.txt</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left)">
                                      <p:cBhvr>
                                        <p:cTn id="7" dur="350"/>
                                        <p:tgtEl>
                                          <p:spTgt spid="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down)">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down)">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down)">
                                      <p:cBhvr>
                                        <p:cTn id="37" dur="500"/>
                                        <p:tgtEl>
                                          <p:spTgt spid="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wipe(down)">
                                      <p:cBhvr>
                                        <p:cTn id="42" dur="500"/>
                                        <p:tgtEl>
                                          <p:spTgt spid="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wipe(down)">
                                      <p:cBhvr>
                                        <p:cTn id="47" dur="500"/>
                                        <p:tgtEl>
                                          <p:spTgt spid="8">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txEl>
                                              <p:pRg st="8" end="8"/>
                                            </p:txEl>
                                          </p:spTgt>
                                        </p:tgtEl>
                                        <p:attrNameLst>
                                          <p:attrName>style.visibility</p:attrName>
                                        </p:attrNameLst>
                                      </p:cBhvr>
                                      <p:to>
                                        <p:strVal val="visible"/>
                                      </p:to>
                                    </p:set>
                                    <p:animEffect transition="in" filter="wipe(down)">
                                      <p:cBhvr>
                                        <p:cTn id="52" dur="500"/>
                                        <p:tgtEl>
                                          <p:spTgt spid="8">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txEl>
                                              <p:pRg st="9" end="9"/>
                                            </p:txEl>
                                          </p:spTgt>
                                        </p:tgtEl>
                                        <p:attrNameLst>
                                          <p:attrName>style.visibility</p:attrName>
                                        </p:attrNameLst>
                                      </p:cBhvr>
                                      <p:to>
                                        <p:strVal val="visible"/>
                                      </p:to>
                                    </p:set>
                                    <p:animEffect transition="in" filter="wipe(down)">
                                      <p:cBhvr>
                                        <p:cTn id="57" dur="500"/>
                                        <p:tgtEl>
                                          <p:spTgt spid="8">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8">
                                            <p:txEl>
                                              <p:pRg st="10" end="10"/>
                                            </p:txEl>
                                          </p:spTgt>
                                        </p:tgtEl>
                                        <p:attrNameLst>
                                          <p:attrName>style.visibility</p:attrName>
                                        </p:attrNameLst>
                                      </p:cBhvr>
                                      <p:to>
                                        <p:strVal val="visible"/>
                                      </p:to>
                                    </p:set>
                                    <p:animEffect transition="in" filter="wipe(down)">
                                      <p:cBhvr>
                                        <p:cTn id="62" dur="500"/>
                                        <p:tgtEl>
                                          <p:spTgt spid="8">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8">
                                            <p:txEl>
                                              <p:pRg st="11" end="11"/>
                                            </p:txEl>
                                          </p:spTgt>
                                        </p:tgtEl>
                                        <p:attrNameLst>
                                          <p:attrName>style.visibility</p:attrName>
                                        </p:attrNameLst>
                                      </p:cBhvr>
                                      <p:to>
                                        <p:strVal val="visible"/>
                                      </p:to>
                                    </p:set>
                                    <p:animEffect transition="in" filter="wipe(down)">
                                      <p:cBhvr>
                                        <p:cTn id="67" dur="500"/>
                                        <p:tgtEl>
                                          <p:spTgt spid="8">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8">
                                            <p:txEl>
                                              <p:pRg st="12" end="12"/>
                                            </p:txEl>
                                          </p:spTgt>
                                        </p:tgtEl>
                                        <p:attrNameLst>
                                          <p:attrName>style.visibility</p:attrName>
                                        </p:attrNameLst>
                                      </p:cBhvr>
                                      <p:to>
                                        <p:strVal val="visible"/>
                                      </p:to>
                                    </p:set>
                                    <p:animEffect transition="in" filter="wipe(down)">
                                      <p:cBhvr>
                                        <p:cTn id="72"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Step 6: Run It</a:t>
            </a:r>
            <a:endParaRPr lang="en-US" sz="3200" dirty="0"/>
          </a:p>
        </p:txBody>
      </p:sp>
      <p:sp>
        <p:nvSpPr>
          <p:cNvPr id="3" name="Terminal 481"/>
          <p:cNvSpPr/>
          <p:nvPr/>
        </p:nvSpPr>
        <p:spPr>
          <a:xfrm>
            <a:off x="457200" y="1097280"/>
            <a:ext cx="8229600" cy="868680"/>
          </a:xfrm>
          <a:prstGeom prst="roundRect">
            <a:avLst>
              <a:gd name="adj" fmla="val 8421"/>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4" name="Dot 482"/>
          <p:cNvSpPr/>
          <p:nvPr/>
        </p:nvSpPr>
        <p:spPr>
          <a:xfrm>
            <a:off x="603504" y="120700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5" name="Dot 483"/>
          <p:cNvSpPr/>
          <p:nvPr/>
        </p:nvSpPr>
        <p:spPr>
          <a:xfrm>
            <a:off x="758952" y="120700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6" name="Dot 484"/>
          <p:cNvSpPr/>
          <p:nvPr/>
        </p:nvSpPr>
        <p:spPr>
          <a:xfrm>
            <a:off x="914400" y="120700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7" name="Code 485"/>
          <p:cNvSpPr txBox="1"/>
          <p:nvPr/>
        </p:nvSpPr>
        <p:spPr>
          <a:xfrm>
            <a:off x="621792" y="1426464"/>
            <a:ext cx="7955280" cy="448056"/>
          </a:xfrm>
          <a:prstGeom prst="rect">
            <a:avLst/>
          </a:prstGeom>
          <a:noFill/>
          <a:ln/>
        </p:spPr>
        <p:txBody>
          <a:bodyPr wrap="square" lIns="0" tIns="0" rIns="0" bIns="0" rtlCol="0" anchor="t"/>
          <a:lstStyle/>
          <a:p>
            <a:pPr marL="0" indent="0">
              <a:buNone/>
            </a:pPr>
            <a:r>
              <a:rPr lang="en-US" sz="1400" dirty="0">
                <a:solidFill>
                  <a:schemeClr val="accent1"/>
                </a:solidFill>
                <a:latin typeface="Courier New" pitchFamily="34" charset="0"/>
                <a:ea typeface="Courier New" pitchFamily="34" charset="-122"/>
                <a:cs typeface="Courier New" pitchFamily="34" charset="-120"/>
              </a:rPr>
              <a:t>PS&gt; python decrypt_backup.py ..\signal-YYYY-...backup ..\unlocked</a:t>
            </a:r>
            <a:endParaRPr lang="en-US" sz="1400" dirty="0"/>
          </a:p>
        </p:txBody>
      </p:sp>
      <p:sp>
        <p:nvSpPr>
          <p:cNvPr id="8" name="Card 486"/>
          <p:cNvSpPr/>
          <p:nvPr/>
        </p:nvSpPr>
        <p:spPr>
          <a:xfrm>
            <a:off x="457200" y="2148840"/>
            <a:ext cx="2606040" cy="457200"/>
          </a:xfrm>
          <a:prstGeom prst="roundRect">
            <a:avLst>
              <a:gd name="adj" fmla="val 16000"/>
            </a:avLst>
          </a:prstGeom>
          <a:solidFill>
            <a:schemeClr val="accent2"/>
          </a:solidFill>
          <a:ln w="12700">
            <a:solidFill>
              <a:schemeClr val="accent2"/>
            </a:solidFill>
            <a:prstDash val="solid"/>
          </a:ln>
        </p:spPr>
        <p:txBody>
          <a:bodyPr/>
          <a:lstStyle/>
          <a:p>
            <a:endParaRPr lang="en-ZM"/>
          </a:p>
        </p:txBody>
      </p:sp>
      <p:sp>
        <p:nvSpPr>
          <p:cNvPr id="9" name="Text 487"/>
          <p:cNvSpPr txBox="1"/>
          <p:nvPr/>
        </p:nvSpPr>
        <p:spPr>
          <a:xfrm>
            <a:off x="457200" y="2148840"/>
            <a:ext cx="2606040" cy="457200"/>
          </a:xfrm>
          <a:prstGeom prst="rect">
            <a:avLst/>
          </a:prstGeom>
          <a:noFill/>
          <a:ln/>
        </p:spPr>
        <p:txBody>
          <a:bodyPr wrap="square" lIns="0" tIns="0" rIns="0" bIns="0" rtlCol="0" anchor="ctr"/>
          <a:lstStyle/>
          <a:p>
            <a:pPr marL="0" indent="0" algn="ctr">
              <a:buNone/>
            </a:pPr>
            <a:r>
              <a:rPr lang="en-US" sz="1200" b="1" dirty="0">
                <a:solidFill>
                  <a:schemeClr val="bg1"/>
                </a:solidFill>
                <a:latin typeface="Courier New" pitchFamily="34" charset="0"/>
                <a:ea typeface="Courier New" pitchFamily="34" charset="-122"/>
                <a:cs typeface="Courier New" pitchFamily="34" charset="-120"/>
              </a:rPr>
              <a:t>decrypt_backup.py</a:t>
            </a:r>
            <a:endParaRPr lang="en-US" sz="1200" dirty="0"/>
          </a:p>
        </p:txBody>
      </p:sp>
      <p:sp>
        <p:nvSpPr>
          <p:cNvPr id="10" name="Text 488"/>
          <p:cNvSpPr txBox="1"/>
          <p:nvPr/>
        </p:nvSpPr>
        <p:spPr>
          <a:xfrm>
            <a:off x="502920" y="2697480"/>
            <a:ext cx="2514600" cy="731520"/>
          </a:xfrm>
          <a:prstGeom prst="rect">
            <a:avLst/>
          </a:prstGeom>
          <a:noFill/>
          <a:ln/>
        </p:spPr>
        <p:txBody>
          <a:bodyPr wrap="square" lIns="0" tIns="0" rIns="0" bIns="0" rtlCol="0" anchor="t"/>
          <a:lstStyle/>
          <a:p>
            <a:pPr marL="0" indent="0">
              <a:buNone/>
            </a:pPr>
            <a:r>
              <a:rPr lang="en-US" sz="1400" dirty="0">
                <a:solidFill>
                  <a:schemeClr val="tx1"/>
                </a:solidFill>
              </a:rPr>
              <a:t>The Python script to run</a:t>
            </a:r>
            <a:endParaRPr lang="en-US" sz="1400" dirty="0"/>
          </a:p>
        </p:txBody>
      </p:sp>
      <p:sp>
        <p:nvSpPr>
          <p:cNvPr id="11" name="Card 489"/>
          <p:cNvSpPr/>
          <p:nvPr/>
        </p:nvSpPr>
        <p:spPr>
          <a:xfrm>
            <a:off x="3264408" y="2148840"/>
            <a:ext cx="2606040" cy="457200"/>
          </a:xfrm>
          <a:prstGeom prst="roundRect">
            <a:avLst>
              <a:gd name="adj" fmla="val 16000"/>
            </a:avLst>
          </a:prstGeom>
          <a:solidFill>
            <a:schemeClr val="accent3"/>
          </a:solidFill>
          <a:ln w="12700">
            <a:solidFill>
              <a:schemeClr val="accent3"/>
            </a:solidFill>
            <a:prstDash val="solid"/>
          </a:ln>
        </p:spPr>
        <p:txBody>
          <a:bodyPr/>
          <a:lstStyle/>
          <a:p>
            <a:endParaRPr lang="en-ZM"/>
          </a:p>
        </p:txBody>
      </p:sp>
      <p:sp>
        <p:nvSpPr>
          <p:cNvPr id="12" name="Text 490"/>
          <p:cNvSpPr txBox="1"/>
          <p:nvPr/>
        </p:nvSpPr>
        <p:spPr>
          <a:xfrm>
            <a:off x="3264408" y="2148840"/>
            <a:ext cx="2606040" cy="457200"/>
          </a:xfrm>
          <a:prstGeom prst="rect">
            <a:avLst/>
          </a:prstGeom>
          <a:noFill/>
          <a:ln/>
        </p:spPr>
        <p:txBody>
          <a:bodyPr wrap="square" lIns="0" tIns="0" rIns="0" bIns="0" rtlCol="0" anchor="ctr"/>
          <a:lstStyle/>
          <a:p>
            <a:pPr marL="0" indent="0" algn="ctr">
              <a:buNone/>
            </a:pPr>
            <a:r>
              <a:rPr lang="en-US" sz="1200" b="1" dirty="0">
                <a:solidFill>
                  <a:schemeClr val="bg1"/>
                </a:solidFill>
                <a:latin typeface="Courier New" pitchFamily="34" charset="0"/>
                <a:ea typeface="Courier New" pitchFamily="34" charset="-122"/>
                <a:cs typeface="Courier New" pitchFamily="34" charset="-120"/>
              </a:rPr>
              <a:t>..\signal-….backup</a:t>
            </a:r>
            <a:endParaRPr lang="en-US" sz="1200" dirty="0"/>
          </a:p>
        </p:txBody>
      </p:sp>
      <p:sp>
        <p:nvSpPr>
          <p:cNvPr id="13" name="Text 491"/>
          <p:cNvSpPr txBox="1"/>
          <p:nvPr/>
        </p:nvSpPr>
        <p:spPr>
          <a:xfrm>
            <a:off x="3310128" y="2697480"/>
            <a:ext cx="2514600" cy="731520"/>
          </a:xfrm>
          <a:prstGeom prst="rect">
            <a:avLst/>
          </a:prstGeom>
          <a:noFill/>
          <a:ln/>
        </p:spPr>
        <p:txBody>
          <a:bodyPr wrap="square" lIns="0" tIns="0" rIns="0" bIns="0" rtlCol="0" anchor="t"/>
          <a:lstStyle/>
          <a:p>
            <a:pPr marL="0" indent="0">
              <a:buNone/>
            </a:pPr>
            <a:r>
              <a:rPr lang="en-US" sz="1400" dirty="0">
                <a:solidFill>
                  <a:schemeClr val="tx1"/>
                </a:solidFill>
              </a:rPr>
              <a:t>Input: .. means one folder up, where you saved the backup</a:t>
            </a:r>
            <a:endParaRPr lang="en-US" sz="1400" dirty="0"/>
          </a:p>
        </p:txBody>
      </p:sp>
      <p:sp>
        <p:nvSpPr>
          <p:cNvPr id="14" name="Card 492"/>
          <p:cNvSpPr/>
          <p:nvPr/>
        </p:nvSpPr>
        <p:spPr>
          <a:xfrm>
            <a:off x="6071616" y="2148840"/>
            <a:ext cx="2606040" cy="457200"/>
          </a:xfrm>
          <a:prstGeom prst="roundRect">
            <a:avLst>
              <a:gd name="adj" fmla="val 16000"/>
            </a:avLst>
          </a:prstGeom>
          <a:solidFill>
            <a:schemeClr val="accent4"/>
          </a:solidFill>
          <a:ln w="12700">
            <a:solidFill>
              <a:schemeClr val="accent4"/>
            </a:solidFill>
            <a:prstDash val="solid"/>
          </a:ln>
        </p:spPr>
        <p:txBody>
          <a:bodyPr/>
          <a:lstStyle/>
          <a:p>
            <a:endParaRPr lang="en-ZM"/>
          </a:p>
        </p:txBody>
      </p:sp>
      <p:sp>
        <p:nvSpPr>
          <p:cNvPr id="15" name="Text 493"/>
          <p:cNvSpPr txBox="1"/>
          <p:nvPr/>
        </p:nvSpPr>
        <p:spPr>
          <a:xfrm>
            <a:off x="6071616" y="2148840"/>
            <a:ext cx="2606040" cy="457200"/>
          </a:xfrm>
          <a:prstGeom prst="rect">
            <a:avLst/>
          </a:prstGeom>
          <a:noFill/>
          <a:ln/>
        </p:spPr>
        <p:txBody>
          <a:bodyPr wrap="square" lIns="0" tIns="0" rIns="0" bIns="0" rtlCol="0" anchor="ctr"/>
          <a:lstStyle/>
          <a:p>
            <a:pPr marL="0" indent="0" algn="ctr">
              <a:buNone/>
            </a:pPr>
            <a:r>
              <a:rPr lang="en-US" sz="1200" b="1" dirty="0">
                <a:solidFill>
                  <a:schemeClr val="bg1"/>
                </a:solidFill>
                <a:latin typeface="Courier New" pitchFamily="34" charset="0"/>
                <a:ea typeface="Courier New" pitchFamily="34" charset="-122"/>
                <a:cs typeface="Courier New" pitchFamily="34" charset="-120"/>
              </a:rPr>
              <a:t>..\unlocked</a:t>
            </a:r>
            <a:endParaRPr lang="en-US" sz="1200" dirty="0"/>
          </a:p>
        </p:txBody>
      </p:sp>
      <p:sp>
        <p:nvSpPr>
          <p:cNvPr id="16" name="Text 494"/>
          <p:cNvSpPr txBox="1"/>
          <p:nvPr/>
        </p:nvSpPr>
        <p:spPr>
          <a:xfrm>
            <a:off x="6117336" y="2697480"/>
            <a:ext cx="2514600" cy="731520"/>
          </a:xfrm>
          <a:prstGeom prst="rect">
            <a:avLst/>
          </a:prstGeom>
          <a:noFill/>
          <a:ln/>
        </p:spPr>
        <p:txBody>
          <a:bodyPr wrap="square" lIns="0" tIns="0" rIns="0" bIns="0" rtlCol="0" anchor="t"/>
          <a:lstStyle/>
          <a:p>
            <a:pPr marL="0" indent="0">
              <a:buNone/>
            </a:pPr>
            <a:r>
              <a:rPr lang="en-US" sz="1400" dirty="0">
                <a:solidFill>
                  <a:schemeClr val="tx1"/>
                </a:solidFill>
              </a:rPr>
              <a:t>Output: the folder the tool will fill with your data</a:t>
            </a:r>
            <a:endParaRPr lang="en-US" sz="1400" dirty="0"/>
          </a:p>
        </p:txBody>
      </p:sp>
      <p:sp>
        <p:nvSpPr>
          <p:cNvPr id="17" name="Card 495"/>
          <p:cNvSpPr/>
          <p:nvPr/>
        </p:nvSpPr>
        <p:spPr>
          <a:xfrm>
            <a:off x="457200" y="3566160"/>
            <a:ext cx="4023360" cy="914400"/>
          </a:xfrm>
          <a:prstGeom prst="roundRect">
            <a:avLst>
              <a:gd name="adj" fmla="val 8000"/>
            </a:avLst>
          </a:prstGeom>
          <a:solidFill>
            <a:schemeClr val="bg2"/>
          </a:solidFill>
          <a:ln w="12700">
            <a:solidFill>
              <a:schemeClr val="bg2"/>
            </a:solidFill>
            <a:prstDash val="solid"/>
          </a:ln>
        </p:spPr>
        <p:txBody>
          <a:bodyPr/>
          <a:lstStyle/>
          <a:p>
            <a:endParaRPr lang="en-ZM"/>
          </a:p>
        </p:txBody>
      </p:sp>
      <p:sp>
        <p:nvSpPr>
          <p:cNvPr id="18" name="Text 496"/>
          <p:cNvSpPr txBox="1"/>
          <p:nvPr/>
        </p:nvSpPr>
        <p:spPr>
          <a:xfrm>
            <a:off x="640080" y="3657600"/>
            <a:ext cx="3703320" cy="347472"/>
          </a:xfrm>
          <a:prstGeom prst="rect">
            <a:avLst/>
          </a:prstGeom>
          <a:noFill/>
          <a:ln/>
        </p:spPr>
        <p:txBody>
          <a:bodyPr wrap="square" lIns="0" tIns="0" rIns="0" bIns="0" rtlCol="0" anchor="ctr"/>
          <a:lstStyle/>
          <a:p>
            <a:pPr marL="0" indent="0">
              <a:buNone/>
            </a:pPr>
            <a:r>
              <a:rPr lang="en-US" sz="1600" b="1" dirty="0">
                <a:solidFill>
                  <a:schemeClr val="tx1"/>
                </a:solidFill>
              </a:rPr>
              <a:t>Passphrase prompt</a:t>
            </a:r>
            <a:endParaRPr lang="en-US" sz="1600" dirty="0"/>
          </a:p>
        </p:txBody>
      </p:sp>
      <p:sp>
        <p:nvSpPr>
          <p:cNvPr id="19" name="Text 497"/>
          <p:cNvSpPr txBox="1"/>
          <p:nvPr/>
        </p:nvSpPr>
        <p:spPr>
          <a:xfrm>
            <a:off x="640080" y="4023360"/>
            <a:ext cx="3657600" cy="365760"/>
          </a:xfrm>
          <a:prstGeom prst="rect">
            <a:avLst/>
          </a:prstGeom>
          <a:noFill/>
          <a:ln/>
        </p:spPr>
        <p:txBody>
          <a:bodyPr wrap="square" lIns="0" tIns="0" rIns="0" bIns="0" rtlCol="0" anchor="t"/>
          <a:lstStyle/>
          <a:p>
            <a:pPr marL="0" indent="0">
              <a:buNone/>
            </a:pPr>
            <a:r>
              <a:rPr lang="en-US" sz="1400" dirty="0">
                <a:solidFill>
                  <a:schemeClr val="tx2"/>
                </a:solidFill>
              </a:rPr>
              <a:t>Type your 30 digits (spaces optional), press Enter</a:t>
            </a:r>
            <a:endParaRPr lang="en-US" sz="1400" dirty="0"/>
          </a:p>
        </p:txBody>
      </p:sp>
      <p:sp>
        <p:nvSpPr>
          <p:cNvPr id="20" name="Card 498"/>
          <p:cNvSpPr/>
          <p:nvPr/>
        </p:nvSpPr>
        <p:spPr>
          <a:xfrm>
            <a:off x="4663440" y="3566160"/>
            <a:ext cx="4023360" cy="914400"/>
          </a:xfrm>
          <a:prstGeom prst="roundRect">
            <a:avLst>
              <a:gd name="adj" fmla="val 8000"/>
            </a:avLst>
          </a:prstGeom>
          <a:solidFill>
            <a:schemeClr val="accent1"/>
          </a:solidFill>
          <a:ln w="12700">
            <a:solidFill>
              <a:schemeClr val="accent1"/>
            </a:solidFill>
            <a:prstDash val="solid"/>
          </a:ln>
        </p:spPr>
        <p:txBody>
          <a:bodyPr/>
          <a:lstStyle/>
          <a:p>
            <a:endParaRPr lang="en-ZM"/>
          </a:p>
        </p:txBody>
      </p:sp>
      <p:sp>
        <p:nvSpPr>
          <p:cNvPr id="21" name="Text 499"/>
          <p:cNvSpPr txBox="1"/>
          <p:nvPr/>
        </p:nvSpPr>
        <p:spPr>
          <a:xfrm>
            <a:off x="4846320" y="3611880"/>
            <a:ext cx="3657600" cy="822960"/>
          </a:xfrm>
          <a:prstGeom prst="rect">
            <a:avLst/>
          </a:prstGeom>
          <a:noFill/>
          <a:ln/>
        </p:spPr>
        <p:txBody>
          <a:bodyPr wrap="square" lIns="0" tIns="0" rIns="0" bIns="0" rtlCol="0" anchor="ctr"/>
          <a:lstStyle/>
          <a:p>
            <a:pPr marL="0" indent="0">
              <a:buNone/>
            </a:pPr>
            <a:r>
              <a:rPr lang="en-US" sz="1400" b="1" dirty="0">
                <a:solidFill>
                  <a:schemeClr val="tx1"/>
                </a:solidFill>
              </a:rPr>
              <a:t>Tip: </a:t>
            </a:r>
            <a:r>
              <a:rPr lang="en-US" sz="1400" dirty="0">
                <a:solidFill>
                  <a:schemeClr val="tx1"/>
                </a:solidFill>
              </a:rPr>
              <a:t>type ..\sig and press Tab to auto-complete the long file name.</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left)">
                                      <p:cBhvr>
                                        <p:cTn id="7" dur="35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Steps 7–8: Explore and Clean Up</a:t>
            </a:r>
            <a:endParaRPr lang="en-US" sz="3200" dirty="0"/>
          </a:p>
        </p:txBody>
      </p:sp>
      <p:graphicFrame>
        <p:nvGraphicFramePr>
          <p:cNvPr id="32" name="Table 500"/>
          <p:cNvGraphicFramePr>
            <a:graphicFrameLocks noGrp="1"/>
          </p:cNvGraphicFramePr>
          <p:nvPr>
            <p:extLst>
              <p:ext uri="{D42A27DB-BD31-4B8C-83A1-F6EECF244321}">
                <p14:modId xmlns:p14="http://schemas.microsoft.com/office/powerpoint/2010/main" val="1579011935"/>
              </p:ext>
            </p:extLst>
          </p:nvPr>
        </p:nvGraphicFramePr>
        <p:xfrm>
          <a:off x="457200" y="1143000"/>
          <a:ext cx="5212080" cy="329184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658368">
                <a:tc>
                  <a:txBody>
                    <a:bodyPr/>
                    <a:lstStyle/>
                    <a:p>
                      <a:pPr marL="0" indent="0">
                        <a:buNone/>
                      </a:pPr>
                      <a:r>
                        <a:rPr lang="en-US" sz="1200" b="1" dirty="0">
                          <a:solidFill>
                            <a:schemeClr val="bg1"/>
                          </a:solidFill>
                        </a:rPr>
                        <a:t>What you'll find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What it is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database.sqlite</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All messages and metadata. Open with DB Browser for SQLite</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attachments\*.bin</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Photos, videos, files. Rename to .jpg / .mp4 to open</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stickers\, avatars\</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Stickers and profile pictures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preferences.json, key_value.json</a:t>
                      </a:r>
                      <a:endParaRPr lang="en-US" sz="1200" dirty="0">
                        <a:latin typeface="Courier New" charset="0"/>
                        <a:ea typeface="Courier New" charset="0"/>
                        <a:cs typeface="Courier New"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App settings. Open in Notepad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Terminal 501"/>
          <p:cNvSpPr/>
          <p:nvPr/>
        </p:nvSpPr>
        <p:spPr>
          <a:xfrm>
            <a:off x="5943600" y="1143000"/>
            <a:ext cx="2743200" cy="1325880"/>
          </a:xfrm>
          <a:prstGeom prst="roundRect">
            <a:avLst>
              <a:gd name="adj" fmla="val 5517"/>
            </a:avLst>
          </a:prstGeom>
          <a:solidFill>
            <a:schemeClr val="tx1"/>
          </a:solidFill>
          <a:ln w="12700">
            <a:solidFill>
              <a:schemeClr val="tx2"/>
            </a:solidFill>
            <a:prstDash val="solid"/>
          </a:ln>
          <a:effectLst>
            <a:outerShdw blurRad="76200" dist="25400" dir="5400000" algn="bl" rotWithShape="0">
              <a:srgbClr val="000000">
                <a:alpha val="12000"/>
              </a:srgbClr>
            </a:outerShdw>
          </a:effectLst>
        </p:spPr>
        <p:txBody>
          <a:bodyPr/>
          <a:lstStyle/>
          <a:p>
            <a:endParaRPr lang="en-ZM"/>
          </a:p>
        </p:txBody>
      </p:sp>
      <p:sp>
        <p:nvSpPr>
          <p:cNvPr id="5" name="Dot 502"/>
          <p:cNvSpPr/>
          <p:nvPr/>
        </p:nvSpPr>
        <p:spPr>
          <a:xfrm>
            <a:off x="6089904" y="1252728"/>
            <a:ext cx="91440" cy="91440"/>
          </a:xfrm>
          <a:prstGeom prst="ellipse">
            <a:avLst/>
          </a:prstGeom>
          <a:solidFill>
            <a:schemeClr val="accent4"/>
          </a:solidFill>
          <a:ln w="12700">
            <a:solidFill>
              <a:schemeClr val="accent4"/>
            </a:solidFill>
            <a:prstDash val="solid"/>
          </a:ln>
        </p:spPr>
        <p:txBody>
          <a:bodyPr/>
          <a:lstStyle/>
          <a:p>
            <a:endParaRPr lang="en-ZM"/>
          </a:p>
        </p:txBody>
      </p:sp>
      <p:sp>
        <p:nvSpPr>
          <p:cNvPr id="6" name="Dot 503"/>
          <p:cNvSpPr/>
          <p:nvPr/>
        </p:nvSpPr>
        <p:spPr>
          <a:xfrm>
            <a:off x="6245352" y="1252728"/>
            <a:ext cx="91440" cy="91440"/>
          </a:xfrm>
          <a:prstGeom prst="ellipse">
            <a:avLst/>
          </a:prstGeom>
          <a:solidFill>
            <a:schemeClr val="accent1"/>
          </a:solidFill>
          <a:ln w="12700">
            <a:solidFill>
              <a:schemeClr val="accent1"/>
            </a:solidFill>
            <a:prstDash val="solid"/>
          </a:ln>
        </p:spPr>
        <p:txBody>
          <a:bodyPr/>
          <a:lstStyle/>
          <a:p>
            <a:endParaRPr lang="en-ZM"/>
          </a:p>
        </p:txBody>
      </p:sp>
      <p:sp>
        <p:nvSpPr>
          <p:cNvPr id="7" name="Dot 504"/>
          <p:cNvSpPr/>
          <p:nvPr/>
        </p:nvSpPr>
        <p:spPr>
          <a:xfrm>
            <a:off x="6400800" y="1252728"/>
            <a:ext cx="91440" cy="91440"/>
          </a:xfrm>
          <a:prstGeom prst="ellipse">
            <a:avLst/>
          </a:prstGeom>
          <a:solidFill>
            <a:schemeClr val="accent3"/>
          </a:solidFill>
          <a:ln w="12700">
            <a:solidFill>
              <a:schemeClr val="accent3"/>
            </a:solidFill>
            <a:prstDash val="solid"/>
          </a:ln>
        </p:spPr>
        <p:txBody>
          <a:bodyPr/>
          <a:lstStyle/>
          <a:p>
            <a:endParaRPr lang="en-ZM"/>
          </a:p>
        </p:txBody>
      </p:sp>
      <p:sp>
        <p:nvSpPr>
          <p:cNvPr id="8" name="Text 505"/>
          <p:cNvSpPr txBox="1"/>
          <p:nvPr/>
        </p:nvSpPr>
        <p:spPr>
          <a:xfrm>
            <a:off x="6629400" y="1207008"/>
            <a:ext cx="1920240" cy="182880"/>
          </a:xfrm>
          <a:prstGeom prst="rect">
            <a:avLst/>
          </a:prstGeom>
          <a:noFill/>
          <a:ln/>
        </p:spPr>
        <p:txBody>
          <a:bodyPr wrap="square" lIns="0" tIns="0" rIns="0" bIns="0" rtlCol="0" anchor="ctr"/>
          <a:lstStyle/>
          <a:p>
            <a:pPr marL="0" indent="0">
              <a:buNone/>
            </a:pPr>
            <a:r>
              <a:rPr lang="en-US" sz="1000" dirty="0">
                <a:solidFill>
                  <a:schemeClr val="accent5"/>
                </a:solidFill>
                <a:latin typeface="Courier New" pitchFamily="34" charset="0"/>
                <a:ea typeface="Courier New" pitchFamily="34" charset="-122"/>
                <a:cs typeface="Courier New" pitchFamily="34" charset="-120"/>
              </a:rPr>
              <a:t>explore</a:t>
            </a:r>
            <a:endParaRPr lang="en-US" sz="1000" dirty="0"/>
          </a:p>
        </p:txBody>
      </p:sp>
      <p:sp>
        <p:nvSpPr>
          <p:cNvPr id="9" name="Code 506"/>
          <p:cNvSpPr txBox="1"/>
          <p:nvPr/>
        </p:nvSpPr>
        <p:spPr>
          <a:xfrm>
            <a:off x="6108192" y="1472184"/>
            <a:ext cx="2468880" cy="905256"/>
          </a:xfrm>
          <a:prstGeom prst="rect">
            <a:avLst/>
          </a:prstGeom>
          <a:noFill/>
          <a:ln/>
        </p:spPr>
        <p:txBody>
          <a:bodyPr wrap="square" lIns="0" tIns="0" rIns="0" bIns="0" rtlCol="0" anchor="t"/>
          <a:lstStyle/>
          <a:p>
            <a:pPr marL="0" indent="0">
              <a:buNone/>
            </a:pPr>
            <a:r>
              <a:rPr lang="en-US" sz="1100" dirty="0">
                <a:solidFill>
                  <a:schemeClr val="accent1"/>
                </a:solidFill>
                <a:latin typeface="Courier New" pitchFamily="34" charset="0"/>
                <a:ea typeface="Courier New" pitchFamily="34" charset="-122"/>
                <a:cs typeface="Courier New" pitchFamily="34" charset="-120"/>
              </a:rPr>
              <a:t>PS&gt; cd ..\unlocked</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ls</a:t>
            </a:r>
            <a:endParaRPr lang="en-US" sz="1100" dirty="0"/>
          </a:p>
          <a:p>
            <a:pPr marL="0" indent="0">
              <a:buNone/>
            </a:pPr>
            <a:r>
              <a:rPr lang="en-US" sz="1100" dirty="0">
                <a:solidFill>
                  <a:schemeClr val="accent1"/>
                </a:solidFill>
                <a:latin typeface="Courier New" pitchFamily="34" charset="0"/>
                <a:ea typeface="Courier New" pitchFamily="34" charset="-122"/>
                <a:cs typeface="Courier New" pitchFamily="34" charset="-120"/>
              </a:rPr>
              <a:t>PS&gt; explorer .</a:t>
            </a:r>
            <a:endParaRPr lang="en-US" sz="1100" dirty="0"/>
          </a:p>
        </p:txBody>
      </p:sp>
      <p:sp>
        <p:nvSpPr>
          <p:cNvPr id="10" name="Card 507"/>
          <p:cNvSpPr/>
          <p:nvPr/>
        </p:nvSpPr>
        <p:spPr>
          <a:xfrm>
            <a:off x="5943600" y="2651760"/>
            <a:ext cx="2743200" cy="1828800"/>
          </a:xfrm>
          <a:prstGeom prst="roundRect">
            <a:avLst>
              <a:gd name="adj" fmla="val 4000"/>
            </a:avLst>
          </a:prstGeom>
          <a:solidFill>
            <a:schemeClr val="bg2"/>
          </a:solidFill>
          <a:ln w="12700">
            <a:solidFill>
              <a:schemeClr val="bg2"/>
            </a:solidFill>
            <a:prstDash val="solid"/>
          </a:ln>
        </p:spPr>
        <p:txBody>
          <a:bodyPr/>
          <a:lstStyle/>
          <a:p>
            <a:endParaRPr lang="en-ZM"/>
          </a:p>
        </p:txBody>
      </p:sp>
      <p:sp>
        <p:nvSpPr>
          <p:cNvPr id="11" name="Badge 508"/>
          <p:cNvSpPr/>
          <p:nvPr/>
        </p:nvSpPr>
        <p:spPr>
          <a:xfrm>
            <a:off x="6108192" y="2788920"/>
            <a:ext cx="347472" cy="347472"/>
          </a:xfrm>
          <a:prstGeom prst="ellipse">
            <a:avLst/>
          </a:prstGeom>
          <a:solidFill>
            <a:schemeClr val="accent4"/>
          </a:solidFill>
          <a:ln w="12700">
            <a:solidFill>
              <a:schemeClr val="accent4"/>
            </a:solidFill>
            <a:prstDash val="solid"/>
          </a:ln>
        </p:spPr>
        <p:txBody>
          <a:bodyPr/>
          <a:lstStyle/>
          <a:p>
            <a:endParaRPr lang="en-ZM"/>
          </a:p>
        </p:txBody>
      </p:sp>
      <p:sp>
        <p:nvSpPr>
          <p:cNvPr id="12" name="Text 509"/>
          <p:cNvSpPr txBox="1"/>
          <p:nvPr/>
        </p:nvSpPr>
        <p:spPr>
          <a:xfrm>
            <a:off x="6108192" y="278892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latin typeface="Cambria" pitchFamily="34" charset="0"/>
                <a:ea typeface="Cambria" pitchFamily="34" charset="-122"/>
                <a:cs typeface="Cambria" pitchFamily="34" charset="-120"/>
              </a:rPr>
              <a:t>8</a:t>
            </a:r>
            <a:endParaRPr lang="en-US" sz="1300" dirty="0"/>
          </a:p>
        </p:txBody>
      </p:sp>
      <p:sp>
        <p:nvSpPr>
          <p:cNvPr id="13" name="Text 510"/>
          <p:cNvSpPr txBox="1"/>
          <p:nvPr/>
        </p:nvSpPr>
        <p:spPr>
          <a:xfrm>
            <a:off x="6565392" y="2788920"/>
            <a:ext cx="2011680" cy="347472"/>
          </a:xfrm>
          <a:prstGeom prst="rect">
            <a:avLst/>
          </a:prstGeom>
          <a:noFill/>
          <a:ln/>
        </p:spPr>
        <p:txBody>
          <a:bodyPr wrap="square" lIns="0" tIns="0" rIns="0" bIns="0" rtlCol="0" anchor="ctr"/>
          <a:lstStyle/>
          <a:p>
            <a:pPr marL="0" indent="0">
              <a:buNone/>
            </a:pPr>
            <a:r>
              <a:rPr lang="en-US" sz="1600" b="1" dirty="0">
                <a:solidFill>
                  <a:schemeClr val="tx1"/>
                </a:solidFill>
              </a:rPr>
              <a:t>Clean up</a:t>
            </a:r>
            <a:endParaRPr lang="en-US" sz="1600" dirty="0"/>
          </a:p>
        </p:txBody>
      </p:sp>
      <p:sp>
        <p:nvSpPr>
          <p:cNvPr id="14" name="Text 511"/>
          <p:cNvSpPr txBox="1"/>
          <p:nvPr/>
        </p:nvSpPr>
        <p:spPr>
          <a:xfrm>
            <a:off x="6108192" y="3246120"/>
            <a:ext cx="2423160" cy="1188720"/>
          </a:xfrm>
          <a:prstGeom prst="rect">
            <a:avLst/>
          </a:prstGeom>
          <a:noFill/>
          <a:ln/>
        </p:spPr>
        <p:txBody>
          <a:bodyPr wrap="square" lIns="0" tIns="0" rIns="0" bIns="0" rtlCol="0" anchor="t"/>
          <a:lstStyle/>
          <a:p>
            <a:pPr marL="0" indent="0">
              <a:buNone/>
            </a:pPr>
            <a:r>
              <a:rPr lang="en-US" sz="1400" dirty="0">
                <a:solidFill>
                  <a:schemeClr val="tx1"/>
                </a:solidFill>
              </a:rPr>
              <a:t>Run deactivate. When finished, delete the unlocked folder and empty the Recycle Bin. The data is unprotected.</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wipe(left)">
                                      <p:cBhvr>
                                        <p:cTn id="7" dur="350"/>
                                        <p:tgtEl>
                                          <p:spTgt spid="9">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wipe(down)">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wipe(down)">
                                      <p:cBhvr>
                                        <p:cTn id="2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Troubleshooting</a:t>
            </a:r>
            <a:endParaRPr lang="en-US" sz="3200" dirty="0"/>
          </a:p>
        </p:txBody>
      </p:sp>
      <p:graphicFrame>
        <p:nvGraphicFramePr>
          <p:cNvPr id="33" name="Table 512"/>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364992"/>
        </p:xfrm>
        <a:graphic>
          <a:graphicData uri="http://schemas.openxmlformats.org/drawingml/2006/table">
            <a:tbl>
              <a:tblPr/>
              <a:tblGrid>
                <a:gridCol w="26517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200" b="1" dirty="0">
                          <a:solidFill>
                            <a:schemeClr val="bg1"/>
                          </a:solidFill>
                        </a:rPr>
                        <a:t>Problem</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Fix</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Part</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chemeClr val="tx1"/>
                          </a:solidFill>
                        </a:rPr>
                        <a:t>python / git “not recognized”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Not on PATH: reinstall with PATH ticked, reopen the terminal</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7</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chemeClr val="tx1"/>
                          </a:solidFill>
                        </a:rPr>
                        <a:t>python opens the Microsoft Store</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Turn off App execution aliases in Settings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6</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200" b="1" dirty="0">
                          <a:solidFill>
                            <a:schemeClr val="tx1"/>
                          </a:solidFill>
                        </a:rPr>
                        <a:t>“running scripts is disabled”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Set-ExecutionPolicy -Scope CurrentUser RemoteSigned</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9</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200" b="1" dirty="0">
                          <a:solidFill>
                            <a:schemeClr val="tx1"/>
                          </a:solidFill>
                        </a:rPr>
                        <a:t>ModuleNotFoundError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Activate .venv, rerun pip install -r requirements.txt</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9</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0624">
                <a:tc>
                  <a:txBody>
                    <a:bodyPr/>
                    <a:lstStyle/>
                    <a:p>
                      <a:pPr marL="0" indent="0">
                        <a:buNone/>
                      </a:pPr>
                      <a:r>
                        <a:rPr lang="en-US" sz="1200" b="1" dirty="0">
                          <a:solidFill>
                            <a:schemeClr val="tx1"/>
                          </a:solidFill>
                        </a:rPr>
                        <a:t>No such file or directory</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Wrong path: check with pwd and ls, use Tab</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0624">
                <a:tc>
                  <a:txBody>
                    <a:bodyPr/>
                    <a:lstStyle/>
                    <a:p>
                      <a:pPr marL="0" indent="0">
                        <a:buNone/>
                      </a:pPr>
                      <a:r>
                        <a:rPr lang="en-US" sz="1200" b="1" dirty="0">
                          <a:solidFill>
                            <a:schemeClr val="tx1"/>
                          </a:solidFill>
                        </a:rPr>
                        <a:t>Passphrase / MAC error</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Wrong passphrase: re-check every digit</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13</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20624">
                <a:tc>
                  <a:txBody>
                    <a:bodyPr/>
                    <a:lstStyle/>
                    <a:p>
                      <a:pPr marL="0" indent="0">
                        <a:buNone/>
                      </a:pPr>
                      <a:r>
                        <a:rPr lang="en-US" sz="1200" b="1" dirty="0">
                          <a:solidFill>
                            <a:schemeClr val="tx1"/>
                          </a:solidFill>
                        </a:rPr>
                        <a:t>Crashes partway through</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Backup newer than the 2021 tool: check Issues, or try signalbackup-tools</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11</a:t>
                      </a:r>
                      <a:endParaRPr lang="en-US" sz="1200" dirty="0"/>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push/>
      </p:transition>
    </mc:Choice>
    <mc:Fallback>
      <p:transition spd="med">
        <p:push/>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rPr>
              <a:t>What You Now Understand</a:t>
            </a:r>
            <a:endParaRPr lang="en-US" sz="3200" dirty="0"/>
          </a:p>
        </p:txBody>
      </p:sp>
      <p:sp>
        <p:nvSpPr>
          <p:cNvPr id="3" name="Badge 513"/>
          <p:cNvSpPr/>
          <p:nvPr/>
        </p:nvSpPr>
        <p:spPr>
          <a:xfrm>
            <a:off x="457200" y="1179576"/>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4" name="Text 514"/>
          <p:cNvSpPr txBox="1"/>
          <p:nvPr/>
        </p:nvSpPr>
        <p:spPr>
          <a:xfrm>
            <a:off x="457200" y="1179576"/>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1</a:t>
            </a:r>
            <a:endParaRPr lang="en-US" sz="1300" dirty="0"/>
          </a:p>
        </p:txBody>
      </p:sp>
      <p:sp>
        <p:nvSpPr>
          <p:cNvPr id="5" name="Text 515"/>
          <p:cNvSpPr txBox="1"/>
          <p:nvPr/>
        </p:nvSpPr>
        <p:spPr>
          <a:xfrm>
            <a:off x="960120" y="1143000"/>
            <a:ext cx="3429000" cy="640080"/>
          </a:xfrm>
          <a:prstGeom prst="rect">
            <a:avLst/>
          </a:prstGeom>
          <a:noFill/>
          <a:ln/>
        </p:spPr>
        <p:txBody>
          <a:bodyPr wrap="square" lIns="0" tIns="0" rIns="0" bIns="0" rtlCol="0" anchor="t"/>
          <a:lstStyle/>
          <a:p>
            <a:pPr marL="0" indent="0">
              <a:buNone/>
            </a:pPr>
            <a:r>
              <a:rPr lang="en-US" sz="1400" dirty="0">
                <a:solidFill>
                  <a:schemeClr val="bg1"/>
                </a:solidFill>
              </a:rPr>
              <a:t>Python is interpreted: bytecode run by the PVM in python.exe</a:t>
            </a:r>
            <a:endParaRPr lang="en-US" sz="1400" dirty="0"/>
          </a:p>
        </p:txBody>
      </p:sp>
      <p:sp>
        <p:nvSpPr>
          <p:cNvPr id="6" name="Badge 516"/>
          <p:cNvSpPr/>
          <p:nvPr/>
        </p:nvSpPr>
        <p:spPr>
          <a:xfrm>
            <a:off x="457200" y="1929384"/>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7" name="Text 517"/>
          <p:cNvSpPr txBox="1"/>
          <p:nvPr/>
        </p:nvSpPr>
        <p:spPr>
          <a:xfrm>
            <a:off x="457200" y="1929384"/>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2</a:t>
            </a:r>
            <a:endParaRPr lang="en-US" sz="1300" dirty="0"/>
          </a:p>
        </p:txBody>
      </p:sp>
      <p:sp>
        <p:nvSpPr>
          <p:cNvPr id="8" name="Text 518"/>
          <p:cNvSpPr txBox="1"/>
          <p:nvPr/>
        </p:nvSpPr>
        <p:spPr>
          <a:xfrm>
            <a:off x="960120" y="1892808"/>
            <a:ext cx="3429000" cy="640080"/>
          </a:xfrm>
          <a:prstGeom prst="rect">
            <a:avLst/>
          </a:prstGeom>
          <a:noFill/>
          <a:ln/>
        </p:spPr>
        <p:txBody>
          <a:bodyPr wrap="square" lIns="0" tIns="0" rIns="0" bIns="0" rtlCol="0" anchor="t"/>
          <a:lstStyle/>
          <a:p>
            <a:pPr marL="0" indent="0">
              <a:buNone/>
            </a:pPr>
            <a:r>
              <a:rPr lang="en-US" sz="1400" dirty="0">
                <a:solidFill>
                  <a:schemeClr val="bg1"/>
                </a:solidFill>
              </a:rPr>
              <a:t>Unlike C or Java: dynamic types, indentation, quicker to write</a:t>
            </a:r>
            <a:endParaRPr lang="en-US" sz="1400" dirty="0"/>
          </a:p>
        </p:txBody>
      </p:sp>
      <p:sp>
        <p:nvSpPr>
          <p:cNvPr id="9" name="Badge 519"/>
          <p:cNvSpPr/>
          <p:nvPr/>
        </p:nvSpPr>
        <p:spPr>
          <a:xfrm>
            <a:off x="457200" y="2679192"/>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10" name="Text 520"/>
          <p:cNvSpPr txBox="1"/>
          <p:nvPr/>
        </p:nvSpPr>
        <p:spPr>
          <a:xfrm>
            <a:off x="457200" y="2679192"/>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3</a:t>
            </a:r>
            <a:endParaRPr lang="en-US" sz="1300" dirty="0"/>
          </a:p>
        </p:txBody>
      </p:sp>
      <p:sp>
        <p:nvSpPr>
          <p:cNvPr id="11" name="Text 521"/>
          <p:cNvSpPr txBox="1"/>
          <p:nvPr/>
        </p:nvSpPr>
        <p:spPr>
          <a:xfrm>
            <a:off x="960120" y="2642616"/>
            <a:ext cx="3429000" cy="640080"/>
          </a:xfrm>
          <a:prstGeom prst="rect">
            <a:avLst/>
          </a:prstGeom>
          <a:noFill/>
          <a:ln/>
        </p:spPr>
        <p:txBody>
          <a:bodyPr wrap="square" lIns="0" tIns="0" rIns="0" bIns="0" rtlCol="0" anchor="t"/>
          <a:lstStyle/>
          <a:p>
            <a:pPr marL="0" indent="0">
              <a:buNone/>
            </a:pPr>
            <a:r>
              <a:rPr lang="en-US" sz="1400" dirty="0">
                <a:solidFill>
                  <a:schemeClr val="bg1"/>
                </a:solidFill>
              </a:rPr>
              <a:t>Windows needs Python installed; it has no interpreter</a:t>
            </a:r>
            <a:endParaRPr lang="en-US" sz="1400" dirty="0"/>
          </a:p>
        </p:txBody>
      </p:sp>
      <p:sp>
        <p:nvSpPr>
          <p:cNvPr id="12" name="Badge 522"/>
          <p:cNvSpPr/>
          <p:nvPr/>
        </p:nvSpPr>
        <p:spPr>
          <a:xfrm>
            <a:off x="457200" y="3429000"/>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13" name="Text 523"/>
          <p:cNvSpPr txBox="1"/>
          <p:nvPr/>
        </p:nvSpPr>
        <p:spPr>
          <a:xfrm>
            <a:off x="457200" y="3429000"/>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4</a:t>
            </a:r>
            <a:endParaRPr lang="en-US" sz="1300" dirty="0"/>
          </a:p>
        </p:txBody>
      </p:sp>
      <p:sp>
        <p:nvSpPr>
          <p:cNvPr id="14" name="Text 524"/>
          <p:cNvSpPr txBox="1"/>
          <p:nvPr/>
        </p:nvSpPr>
        <p:spPr>
          <a:xfrm>
            <a:off x="960120" y="3392424"/>
            <a:ext cx="3429000" cy="640080"/>
          </a:xfrm>
          <a:prstGeom prst="rect">
            <a:avLst/>
          </a:prstGeom>
          <a:noFill/>
          <a:ln/>
        </p:spPr>
        <p:txBody>
          <a:bodyPr wrap="square" lIns="0" tIns="0" rIns="0" bIns="0" rtlCol="0" anchor="t"/>
          <a:lstStyle/>
          <a:p>
            <a:pPr marL="0" indent="0">
              <a:buNone/>
            </a:pPr>
            <a:r>
              <a:rPr lang="en-US" sz="1400" dirty="0">
                <a:solidFill>
                  <a:schemeClr val="bg1"/>
                </a:solidFill>
              </a:rPr>
              <a:t>PATH: the folders Windows searches for commands</a:t>
            </a:r>
            <a:endParaRPr lang="en-US" sz="1400" dirty="0"/>
          </a:p>
        </p:txBody>
      </p:sp>
      <p:sp>
        <p:nvSpPr>
          <p:cNvPr id="15" name="Badge 525"/>
          <p:cNvSpPr/>
          <p:nvPr/>
        </p:nvSpPr>
        <p:spPr>
          <a:xfrm>
            <a:off x="4754880" y="1179576"/>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16" name="Text 526"/>
          <p:cNvSpPr txBox="1"/>
          <p:nvPr/>
        </p:nvSpPr>
        <p:spPr>
          <a:xfrm>
            <a:off x="4754880" y="1179576"/>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5</a:t>
            </a:r>
            <a:endParaRPr lang="en-US" sz="1300" dirty="0"/>
          </a:p>
        </p:txBody>
      </p:sp>
      <p:sp>
        <p:nvSpPr>
          <p:cNvPr id="17" name="Text 527"/>
          <p:cNvSpPr txBox="1"/>
          <p:nvPr/>
        </p:nvSpPr>
        <p:spPr>
          <a:xfrm>
            <a:off x="5257800" y="1143000"/>
            <a:ext cx="3429000" cy="640080"/>
          </a:xfrm>
          <a:prstGeom prst="rect">
            <a:avLst/>
          </a:prstGeom>
          <a:noFill/>
          <a:ln/>
        </p:spPr>
        <p:txBody>
          <a:bodyPr wrap="square" lIns="0" tIns="0" rIns="0" bIns="0" rtlCol="0" anchor="t"/>
          <a:lstStyle/>
          <a:p>
            <a:pPr marL="0" indent="0">
              <a:buNone/>
            </a:pPr>
            <a:r>
              <a:rPr lang="en-US" sz="1400" dirty="0">
                <a:solidFill>
                  <a:schemeClr val="bg1"/>
                </a:solidFill>
              </a:rPr>
              <a:t>Run a file: python file.py arg1 arg2 → sys.argv</a:t>
            </a:r>
            <a:endParaRPr lang="en-US" sz="1400" dirty="0"/>
          </a:p>
        </p:txBody>
      </p:sp>
      <p:sp>
        <p:nvSpPr>
          <p:cNvPr id="18" name="Badge 528"/>
          <p:cNvSpPr/>
          <p:nvPr/>
        </p:nvSpPr>
        <p:spPr>
          <a:xfrm>
            <a:off x="4754880" y="1929384"/>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19" name="Text 529"/>
          <p:cNvSpPr txBox="1"/>
          <p:nvPr/>
        </p:nvSpPr>
        <p:spPr>
          <a:xfrm>
            <a:off x="4754880" y="1929384"/>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6</a:t>
            </a:r>
            <a:endParaRPr lang="en-US" sz="1300" dirty="0"/>
          </a:p>
        </p:txBody>
      </p:sp>
      <p:sp>
        <p:nvSpPr>
          <p:cNvPr id="20" name="Text 530"/>
          <p:cNvSpPr txBox="1"/>
          <p:nvPr/>
        </p:nvSpPr>
        <p:spPr>
          <a:xfrm>
            <a:off x="5257800" y="1892808"/>
            <a:ext cx="3429000" cy="640080"/>
          </a:xfrm>
          <a:prstGeom prst="rect">
            <a:avLst/>
          </a:prstGeom>
          <a:noFill/>
          <a:ln/>
        </p:spPr>
        <p:txBody>
          <a:bodyPr wrap="square" lIns="0" tIns="0" rIns="0" bIns="0" rtlCol="0" anchor="t"/>
          <a:lstStyle/>
          <a:p>
            <a:pPr marL="0" indent="0">
              <a:buNone/>
            </a:pPr>
            <a:r>
              <a:rPr lang="en-US" sz="1400" dirty="0">
                <a:solidFill>
                  <a:schemeClr val="bg1"/>
                </a:solidFill>
              </a:rPr>
              <a:t>pip + requirements.txt install dependencies; venv isolates them</a:t>
            </a:r>
            <a:endParaRPr lang="en-US" sz="1400" dirty="0"/>
          </a:p>
        </p:txBody>
      </p:sp>
      <p:sp>
        <p:nvSpPr>
          <p:cNvPr id="21" name="Badge 531"/>
          <p:cNvSpPr/>
          <p:nvPr/>
        </p:nvSpPr>
        <p:spPr>
          <a:xfrm>
            <a:off x="4754880" y="2679192"/>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22" name="Text 532"/>
          <p:cNvSpPr txBox="1"/>
          <p:nvPr/>
        </p:nvSpPr>
        <p:spPr>
          <a:xfrm>
            <a:off x="4754880" y="2679192"/>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7</a:t>
            </a:r>
            <a:endParaRPr lang="en-US" sz="1300" dirty="0"/>
          </a:p>
        </p:txBody>
      </p:sp>
      <p:sp>
        <p:nvSpPr>
          <p:cNvPr id="23" name="Text 533"/>
          <p:cNvSpPr txBox="1"/>
          <p:nvPr/>
        </p:nvSpPr>
        <p:spPr>
          <a:xfrm>
            <a:off x="5257800" y="2642616"/>
            <a:ext cx="3429000" cy="640080"/>
          </a:xfrm>
          <a:prstGeom prst="rect">
            <a:avLst/>
          </a:prstGeom>
          <a:noFill/>
          <a:ln/>
        </p:spPr>
        <p:txBody>
          <a:bodyPr wrap="square" lIns="0" tIns="0" rIns="0" bIns="0" rtlCol="0" anchor="t"/>
          <a:lstStyle/>
          <a:p>
            <a:pPr marL="0" indent="0">
              <a:buNone/>
            </a:pPr>
            <a:r>
              <a:rPr lang="en-US" sz="1400" dirty="0">
                <a:solidFill>
                  <a:schemeClr val="bg1"/>
                </a:solidFill>
              </a:rPr>
              <a:t>Git tracks versions; GitHub hosts them; clone copies, pull updates</a:t>
            </a:r>
            <a:endParaRPr lang="en-US" sz="1400" dirty="0"/>
          </a:p>
        </p:txBody>
      </p:sp>
      <p:sp>
        <p:nvSpPr>
          <p:cNvPr id="24" name="Badge 534"/>
          <p:cNvSpPr/>
          <p:nvPr/>
        </p:nvSpPr>
        <p:spPr>
          <a:xfrm>
            <a:off x="4754880" y="3429000"/>
            <a:ext cx="365760" cy="365760"/>
          </a:xfrm>
          <a:prstGeom prst="ellipse">
            <a:avLst/>
          </a:prstGeom>
          <a:solidFill>
            <a:schemeClr val="accent1"/>
          </a:solidFill>
          <a:ln w="12700">
            <a:solidFill>
              <a:schemeClr val="accent1"/>
            </a:solidFill>
            <a:prstDash val="solid"/>
          </a:ln>
        </p:spPr>
        <p:txBody>
          <a:bodyPr/>
          <a:lstStyle/>
          <a:p>
            <a:endParaRPr lang="en-ZM"/>
          </a:p>
        </p:txBody>
      </p:sp>
      <p:sp>
        <p:nvSpPr>
          <p:cNvPr id="25" name="Text 535"/>
          <p:cNvSpPr txBox="1"/>
          <p:nvPr/>
        </p:nvSpPr>
        <p:spPr>
          <a:xfrm>
            <a:off x="4754880" y="3429000"/>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latin typeface="Cambria" pitchFamily="34" charset="0"/>
                <a:ea typeface="Cambria" pitchFamily="34" charset="-122"/>
                <a:cs typeface="Cambria" pitchFamily="34" charset="-120"/>
              </a:rPr>
              <a:t>8</a:t>
            </a:r>
            <a:endParaRPr lang="en-US" sz="1300" dirty="0"/>
          </a:p>
        </p:txBody>
      </p:sp>
      <p:sp>
        <p:nvSpPr>
          <p:cNvPr id="26" name="Text 536"/>
          <p:cNvSpPr txBox="1"/>
          <p:nvPr/>
        </p:nvSpPr>
        <p:spPr>
          <a:xfrm>
            <a:off x="5257800" y="3392424"/>
            <a:ext cx="3429000" cy="640080"/>
          </a:xfrm>
          <a:prstGeom prst="rect">
            <a:avLst/>
          </a:prstGeom>
          <a:noFill/>
          <a:ln/>
        </p:spPr>
        <p:txBody>
          <a:bodyPr wrap="square" lIns="0" tIns="0" rIns="0" bIns="0" rtlCol="0" anchor="t"/>
          <a:lstStyle/>
          <a:p>
            <a:pPr marL="0" indent="0">
              <a:buNone/>
            </a:pPr>
            <a:r>
              <a:rPr lang="en-US" sz="1400" dirty="0">
                <a:solidFill>
                  <a:schemeClr val="bg1"/>
                </a:solidFill>
              </a:rPr>
              <a:t>After cloning: cd → README → venv → install → run</a:t>
            </a:r>
            <a:endParaRPr lang="en-US" sz="1400" dirty="0"/>
          </a:p>
        </p:txBody>
      </p:sp>
      <p:sp>
        <p:nvSpPr>
          <p:cNvPr id="27" name="Text 537"/>
          <p:cNvSpPr txBox="1"/>
          <p:nvPr/>
        </p:nvSpPr>
        <p:spPr>
          <a:xfrm>
            <a:off x="457200" y="4206240"/>
            <a:ext cx="8229600" cy="365760"/>
          </a:xfrm>
          <a:prstGeom prst="rect">
            <a:avLst/>
          </a:prstGeom>
          <a:noFill/>
          <a:ln/>
        </p:spPr>
        <p:txBody>
          <a:bodyPr wrap="square" lIns="0" tIns="0" rIns="0" bIns="0" rtlCol="0" anchor="t"/>
          <a:lstStyle/>
          <a:p>
            <a:pPr marL="0" indent="0">
              <a:buNone/>
            </a:pPr>
            <a:r>
              <a:rPr lang="en-US" sz="1600" i="1" dirty="0">
                <a:solidFill>
                  <a:schemeClr val="accent1"/>
                </a:solidFill>
              </a:rPr>
              <a:t>From “what is Python?” to running a real open-source tool.</a:t>
            </a:r>
            <a:endParaRPr lang="en-US" sz="1600" dirty="0"/>
          </a:p>
        </p:txBody>
      </p:sp>
      <p:sp>
        <p:nvSpPr>
          <p:cNvPr id="28"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litter pattern="hexagon"/>
      </p:transition>
    </mc:Choice>
    <mc:Fallback>
      <p:transition spd="slow">
        <p:fade/>
      </p:transition>
    </mc:Fallback>
  </mc:AlternateContent>
</p:sld>
</file>

<file path=ppt/theme/theme1.xml><?xml version="1.0" encoding="utf-8"?>
<a:theme xmlns:a="http://schemas.openxmlformats.org/drawingml/2006/main" name="Terminal Lesson">
  <a:themeElements>
    <a:clrScheme name="Terminal Lesson">
      <a:dk1>
        <a:srgbClr val="161B26"/>
      </a:dk1>
      <a:lt1>
        <a:srgbClr val="FFFFFF"/>
      </a:lt1>
      <a:dk2>
        <a:srgbClr val="2B3445"/>
      </a:dk2>
      <a:lt2>
        <a:srgbClr val="EEF1F5"/>
      </a:lt2>
      <a:accent1>
        <a:srgbClr val="FFD43B"/>
      </a:accent1>
      <a:accent2>
        <a:srgbClr val="306998"/>
      </a:accent2>
      <a:accent3>
        <a:srgbClr val="2A9D8F"/>
      </a:accent3>
      <a:accent4>
        <a:srgbClr val="E76F51"/>
      </a:accent4>
      <a:accent5>
        <a:srgbClr val="8E9AAF"/>
      </a:accent5>
      <a:accent6>
        <a:srgbClr val="6C5CE7"/>
      </a:accent6>
      <a:hlink>
        <a:srgbClr val="306998"/>
      </a:hlink>
      <a:folHlink>
        <a:srgbClr val="6C5CE7"/>
      </a:folHlink>
    </a:clrScheme>
    <a:fontScheme name="Terminal Les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5075</Words>
  <Application>Microsoft Office PowerPoint</Application>
  <PresentationFormat>On-screen Show (16:9)</PresentationFormat>
  <Paragraphs>684</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Courier New</vt:lpstr>
      <vt:lpstr>Terminal Lesson</vt:lpstr>
      <vt:lpstr>Python Foundation</vt:lpstr>
      <vt:lpstr>The Roadmap</vt:lpstr>
      <vt:lpstr>Foundations</vt:lpstr>
      <vt:lpstr>Computer Language</vt:lpstr>
      <vt:lpstr>Programming Language</vt:lpstr>
      <vt:lpstr>Paradigms and Translation</vt:lpstr>
      <vt:lpstr>Python</vt:lpstr>
      <vt:lpstr>Your First Python File</vt:lpstr>
      <vt:lpstr>How Python Code Gets Executed</vt:lpstr>
      <vt:lpstr>Why Install Python on Windows?</vt:lpstr>
      <vt:lpstr>Paths: Addresses for Files</vt:lpstr>
      <vt:lpstr>Why Add Python to PATH?</vt:lpstr>
      <vt:lpstr>Your Machine</vt:lpstr>
      <vt:lpstr>The Terminal</vt:lpstr>
      <vt:lpstr>Running Code</vt:lpstr>
      <vt:lpstr>Running Python: Two Ways</vt:lpstr>
      <vt:lpstr>Modules and Packages</vt:lpstr>
      <vt:lpstr>Passing Arguments to a Script</vt:lpstr>
      <vt:lpstr>Arguments in Action</vt:lpstr>
      <vt:lpstr>Packages and pip</vt:lpstr>
      <vt:lpstr>requirements.txt and venv</vt:lpstr>
      <vt:lpstr>Git &amp; GitHub</vt:lpstr>
      <vt:lpstr>Git: A Time Machine for Code</vt:lpstr>
      <vt:lpstr>The Git Workflow</vt:lpstr>
      <vt:lpstr>Git vs GitHub</vt:lpstr>
      <vt:lpstr>Getting the Code: ZIP or Clone</vt:lpstr>
      <vt:lpstr>After Cloning: The Routine</vt:lpstr>
      <vt:lpstr>Final Task</vt:lpstr>
      <vt:lpstr>What We're Doing</vt:lpstr>
      <vt:lpstr>Steps 1–2: Get the Backup</vt:lpstr>
      <vt:lpstr>Steps 3–5: Prepare the Tool</vt:lpstr>
      <vt:lpstr>Step 6: Run It</vt:lpstr>
      <vt:lpstr>Steps 7–8: Explore and Clean Up</vt:lpstr>
      <vt:lpstr>Troubleshooting</vt:lpstr>
      <vt:lpstr>What You Now Understand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subject>PptxGenJS Presentation</dc:subject>
  <dc:creator>Lesson</dc:creator>
  <cp:lastModifiedBy>billy peterlennards munyenyembe</cp:lastModifiedBy>
  <cp:revision>25</cp:revision>
  <dcterms:created xsi:type="dcterms:W3CDTF">2026-10-06T05:42:45Z</dcterms:created>
  <dcterms:modified xsi:type="dcterms:W3CDTF">2026-10-06T07:46:59Z</dcterms:modified>
</cp:coreProperties>
</file>