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42431bd-e978-29be-0bea-e8fc423aec4c}">
          <p14:sldIdLst>
            <p14:sldId id="256"/>
            <p14:sldId id="257"/>
          </p14:sldIdLst>
        </p14:section>
        <p14:section name="Foundations" id="{2a871551-f022-24e4-3cbf-6634312a656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Your Machine" id="{f48d5541-b044-75be-f632-90c4516bd58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unning Code" id="{8965dcdc-d848-1a7f-59d6-d05260b2d382}">
          <p14:sldIdLst>
            <p14:sldId id="270"/>
            <p14:sldId id="271"/>
            <p14:sldId id="272"/>
            <p14:sldId id="273"/>
            <p14:sldId id="274"/>
          </p14:sldIdLst>
        </p14:section>
        <p14:section name="Git &amp; GitHub" id="{af6d5aad-9780-a3ab-cef4-f752383a0a90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Final Task" id="{1bc6cd9f-1572-b3b0-0407-d01c18e248c5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Recap" id="{82b6f4eb-9050-4d75-3498-d91cd71b9ea2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lesson takes you from 'what is Python?' to running a real open-source tool from GitHub: the Signal Android backup decryptor.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sections. Each builds on the one before, and the final task uses every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the ideas you need before touching the keyboard.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translation strategies. Compiled: translate everything first, then run the .exe. Interpreted: a program reads and executes your code live. Many modern languages mix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was created by Guido van Rossum and first released in 1991. It's readable, comes with a large standard library, and has a huge ecosystem of packages.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Bytecode is not machine code: your processor can't run it directly. The PVM is a loop inside python.exe that reads and performs each bytecode instruction. Try: import dis; dis.dis(some_function) to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Dynamic typing: a variable can hold anything, checked while running. Static typing: types declared and checked before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result, very different amounts of ceremony. Python's one line is why it's a favourite for small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two: getting your Windows computer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PowerShell accepts most CMD-style commands too. Tab completion saves a lot of typos.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You'll use .. a lot in the final task: ..\unlocked means 'a folder called unlocked, one level up'.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typing python opens the Microsoft Store: Settings → Apps → Advanced app settings → App execution aliases, and turn off the two python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PATH is a short list of places to look. If python.exe isn't in any of them, Windows gives up, even if Python is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means Windows searched every PATH folder and didn't find python.exe. Python may well be installed; Windows just doesn't know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three: actually running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hello.py contains: name = input("What's your name? ") then print(f"Hello, {name}! Python is working.").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sys.argv[0] is always the script name; the real arguments start at index 1. Exercise: write add.py that sums two numbers passed as arguments (hint: int(sys.argv[1])).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-m pip guarantees pip installs into the same Python you'll run, which avoids confusing 'I installed it but it's not found'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requirements are illustrative; open the real requirements.txt after cloning to see what the Signal tool actually needs. Activation changes your prompt to show (.venv).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four: how code is versioned and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Git from git-scm.com/download/win. The installer adds Git to PATH for you, the same idea as Part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git status often. git show HEAD~1:hello.py views the previous version of a file without changing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source: the code is public, so anyone can read it, check it's safe, and suggest improvements. The Signal tool's README thanks two outside contributors.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clone URL comes from the green Code button, HTTPS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in, read the README, venv, install, run. Memorise this sequence and most Python projects become approachable.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five: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Encryption scrambles data so only someone with the key can read it. The tool simply applies your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passphrase is shown only once. Treat it like a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python or git is 'not recognized', go back to the PATH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tool complains that the output folder doesn't exist, create it first: mkdir ..\unlocked.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Browser for SQLite is free at sqlitebrowser.org. Browse the tables to find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signalbackup-tools (github.com/bepaald/signalbackup-tools) is actively maintained and can export to readable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Next steps: try the Part-by-Part exercises in LESSON.md, then explore other Python projects on GitHub using the same routine.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From Zero to Running Code · Python, Git &amp; GitHub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From Zero to Running Code · Python, Git &amp; GitHub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54864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A STEP-BY-STEP LESSON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2344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Zero to Running Code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Python, the terminal, PATH, pip, Git &amp; GitHub — then unlocking a real Signal backup</a:t>
            </a:r>
            <a:endParaRPr lang="en-US" sz="1600" dirty="0"/>
          </a:p>
        </p:txBody>
      </p:sp>
      <p:sp>
        <p:nvSpPr>
          <p:cNvPr id="5" name="Terminal 2"/>
          <p:cNvSpPr/>
          <p:nvPr/>
        </p:nvSpPr>
        <p:spPr>
          <a:xfrm>
            <a:off x="5760720" y="1234440"/>
            <a:ext cx="2926080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Dot 3"/>
          <p:cNvSpPr/>
          <p:nvPr/>
        </p:nvSpPr>
        <p:spPr>
          <a:xfrm>
            <a:off x="5907024" y="134416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Dot 4"/>
          <p:cNvSpPr/>
          <p:nvPr/>
        </p:nvSpPr>
        <p:spPr>
          <a:xfrm>
            <a:off x="6062472" y="13441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ot 5"/>
          <p:cNvSpPr/>
          <p:nvPr/>
        </p:nvSpPr>
        <p:spPr>
          <a:xfrm>
            <a:off x="6217920" y="134416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2984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10" name="Code 7"/>
          <p:cNvSpPr txBox="1"/>
          <p:nvPr/>
        </p:nvSpPr>
        <p:spPr>
          <a:xfrm>
            <a:off x="5925312" y="1563624"/>
            <a:ext cx="265176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3.13.0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clone &lt;url&gt;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install -r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decrypt_backup.py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Roadmap</a:t>
            </a:r>
            <a:endParaRPr lang="en-US" sz="3200" dirty="0"/>
          </a:p>
        </p:txBody>
      </p:sp>
      <p:sp>
        <p:nvSpPr>
          <p:cNvPr id="3" name="Card 8"/>
          <p:cNvSpPr/>
          <p:nvPr/>
        </p:nvSpPr>
        <p:spPr>
          <a:xfrm>
            <a:off x="466344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9"/>
          <p:cNvSpPr/>
          <p:nvPr/>
        </p:nvSpPr>
        <p:spPr>
          <a:xfrm>
            <a:off x="630936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10"/>
          <p:cNvSpPr txBox="1"/>
          <p:nvPr/>
        </p:nvSpPr>
        <p:spPr>
          <a:xfrm>
            <a:off x="63093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11"/>
          <p:cNvSpPr txBox="1"/>
          <p:nvPr/>
        </p:nvSpPr>
        <p:spPr>
          <a:xfrm>
            <a:off x="630936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Foundations</a:t>
            </a:r>
            <a:endParaRPr lang="en-US" sz="1600" dirty="0"/>
          </a:p>
        </p:txBody>
      </p:sp>
      <p:sp>
        <p:nvSpPr>
          <p:cNvPr id="7" name="Text 12"/>
          <p:cNvSpPr txBox="1"/>
          <p:nvPr/>
        </p:nvSpPr>
        <p:spPr>
          <a:xfrm>
            <a:off x="630936" y="242316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What a language is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What Python is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How it runs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Python vs others</a:t>
            </a:r>
            <a:endParaRPr lang="en-US" sz="1400" dirty="0"/>
          </a:p>
        </p:txBody>
      </p:sp>
      <p:sp>
        <p:nvSpPr>
          <p:cNvPr id="8" name="Card 13"/>
          <p:cNvSpPr/>
          <p:nvPr/>
        </p:nvSpPr>
        <p:spPr>
          <a:xfrm>
            <a:off x="2130552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14"/>
          <p:cNvSpPr/>
          <p:nvPr/>
        </p:nvSpPr>
        <p:spPr>
          <a:xfrm>
            <a:off x="2295144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15"/>
          <p:cNvSpPr txBox="1"/>
          <p:nvPr/>
        </p:nvSpPr>
        <p:spPr>
          <a:xfrm>
            <a:off x="22951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16"/>
          <p:cNvSpPr txBox="1"/>
          <p:nvPr/>
        </p:nvSpPr>
        <p:spPr>
          <a:xfrm>
            <a:off x="2295144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Machine</a:t>
            </a:r>
            <a:endParaRPr lang="en-US" sz="1600" dirty="0"/>
          </a:p>
        </p:txBody>
      </p:sp>
      <p:sp>
        <p:nvSpPr>
          <p:cNvPr id="12" name="Text 17"/>
          <p:cNvSpPr txBox="1"/>
          <p:nvPr/>
        </p:nvSpPr>
        <p:spPr>
          <a:xfrm>
            <a:off x="2295144" y="242316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terminal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Installing Python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PATH</a:t>
            </a:r>
            <a:endParaRPr lang="en-US" sz="1400" dirty="0"/>
          </a:p>
        </p:txBody>
      </p:sp>
      <p:sp>
        <p:nvSpPr>
          <p:cNvPr id="13" name="Card 18"/>
          <p:cNvSpPr/>
          <p:nvPr/>
        </p:nvSpPr>
        <p:spPr>
          <a:xfrm>
            <a:off x="379476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 19"/>
          <p:cNvSpPr/>
          <p:nvPr/>
        </p:nvSpPr>
        <p:spPr>
          <a:xfrm>
            <a:off x="3959352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20"/>
          <p:cNvSpPr txBox="1"/>
          <p:nvPr/>
        </p:nvSpPr>
        <p:spPr>
          <a:xfrm>
            <a:off x="39593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21"/>
          <p:cNvSpPr txBox="1"/>
          <p:nvPr/>
        </p:nvSpPr>
        <p:spPr>
          <a:xfrm>
            <a:off x="3959352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Running Code</a:t>
            </a:r>
            <a:endParaRPr lang="en-US" sz="1600" dirty="0"/>
          </a:p>
        </p:txBody>
      </p:sp>
      <p:sp>
        <p:nvSpPr>
          <p:cNvPr id="17" name="Text 22"/>
          <p:cNvSpPr txBox="1"/>
          <p:nvPr/>
        </p:nvSpPr>
        <p:spPr>
          <a:xfrm>
            <a:off x="3959352" y="242316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Python files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Arguments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pip &amp; requirements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venv</a:t>
            </a:r>
            <a:endParaRPr lang="en-US" sz="1400" dirty="0"/>
          </a:p>
        </p:txBody>
      </p:sp>
      <p:sp>
        <p:nvSpPr>
          <p:cNvPr id="18" name="Card 23"/>
          <p:cNvSpPr/>
          <p:nvPr/>
        </p:nvSpPr>
        <p:spPr>
          <a:xfrm>
            <a:off x="5458968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 24"/>
          <p:cNvSpPr/>
          <p:nvPr/>
        </p:nvSpPr>
        <p:spPr>
          <a:xfrm>
            <a:off x="562356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25"/>
          <p:cNvSpPr txBox="1"/>
          <p:nvPr/>
        </p:nvSpPr>
        <p:spPr>
          <a:xfrm>
            <a:off x="56235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26"/>
          <p:cNvSpPr txBox="1"/>
          <p:nvPr/>
        </p:nvSpPr>
        <p:spPr>
          <a:xfrm>
            <a:off x="562356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 &amp; GitHub</a:t>
            </a:r>
            <a:endParaRPr lang="en-US" sz="1600" dirty="0"/>
          </a:p>
        </p:txBody>
      </p:sp>
      <p:sp>
        <p:nvSpPr>
          <p:cNvPr id="22" name="Text 27"/>
          <p:cNvSpPr txBox="1"/>
          <p:nvPr/>
        </p:nvSpPr>
        <p:spPr>
          <a:xfrm>
            <a:off x="5623560" y="242316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Git basics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GitHub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Cloning</a:t>
            </a:r>
            <a:endParaRPr lang="en-US" sz="1400" dirty="0"/>
          </a:p>
        </p:txBody>
      </p:sp>
      <p:sp>
        <p:nvSpPr>
          <p:cNvPr id="23" name="Card 28"/>
          <p:cNvSpPr/>
          <p:nvPr/>
        </p:nvSpPr>
        <p:spPr>
          <a:xfrm>
            <a:off x="7123176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 29"/>
          <p:cNvSpPr/>
          <p:nvPr/>
        </p:nvSpPr>
        <p:spPr>
          <a:xfrm>
            <a:off x="7287768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30"/>
          <p:cNvSpPr txBox="1"/>
          <p:nvPr/>
        </p:nvSpPr>
        <p:spPr>
          <a:xfrm>
            <a:off x="72877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31"/>
          <p:cNvSpPr txBox="1"/>
          <p:nvPr/>
        </p:nvSpPr>
        <p:spPr>
          <a:xfrm>
            <a:off x="7287768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Final Task</a:t>
            </a:r>
            <a:endParaRPr lang="en-US" sz="1600" dirty="0"/>
          </a:p>
        </p:txBody>
      </p:sp>
      <p:sp>
        <p:nvSpPr>
          <p:cNvPr id="27" name="Text 32"/>
          <p:cNvSpPr txBox="1"/>
          <p:nvPr/>
        </p:nvSpPr>
        <p:spPr>
          <a:xfrm>
            <a:off x="7287768" y="242316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Unlock your Signal backup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Foundations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programming languages are, what Python is, and how your code actually runs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Parts 1–4 · Languages · Python · Execution · Comparisons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a Programming Language?</a:t>
            </a:r>
            <a:endParaRPr lang="en-US" sz="3200" dirty="0"/>
          </a:p>
        </p:txBody>
      </p:sp>
      <p:sp>
        <p:nvSpPr>
          <p:cNvPr id="3" name="Text 33"/>
          <p:cNvSpPr txBox="1"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Processors only understand machine code: raw numbers. A programming language lets people write instructions as readable text, plus a tool that translates them for the machine.</a:t>
            </a:r>
            <a:endParaRPr lang="en-US" sz="1600" dirty="0"/>
          </a:p>
        </p:txBody>
      </p:sp>
      <p:sp>
        <p:nvSpPr>
          <p:cNvPr id="4" name="Card 34"/>
          <p:cNvSpPr/>
          <p:nvPr/>
        </p:nvSpPr>
        <p:spPr>
          <a:xfrm>
            <a:off x="457200" y="187452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35"/>
          <p:cNvSpPr/>
          <p:nvPr/>
        </p:nvSpPr>
        <p:spPr>
          <a:xfrm>
            <a:off x="640080" y="202996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6"/>
          <p:cNvSpPr txBox="1"/>
          <p:nvPr/>
        </p:nvSpPr>
        <p:spPr>
          <a:xfrm>
            <a:off x="64008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37"/>
          <p:cNvSpPr txBox="1"/>
          <p:nvPr/>
        </p:nvSpPr>
        <p:spPr>
          <a:xfrm>
            <a:off x="1188720" y="2029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Compiled</a:t>
            </a:r>
            <a:endParaRPr lang="en-US" sz="2000" dirty="0"/>
          </a:p>
        </p:txBody>
      </p:sp>
      <p:sp>
        <p:nvSpPr>
          <p:cNvPr id="8" name="Text 38"/>
          <p:cNvSpPr txBox="1"/>
          <p:nvPr/>
        </p:nvSpPr>
        <p:spPr>
          <a:xfrm>
            <a:off x="640080" y="260604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How: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compiler translates the whole program into machine code ahead of time, producing an .exe.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Analogy: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translating a whole book before handing it over.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C, C++, Rust, Go</a:t>
            </a:r>
            <a:endParaRPr lang="en-US" sz="1400" dirty="0"/>
          </a:p>
        </p:txBody>
      </p:sp>
      <p:sp>
        <p:nvSpPr>
          <p:cNvPr id="9" name="Card 39"/>
          <p:cNvSpPr/>
          <p:nvPr/>
        </p:nvSpPr>
        <p:spPr>
          <a:xfrm>
            <a:off x="4709160" y="1874520"/>
            <a:ext cx="39776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40"/>
          <p:cNvSpPr/>
          <p:nvPr/>
        </p:nvSpPr>
        <p:spPr>
          <a:xfrm>
            <a:off x="4892040" y="2029968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41"/>
          <p:cNvSpPr txBox="1"/>
          <p:nvPr/>
        </p:nvSpPr>
        <p:spPr>
          <a:xfrm>
            <a:off x="489204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2" name="Text 42"/>
          <p:cNvSpPr txBox="1"/>
          <p:nvPr/>
        </p:nvSpPr>
        <p:spPr>
          <a:xfrm>
            <a:off x="5440680" y="2029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Interpreted</a:t>
            </a:r>
            <a:endParaRPr lang="en-US" sz="2000" dirty="0"/>
          </a:p>
        </p:txBody>
      </p:sp>
      <p:sp>
        <p:nvSpPr>
          <p:cNvPr id="13" name="Text 43"/>
          <p:cNvSpPr txBox="1"/>
          <p:nvPr/>
        </p:nvSpPr>
        <p:spPr>
          <a:xfrm>
            <a:off x="4892040" y="260604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How: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interpreter program reads your code and carries it out while it runs.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Analogy: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live interpreter translating a speech sentence by sentence.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Python, JavaScript, Ruby</a:t>
            </a:r>
            <a:endParaRPr lang="en-US" sz="1400" dirty="0"/>
          </a:p>
        </p:txBody>
      </p:sp>
      <p:sp>
        <p:nvSpPr>
          <p:cNvPr id="14" name="Text 4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Python is actually a mix of both: it compiles to bytecode, then interprets it (Part 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Python?</a:t>
            </a:r>
            <a:endParaRPr lang="en-US" sz="3200" dirty="0"/>
          </a:p>
        </p:txBody>
      </p:sp>
      <p:sp>
        <p:nvSpPr>
          <p:cNvPr id="3" name="Badge 45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46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47"/>
          <p:cNvSpPr txBox="1"/>
          <p:nvPr/>
        </p:nvSpPr>
        <p:spPr>
          <a:xfrm>
            <a:off x="10515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High-level</a:t>
            </a:r>
            <a:endParaRPr lang="en-US" sz="1600" dirty="0"/>
          </a:p>
        </p:txBody>
      </p:sp>
      <p:sp>
        <p:nvSpPr>
          <p:cNvPr id="6" name="Text 48"/>
          <p:cNvSpPr txBox="1"/>
          <p:nvPr/>
        </p:nvSpPr>
        <p:spPr>
          <a:xfrm>
            <a:off x="1051560" y="15270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Hides machine details. You write things like for photo in photos: save(photo).</a:t>
            </a:r>
            <a:endParaRPr lang="en-US" sz="1400" dirty="0"/>
          </a:p>
        </p:txBody>
      </p:sp>
      <p:sp>
        <p:nvSpPr>
          <p:cNvPr id="7" name="Badge 49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0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51"/>
          <p:cNvSpPr txBox="1"/>
          <p:nvPr/>
        </p:nvSpPr>
        <p:spPr>
          <a:xfrm>
            <a:off x="105156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General-purpose</a:t>
            </a:r>
            <a:endParaRPr lang="en-US" sz="1600" dirty="0"/>
          </a:p>
        </p:txBody>
      </p:sp>
      <p:sp>
        <p:nvSpPr>
          <p:cNvPr id="10" name="Text 52"/>
          <p:cNvSpPr txBox="1"/>
          <p:nvPr/>
        </p:nvSpPr>
        <p:spPr>
          <a:xfrm>
            <a:off x="1051560" y="2624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Automation, websites, data, AI, and small tools like the Signal decryptor.</a:t>
            </a:r>
            <a:endParaRPr lang="en-US" sz="1400" dirty="0"/>
          </a:p>
        </p:txBody>
      </p:sp>
      <p:sp>
        <p:nvSpPr>
          <p:cNvPr id="11" name="Badge 53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54"/>
          <p:cNvSpPr txBox="1"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55"/>
          <p:cNvSpPr txBox="1"/>
          <p:nvPr/>
        </p:nvSpPr>
        <p:spPr>
          <a:xfrm>
            <a:off x="105156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Batteries included</a:t>
            </a:r>
            <a:endParaRPr lang="en-US" sz="1600" dirty="0"/>
          </a:p>
        </p:txBody>
      </p:sp>
      <p:sp>
        <p:nvSpPr>
          <p:cNvPr id="14" name="Text 56"/>
          <p:cNvSpPr txBox="1"/>
          <p:nvPr/>
        </p:nvSpPr>
        <p:spPr>
          <a:xfrm>
            <a:off x="1051560" y="37216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big standard library plus hundreds of thousands of free packages.</a:t>
            </a:r>
            <a:endParaRPr lang="en-US" sz="1400" dirty="0"/>
          </a:p>
        </p:txBody>
      </p:sp>
      <p:sp>
        <p:nvSpPr>
          <p:cNvPr id="15" name="Terminal 57"/>
          <p:cNvSpPr/>
          <p:nvPr/>
        </p:nvSpPr>
        <p:spPr>
          <a:xfrm>
            <a:off x="4846320" y="1143000"/>
            <a:ext cx="3840480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 58"/>
          <p:cNvSpPr/>
          <p:nvPr/>
        </p:nvSpPr>
        <p:spPr>
          <a:xfrm>
            <a:off x="499262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Dot 59"/>
          <p:cNvSpPr/>
          <p:nvPr/>
        </p:nvSpPr>
        <p:spPr>
          <a:xfrm>
            <a:off x="514807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ot 60"/>
          <p:cNvSpPr/>
          <p:nvPr/>
        </p:nvSpPr>
        <p:spPr>
          <a:xfrm>
            <a:off x="530352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61"/>
          <p:cNvSpPr txBox="1"/>
          <p:nvPr/>
        </p:nvSpPr>
        <p:spPr>
          <a:xfrm>
            <a:off x="5532120" y="12070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000" dirty="0"/>
          </a:p>
        </p:txBody>
      </p:sp>
      <p:sp>
        <p:nvSpPr>
          <p:cNvPr id="20" name="Code 62"/>
          <p:cNvSpPr txBox="1"/>
          <p:nvPr/>
        </p:nvSpPr>
        <p:spPr>
          <a:xfrm>
            <a:off x="5010912" y="1472184"/>
            <a:ext cx="356616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input("Your name? 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print("Hello, " + name)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print("Hello, stranger!")</a:t>
            </a:r>
            <a:endParaRPr lang="en-US" sz="1200" dirty="0"/>
          </a:p>
        </p:txBody>
      </p:sp>
      <p:sp>
        <p:nvSpPr>
          <p:cNvPr id="21" name="Card 63"/>
          <p:cNvSpPr/>
          <p:nvPr/>
        </p:nvSpPr>
        <p:spPr>
          <a:xfrm>
            <a:off x="4846320" y="356616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64"/>
          <p:cNvSpPr txBox="1"/>
          <p:nvPr/>
        </p:nvSpPr>
        <p:spPr>
          <a:xfrm>
            <a:off x="502920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Indentation defines blocks.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spaces at the start of a line group code together. No { } braces, no semicolons.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Python Code Gets Executed</a:t>
            </a:r>
            <a:endParaRPr lang="en-US" sz="3200" dirty="0"/>
          </a:p>
        </p:txBody>
      </p:sp>
      <p:sp>
        <p:nvSpPr>
          <p:cNvPr id="3" name="Card 65"/>
          <p:cNvSpPr/>
          <p:nvPr/>
        </p:nvSpPr>
        <p:spPr>
          <a:xfrm>
            <a:off x="457200" y="118872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66"/>
          <p:cNvSpPr/>
          <p:nvPr/>
        </p:nvSpPr>
        <p:spPr>
          <a:xfrm>
            <a:off x="594360" y="132588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67"/>
          <p:cNvSpPr txBox="1"/>
          <p:nvPr/>
        </p:nvSpPr>
        <p:spPr>
          <a:xfrm>
            <a:off x="5943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68"/>
          <p:cNvSpPr txBox="1"/>
          <p:nvPr/>
        </p:nvSpPr>
        <p:spPr>
          <a:xfrm>
            <a:off x="1024128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500" dirty="0"/>
          </a:p>
        </p:txBody>
      </p:sp>
      <p:sp>
        <p:nvSpPr>
          <p:cNvPr id="7" name="Text 69"/>
          <p:cNvSpPr txBox="1"/>
          <p:nvPr/>
        </p:nvSpPr>
        <p:spPr>
          <a:xfrm>
            <a:off x="594360" y="178308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code: the plain text you write</a:t>
            </a:r>
            <a:endParaRPr lang="en-US" sz="1400" dirty="0"/>
          </a:p>
        </p:txBody>
      </p:sp>
      <p:sp>
        <p:nvSpPr>
          <p:cNvPr id="8" name="Arrow 70"/>
          <p:cNvSpPr/>
          <p:nvPr/>
        </p:nvSpPr>
        <p:spPr>
          <a:xfrm>
            <a:off x="2286000" y="1984248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Card 71"/>
          <p:cNvSpPr/>
          <p:nvPr/>
        </p:nvSpPr>
        <p:spPr>
          <a:xfrm>
            <a:off x="2587752" y="118872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72"/>
          <p:cNvSpPr/>
          <p:nvPr/>
        </p:nvSpPr>
        <p:spPr>
          <a:xfrm>
            <a:off x="2724912" y="132588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3"/>
          <p:cNvSpPr txBox="1"/>
          <p:nvPr/>
        </p:nvSpPr>
        <p:spPr>
          <a:xfrm>
            <a:off x="272491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74"/>
          <p:cNvSpPr txBox="1"/>
          <p:nvPr/>
        </p:nvSpPr>
        <p:spPr>
          <a:xfrm>
            <a:off x="3154680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Compile</a:t>
            </a:r>
            <a:endParaRPr lang="en-US" sz="1500" dirty="0"/>
          </a:p>
        </p:txBody>
      </p:sp>
      <p:sp>
        <p:nvSpPr>
          <p:cNvPr id="13" name="Text 75"/>
          <p:cNvSpPr txBox="1"/>
          <p:nvPr/>
        </p:nvSpPr>
        <p:spPr>
          <a:xfrm>
            <a:off x="2724912" y="178308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python.exe turns it into bytecode automatically</a:t>
            </a:r>
            <a:endParaRPr lang="en-US" sz="1400" dirty="0"/>
          </a:p>
        </p:txBody>
      </p:sp>
      <p:sp>
        <p:nvSpPr>
          <p:cNvPr id="14" name="Arrow 76"/>
          <p:cNvSpPr/>
          <p:nvPr/>
        </p:nvSpPr>
        <p:spPr>
          <a:xfrm>
            <a:off x="4416552" y="1984248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ard 77"/>
          <p:cNvSpPr/>
          <p:nvPr/>
        </p:nvSpPr>
        <p:spPr>
          <a:xfrm>
            <a:off x="4718304" y="118872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 78"/>
          <p:cNvSpPr/>
          <p:nvPr/>
        </p:nvSpPr>
        <p:spPr>
          <a:xfrm>
            <a:off x="4855464" y="1325880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79"/>
          <p:cNvSpPr txBox="1"/>
          <p:nvPr/>
        </p:nvSpPr>
        <p:spPr>
          <a:xfrm>
            <a:off x="4855464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80"/>
          <p:cNvSpPr txBox="1"/>
          <p:nvPr/>
        </p:nvSpPr>
        <p:spPr>
          <a:xfrm>
            <a:off x="5285232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Bytecode</a:t>
            </a:r>
            <a:endParaRPr lang="en-US" sz="1500" dirty="0"/>
          </a:p>
        </p:txBody>
      </p:sp>
      <p:sp>
        <p:nvSpPr>
          <p:cNvPr id="19" name="Text 81"/>
          <p:cNvSpPr txBox="1"/>
          <p:nvPr/>
        </p:nvSpPr>
        <p:spPr>
          <a:xfrm>
            <a:off x="4855464" y="178308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instructions, cached as .pyc in __pycache__</a:t>
            </a:r>
            <a:endParaRPr lang="en-US" sz="1400" dirty="0"/>
          </a:p>
        </p:txBody>
      </p:sp>
      <p:sp>
        <p:nvSpPr>
          <p:cNvPr id="20" name="Arrow 82"/>
          <p:cNvSpPr/>
          <p:nvPr/>
        </p:nvSpPr>
        <p:spPr>
          <a:xfrm>
            <a:off x="6547104" y="1984248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Card 83"/>
          <p:cNvSpPr/>
          <p:nvPr/>
        </p:nvSpPr>
        <p:spPr>
          <a:xfrm>
            <a:off x="6848856" y="1188720"/>
            <a:ext cx="1783080" cy="1600200"/>
          </a:xfrm>
          <a:prstGeom prst="roundRect">
            <a:avLst>
              <a:gd name="adj" fmla="val 4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 84"/>
          <p:cNvSpPr/>
          <p:nvPr/>
        </p:nvSpPr>
        <p:spPr>
          <a:xfrm>
            <a:off x="6986016" y="132588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85"/>
          <p:cNvSpPr txBox="1"/>
          <p:nvPr/>
        </p:nvSpPr>
        <p:spPr>
          <a:xfrm>
            <a:off x="6986016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86"/>
          <p:cNvSpPr txBox="1"/>
          <p:nvPr/>
        </p:nvSpPr>
        <p:spPr>
          <a:xfrm>
            <a:off x="7415784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Run (PVM)</a:t>
            </a:r>
            <a:endParaRPr lang="en-US" sz="1500" dirty="0"/>
          </a:p>
        </p:txBody>
      </p:sp>
      <p:sp>
        <p:nvSpPr>
          <p:cNvPr id="25" name="Text 87"/>
          <p:cNvSpPr txBox="1"/>
          <p:nvPr/>
        </p:nvSpPr>
        <p:spPr>
          <a:xfrm>
            <a:off x="6986016" y="178308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Python Virtual Machine executes each instruction</a:t>
            </a:r>
            <a:endParaRPr lang="en-US" sz="1400" dirty="0"/>
          </a:p>
        </p:txBody>
      </p:sp>
      <p:sp>
        <p:nvSpPr>
          <p:cNvPr id="26" name="Bracket 88"/>
          <p:cNvSpPr/>
          <p:nvPr/>
        </p:nvSpPr>
        <p:spPr>
          <a:xfrm>
            <a:off x="2587752" y="2926080"/>
            <a:ext cx="60533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7" name="Text 89"/>
          <p:cNvSpPr txBox="1"/>
          <p:nvPr/>
        </p:nvSpPr>
        <p:spPr>
          <a:xfrm>
            <a:off x="2587752" y="2990088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all of this happens inside python.exe (CPython)</a:t>
            </a:r>
            <a:endParaRPr lang="en-US" sz="1200" dirty="0"/>
          </a:p>
        </p:txBody>
      </p:sp>
      <p:sp>
        <p:nvSpPr>
          <p:cNvPr id="28" name="Card 90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91"/>
          <p:cNvSpPr txBox="1"/>
          <p:nvPr/>
        </p:nvSpPr>
        <p:spPr>
          <a:xfrm>
            <a:off x="68580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takeaway: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Python program can't run by itself. It always needs python.exe, which is why you must install Python on Windows.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Python vs Other Languages</a:t>
            </a:r>
            <a:endParaRPr lang="en-US" sz="3200" dirty="0"/>
          </a:p>
        </p:txBody>
      </p:sp>
      <p:graphicFrame>
        <p:nvGraphicFramePr>
          <p:cNvPr id="8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14500"/>
                <a:gridCol w="1714500"/>
                <a:gridCol w="1714500"/>
                <a:gridCol w="17145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 / C++ / Rust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Java / Kotlin / C#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JavaScript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How it runs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Interpreter: bytecode + PVM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Compiled to machine code (.exe)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Bytecode on a VM (JVM / .NET)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JS engine, usually in a browser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Slower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Fastest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Learning curve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Very easy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Easy–medium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Types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Dynamic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Dynamic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Blocks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Indentation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 } braces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 } braces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{ } braces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Typical uses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Scripts, automation, data, AI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OS, games, drivers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Android apps, business software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Websites, web apps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9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Python trades raw speed for speed of writing. Heavy maths (like encryption) runs inside packages written in 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“Hello” in Four Languages</a:t>
            </a:r>
            <a:endParaRPr lang="en-US" sz="3200" dirty="0"/>
          </a:p>
        </p:txBody>
      </p:sp>
      <p:sp>
        <p:nvSpPr>
          <p:cNvPr id="3" name="Terminal 94"/>
          <p:cNvSpPr/>
          <p:nvPr/>
        </p:nvSpPr>
        <p:spPr>
          <a:xfrm>
            <a:off x="45720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95"/>
          <p:cNvSpPr/>
          <p:nvPr/>
        </p:nvSpPr>
        <p:spPr>
          <a:xfrm>
            <a:off x="603504" y="12070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96"/>
          <p:cNvSpPr/>
          <p:nvPr/>
        </p:nvSpPr>
        <p:spPr>
          <a:xfrm>
            <a:off x="758952" y="12070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97"/>
          <p:cNvSpPr/>
          <p:nvPr/>
        </p:nvSpPr>
        <p:spPr>
          <a:xfrm>
            <a:off x="914400" y="12070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98"/>
          <p:cNvSpPr txBox="1"/>
          <p:nvPr/>
        </p:nvSpPr>
        <p:spPr>
          <a:xfrm>
            <a:off x="1143000" y="1161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Code 99"/>
          <p:cNvSpPr txBox="1"/>
          <p:nvPr/>
        </p:nvSpPr>
        <p:spPr>
          <a:xfrm>
            <a:off x="621792" y="1426464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print("Hello")</a:t>
            </a:r>
            <a:endParaRPr lang="en-US" sz="1100" dirty="0"/>
          </a:p>
        </p:txBody>
      </p:sp>
      <p:sp>
        <p:nvSpPr>
          <p:cNvPr id="9" name="Terminal 100"/>
          <p:cNvSpPr/>
          <p:nvPr/>
        </p:nvSpPr>
        <p:spPr>
          <a:xfrm>
            <a:off x="4663440" y="10972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ot 101"/>
          <p:cNvSpPr/>
          <p:nvPr/>
        </p:nvSpPr>
        <p:spPr>
          <a:xfrm>
            <a:off x="4809744" y="12070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Dot 102"/>
          <p:cNvSpPr/>
          <p:nvPr/>
        </p:nvSpPr>
        <p:spPr>
          <a:xfrm>
            <a:off x="4965192" y="12070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ot 103"/>
          <p:cNvSpPr/>
          <p:nvPr/>
        </p:nvSpPr>
        <p:spPr>
          <a:xfrm>
            <a:off x="5120640" y="12070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4"/>
          <p:cNvSpPr txBox="1"/>
          <p:nvPr/>
        </p:nvSpPr>
        <p:spPr>
          <a:xfrm>
            <a:off x="5349240" y="1161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4" name="Code 105"/>
          <p:cNvSpPr txBox="1"/>
          <p:nvPr/>
        </p:nvSpPr>
        <p:spPr>
          <a:xfrm>
            <a:off x="4828032" y="1426464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printf("Hello\n");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rminal 106"/>
          <p:cNvSpPr/>
          <p:nvPr/>
        </p:nvSpPr>
        <p:spPr>
          <a:xfrm>
            <a:off x="457200" y="25603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 107"/>
          <p:cNvSpPr/>
          <p:nvPr/>
        </p:nvSpPr>
        <p:spPr>
          <a:xfrm>
            <a:off x="603504" y="2670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Dot 108"/>
          <p:cNvSpPr/>
          <p:nvPr/>
        </p:nvSpPr>
        <p:spPr>
          <a:xfrm>
            <a:off x="758952" y="26700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ot 109"/>
          <p:cNvSpPr/>
          <p:nvPr/>
        </p:nvSpPr>
        <p:spPr>
          <a:xfrm>
            <a:off x="914400" y="267004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10"/>
          <p:cNvSpPr txBox="1"/>
          <p:nvPr/>
        </p:nvSpPr>
        <p:spPr>
          <a:xfrm>
            <a:off x="1143000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00" dirty="0"/>
          </a:p>
        </p:txBody>
      </p:sp>
      <p:sp>
        <p:nvSpPr>
          <p:cNvPr id="20" name="Code 111"/>
          <p:cNvSpPr txBox="1"/>
          <p:nvPr/>
        </p:nvSpPr>
        <p:spPr>
          <a:xfrm>
            <a:off x="621792" y="2889504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System.out.println("Hello");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rminal 112"/>
          <p:cNvSpPr/>
          <p:nvPr/>
        </p:nvSpPr>
        <p:spPr>
          <a:xfrm>
            <a:off x="4663440" y="25603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Dot 113"/>
          <p:cNvSpPr/>
          <p:nvPr/>
        </p:nvSpPr>
        <p:spPr>
          <a:xfrm>
            <a:off x="4809744" y="26700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Dot 114"/>
          <p:cNvSpPr/>
          <p:nvPr/>
        </p:nvSpPr>
        <p:spPr>
          <a:xfrm>
            <a:off x="4965192" y="26700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Dot 115"/>
          <p:cNvSpPr/>
          <p:nvPr/>
        </p:nvSpPr>
        <p:spPr>
          <a:xfrm>
            <a:off x="5120640" y="267004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116"/>
          <p:cNvSpPr txBox="1"/>
          <p:nvPr/>
        </p:nvSpPr>
        <p:spPr>
          <a:xfrm>
            <a:off x="5349240" y="2624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Code 117"/>
          <p:cNvSpPr txBox="1"/>
          <p:nvPr/>
        </p:nvSpPr>
        <p:spPr>
          <a:xfrm>
            <a:off x="4828032" y="2889504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console.log("Hello");</a:t>
            </a:r>
            <a:endParaRPr lang="en-US" sz="1100" dirty="0"/>
          </a:p>
        </p:txBody>
      </p:sp>
      <p:sp>
        <p:nvSpPr>
          <p:cNvPr id="27" name="Card 118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119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Fun fact: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Signal's Android app is written in Java &amp; Kotlin, but the backup tool is Python. Different jobs suit different languages.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Your Machine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terminal, installing Python on Windows, and why PATH matters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Parts 5–7 · Terminal · Installing Python · PATH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Terminal</a:t>
            </a:r>
            <a:endParaRPr lang="en-US" sz="3200" dirty="0"/>
          </a:p>
        </p:txBody>
      </p:sp>
      <p:sp>
        <p:nvSpPr>
          <p:cNvPr id="3" name="Text 120"/>
          <p:cNvSpPr txBox="1"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Terminal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the window.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Shell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the program inside that understands your commands.</a:t>
            </a:r>
            <a:endParaRPr lang="en-US" sz="1400" dirty="0"/>
          </a:p>
        </p:txBody>
      </p:sp>
      <p:sp>
        <p:nvSpPr>
          <p:cNvPr id="4" name="Card 121"/>
          <p:cNvSpPr/>
          <p:nvPr/>
        </p:nvSpPr>
        <p:spPr>
          <a:xfrm>
            <a:off x="457200" y="169164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122"/>
          <p:cNvSpPr txBox="1"/>
          <p:nvPr/>
        </p:nvSpPr>
        <p:spPr>
          <a:xfrm>
            <a:off x="640080" y="17830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CMD (Command Prompt)</a:t>
            </a:r>
            <a:endParaRPr lang="en-US" sz="1600" dirty="0"/>
          </a:p>
        </p:txBody>
      </p:sp>
      <p:sp>
        <p:nvSpPr>
          <p:cNvPr id="6" name="Text 123"/>
          <p:cNvSpPr txBox="1"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older Windows shell</a:t>
            </a:r>
            <a:endParaRPr lang="en-US" sz="1400" dirty="0"/>
          </a:p>
        </p:txBody>
      </p:sp>
      <p:sp>
        <p:nvSpPr>
          <p:cNvPr id="7" name="Card 124"/>
          <p:cNvSpPr/>
          <p:nvPr/>
        </p:nvSpPr>
        <p:spPr>
          <a:xfrm>
            <a:off x="457200" y="2651760"/>
            <a:ext cx="39319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125"/>
          <p:cNvSpPr txBox="1"/>
          <p:nvPr/>
        </p:nvSpPr>
        <p:spPr>
          <a:xfrm>
            <a:off x="64008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PowerShell</a:t>
            </a:r>
            <a:endParaRPr lang="en-US" sz="1600" dirty="0"/>
          </a:p>
        </p:txBody>
      </p:sp>
      <p:sp>
        <p:nvSpPr>
          <p:cNvPr id="9" name="Card 126"/>
          <p:cNvSpPr/>
          <p:nvPr/>
        </p:nvSpPr>
        <p:spPr>
          <a:xfrm>
            <a:off x="3154680" y="2788920"/>
            <a:ext cx="109728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127"/>
          <p:cNvSpPr txBox="1"/>
          <p:nvPr/>
        </p:nvSpPr>
        <p:spPr>
          <a:xfrm>
            <a:off x="3154680" y="2788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USE THIS</a:t>
            </a:r>
            <a:endParaRPr lang="en-US" sz="1100" dirty="0"/>
          </a:p>
        </p:txBody>
      </p:sp>
      <p:sp>
        <p:nvSpPr>
          <p:cNvPr id="11" name="Text 128"/>
          <p:cNvSpPr txBox="1"/>
          <p:nvPr/>
        </p:nvSpPr>
        <p:spPr>
          <a:xfrm>
            <a:off x="64008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Modern and more capable</a:t>
            </a:r>
            <a:endParaRPr lang="en-US" sz="1400" dirty="0"/>
          </a:p>
        </p:txBody>
      </p:sp>
      <p:sp>
        <p:nvSpPr>
          <p:cNvPr id="12" name="Card 129"/>
          <p:cNvSpPr/>
          <p:nvPr/>
        </p:nvSpPr>
        <p:spPr>
          <a:xfrm>
            <a:off x="457200" y="36118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30"/>
          <p:cNvSpPr txBox="1"/>
          <p:nvPr/>
        </p:nvSpPr>
        <p:spPr>
          <a:xfrm>
            <a:off x="64008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Open it in a folder: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 File Explorer click the address bar, type powershell, press Enter.</a:t>
            </a:r>
            <a:endParaRPr lang="en-US" sz="1400" dirty="0"/>
          </a:p>
        </p:txBody>
      </p:sp>
      <p:graphicFrame>
        <p:nvGraphicFramePr>
          <p:cNvPr id="11" name="Table 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023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Command / key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pwd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 which folder I'm 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List what's in this folder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 into a folder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 ..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 up one folder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mkdir 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Make a new folder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Clear the screen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Auto-complete names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↑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Repeat earlier commands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Ctrl + 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Stop a running command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Paths: Addresses for Files</a:t>
            </a:r>
            <a:endParaRPr lang="en-US" sz="3200" dirty="0"/>
          </a:p>
        </p:txBody>
      </p:sp>
      <p:sp>
        <p:nvSpPr>
          <p:cNvPr id="3" name="Terminal 132"/>
          <p:cNvSpPr/>
          <p:nvPr/>
        </p:nvSpPr>
        <p:spPr>
          <a:xfrm>
            <a:off x="457200" y="1143000"/>
            <a:ext cx="420624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133"/>
          <p:cNvSpPr/>
          <p:nvPr/>
        </p:nvSpPr>
        <p:spPr>
          <a:xfrm>
            <a:off x="6035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134"/>
          <p:cNvSpPr/>
          <p:nvPr/>
        </p:nvSpPr>
        <p:spPr>
          <a:xfrm>
            <a:off x="7589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135"/>
          <p:cNvSpPr/>
          <p:nvPr/>
        </p:nvSpPr>
        <p:spPr>
          <a:xfrm>
            <a:off x="9144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136"/>
          <p:cNvSpPr txBox="1"/>
          <p:nvPr/>
        </p:nvSpPr>
        <p:spPr>
          <a:xfrm>
            <a:off x="1143000" y="1207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tree</a:t>
            </a:r>
            <a:endParaRPr lang="en-US" sz="1000" dirty="0"/>
          </a:p>
        </p:txBody>
      </p:sp>
      <p:sp>
        <p:nvSpPr>
          <p:cNvPr id="8" name="Code 137"/>
          <p:cNvSpPr txBox="1"/>
          <p:nvPr/>
        </p:nvSpPr>
        <p:spPr>
          <a:xfrm>
            <a:off x="621792" y="1472184"/>
            <a:ext cx="39319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Users\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HP\             # ~ (home)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Downloads\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signal\   # you are here (.)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 README.md</a:t>
            </a:r>
            <a:endParaRPr lang="en-US" sz="1100" dirty="0"/>
          </a:p>
        </p:txBody>
      </p:sp>
      <p:sp>
        <p:nvSpPr>
          <p:cNvPr id="9" name="Text 138"/>
          <p:cNvSpPr txBox="1"/>
          <p:nvPr/>
        </p:nvSpPr>
        <p:spPr>
          <a:xfrm>
            <a:off x="45720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Windows separates folders with \. PowerShell also accepts /.</a:t>
            </a:r>
            <a:endParaRPr lang="en-US" sz="1400" dirty="0"/>
          </a:p>
        </p:txBody>
      </p:sp>
      <p:sp>
        <p:nvSpPr>
          <p:cNvPr id="10" name="Card 139"/>
          <p:cNvSpPr/>
          <p:nvPr/>
        </p:nvSpPr>
        <p:spPr>
          <a:xfrm>
            <a:off x="4937760" y="1143000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40"/>
          <p:cNvSpPr txBox="1"/>
          <p:nvPr/>
        </p:nvSpPr>
        <p:spPr>
          <a:xfrm>
            <a:off x="5120640" y="1234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Absolute path</a:t>
            </a:r>
            <a:endParaRPr lang="en-US" sz="1600" dirty="0"/>
          </a:p>
        </p:txBody>
      </p:sp>
      <p:sp>
        <p:nvSpPr>
          <p:cNvPr id="12" name="Text 141"/>
          <p:cNvSpPr txBox="1"/>
          <p:nvPr/>
        </p:nvSpPr>
        <p:spPr>
          <a:xfrm>
            <a:off x="512064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C:\Users\HP\Downloads\signal</a:t>
            </a:r>
            <a:endParaRPr lang="en-US" sz="1200" dirty="0"/>
          </a:p>
        </p:txBody>
      </p:sp>
      <p:sp>
        <p:nvSpPr>
          <p:cNvPr id="13" name="Text 142"/>
          <p:cNvSpPr txBox="1"/>
          <p:nvPr/>
        </p:nvSpPr>
        <p:spPr>
          <a:xfrm>
            <a:off x="5120640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full address, from the drive</a:t>
            </a:r>
            <a:endParaRPr lang="en-US" sz="1400" dirty="0"/>
          </a:p>
        </p:txBody>
      </p:sp>
      <p:sp>
        <p:nvSpPr>
          <p:cNvPr id="14" name="Card 143"/>
          <p:cNvSpPr/>
          <p:nvPr/>
        </p:nvSpPr>
        <p:spPr>
          <a:xfrm>
            <a:off x="4937760" y="2212848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44"/>
          <p:cNvSpPr txBox="1"/>
          <p:nvPr/>
        </p:nvSpPr>
        <p:spPr>
          <a:xfrm>
            <a:off x="5120640" y="2304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Relative path</a:t>
            </a:r>
            <a:endParaRPr lang="en-US" sz="1600" dirty="0"/>
          </a:p>
        </p:txBody>
      </p:sp>
      <p:sp>
        <p:nvSpPr>
          <p:cNvPr id="16" name="Text 145"/>
          <p:cNvSpPr txBox="1"/>
          <p:nvPr/>
        </p:nvSpPr>
        <p:spPr>
          <a:xfrm>
            <a:off x="5120640" y="26426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signal\README.md</a:t>
            </a:r>
            <a:endParaRPr lang="en-US" sz="1200" dirty="0"/>
          </a:p>
        </p:txBody>
      </p:sp>
      <p:sp>
        <p:nvSpPr>
          <p:cNvPr id="17" name="Text 146"/>
          <p:cNvSpPr txBox="1"/>
          <p:nvPr/>
        </p:nvSpPr>
        <p:spPr>
          <a:xfrm>
            <a:off x="512064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Counted from where you are now</a:t>
            </a:r>
            <a:endParaRPr lang="en-US" sz="1400" dirty="0"/>
          </a:p>
        </p:txBody>
      </p:sp>
      <p:sp>
        <p:nvSpPr>
          <p:cNvPr id="18" name="Card 147"/>
          <p:cNvSpPr/>
          <p:nvPr/>
        </p:nvSpPr>
        <p:spPr>
          <a:xfrm>
            <a:off x="4937760" y="3282696"/>
            <a:ext cx="3749040" cy="1243584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48"/>
          <p:cNvSpPr txBox="1"/>
          <p:nvPr/>
        </p:nvSpPr>
        <p:spPr>
          <a:xfrm>
            <a:off x="5120640" y="34015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49"/>
          <p:cNvSpPr txBox="1"/>
          <p:nvPr/>
        </p:nvSpPr>
        <p:spPr>
          <a:xfrm>
            <a:off x="5669280" y="3401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folder</a:t>
            </a:r>
            <a:endParaRPr lang="en-US" sz="1400" dirty="0"/>
          </a:p>
        </p:txBody>
      </p:sp>
      <p:sp>
        <p:nvSpPr>
          <p:cNvPr id="21" name="Text 150"/>
          <p:cNvSpPr txBox="1"/>
          <p:nvPr/>
        </p:nvSpPr>
        <p:spPr>
          <a:xfrm>
            <a:off x="5120640" y="3767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endParaRPr lang="en-US" sz="1600" dirty="0"/>
          </a:p>
        </p:txBody>
      </p:sp>
      <p:sp>
        <p:nvSpPr>
          <p:cNvPr id="22" name="Text 151"/>
          <p:cNvSpPr txBox="1"/>
          <p:nvPr/>
        </p:nvSpPr>
        <p:spPr>
          <a:xfrm>
            <a:off x="5669280" y="3767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folder above</a:t>
            </a:r>
            <a:endParaRPr lang="en-US" sz="1400" dirty="0"/>
          </a:p>
        </p:txBody>
      </p:sp>
      <p:sp>
        <p:nvSpPr>
          <p:cNvPr id="23" name="Text 152"/>
          <p:cNvSpPr txBox="1"/>
          <p:nvPr/>
        </p:nvSpPr>
        <p:spPr>
          <a:xfrm>
            <a:off x="5120640" y="41330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600" dirty="0"/>
          </a:p>
        </p:txBody>
      </p:sp>
      <p:sp>
        <p:nvSpPr>
          <p:cNvPr id="24" name="Text 153"/>
          <p:cNvSpPr txBox="1"/>
          <p:nvPr/>
        </p:nvSpPr>
        <p:spPr>
          <a:xfrm>
            <a:off x="5669280" y="4133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home folder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Install Python on Windows?</a:t>
            </a:r>
            <a:endParaRPr lang="en-US" sz="3200" dirty="0"/>
          </a:p>
        </p:txBody>
      </p:sp>
      <p:sp>
        <p:nvSpPr>
          <p:cNvPr id="3" name="Text 154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Python code needs python.exe to run. macOS and Linux often include it; Windows doesn't. Its built-in “python” command only opens the Microsoft Store.</a:t>
            </a:r>
            <a:endParaRPr lang="en-US" sz="1500" dirty="0"/>
          </a:p>
        </p:txBody>
      </p:sp>
      <p:sp>
        <p:nvSpPr>
          <p:cNvPr id="4" name="Text 155"/>
          <p:cNvSpPr txBox="1"/>
          <p:nvPr/>
        </p:nvSpPr>
        <p:spPr>
          <a:xfrm>
            <a:off x="45720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What the installer gives you</a:t>
            </a:r>
            <a:endParaRPr lang="en-US" sz="1400" dirty="0"/>
          </a:p>
        </p:txBody>
      </p:sp>
      <p:sp>
        <p:nvSpPr>
          <p:cNvPr id="5" name="Card 156"/>
          <p:cNvSpPr/>
          <p:nvPr/>
        </p:nvSpPr>
        <p:spPr>
          <a:xfrm>
            <a:off x="457200" y="2148840"/>
            <a:ext cx="1965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157"/>
          <p:cNvSpPr txBox="1"/>
          <p:nvPr/>
        </p:nvSpPr>
        <p:spPr>
          <a:xfrm>
            <a:off x="594360" y="2258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python.exe</a:t>
            </a:r>
            <a:endParaRPr lang="en-US" sz="1500" dirty="0"/>
          </a:p>
        </p:txBody>
      </p:sp>
      <p:sp>
        <p:nvSpPr>
          <p:cNvPr id="7" name="Text 158"/>
          <p:cNvSpPr txBox="1"/>
          <p:nvPr/>
        </p:nvSpPr>
        <p:spPr>
          <a:xfrm>
            <a:off x="594360" y="25877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interpreter that runs your code</a:t>
            </a:r>
            <a:endParaRPr lang="en-US" sz="1400" dirty="0"/>
          </a:p>
        </p:txBody>
      </p:sp>
      <p:sp>
        <p:nvSpPr>
          <p:cNvPr id="8" name="Card 159"/>
          <p:cNvSpPr/>
          <p:nvPr/>
        </p:nvSpPr>
        <p:spPr>
          <a:xfrm>
            <a:off x="2560320" y="2148840"/>
            <a:ext cx="1965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160"/>
          <p:cNvSpPr txBox="1"/>
          <p:nvPr/>
        </p:nvSpPr>
        <p:spPr>
          <a:xfrm>
            <a:off x="2697480" y="22585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Standard library</a:t>
            </a:r>
            <a:endParaRPr lang="en-US" sz="1500" dirty="0"/>
          </a:p>
        </p:txBody>
      </p:sp>
      <p:sp>
        <p:nvSpPr>
          <p:cNvPr id="10" name="Text 161"/>
          <p:cNvSpPr txBox="1"/>
          <p:nvPr/>
        </p:nvSpPr>
        <p:spPr>
          <a:xfrm>
            <a:off x="2697480" y="258775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Built-in modules: os, json, sys…</a:t>
            </a:r>
            <a:endParaRPr lang="en-US" sz="1400" dirty="0"/>
          </a:p>
        </p:txBody>
      </p:sp>
      <p:sp>
        <p:nvSpPr>
          <p:cNvPr id="11" name="Card 162"/>
          <p:cNvSpPr/>
          <p:nvPr/>
        </p:nvSpPr>
        <p:spPr>
          <a:xfrm>
            <a:off x="457200" y="3337560"/>
            <a:ext cx="1965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63"/>
          <p:cNvSpPr txBox="1"/>
          <p:nvPr/>
        </p:nvSpPr>
        <p:spPr>
          <a:xfrm>
            <a:off x="594360" y="3447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</a:t>
            </a:r>
            <a:endParaRPr lang="en-US" sz="1500" dirty="0"/>
          </a:p>
        </p:txBody>
      </p:sp>
      <p:sp>
        <p:nvSpPr>
          <p:cNvPr id="13" name="Text 164"/>
          <p:cNvSpPr txBox="1"/>
          <p:nvPr/>
        </p:nvSpPr>
        <p:spPr>
          <a:xfrm>
            <a:off x="59436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Installs extra packages</a:t>
            </a:r>
            <a:endParaRPr lang="en-US" sz="1400" dirty="0"/>
          </a:p>
        </p:txBody>
      </p:sp>
      <p:sp>
        <p:nvSpPr>
          <p:cNvPr id="14" name="Card 165"/>
          <p:cNvSpPr/>
          <p:nvPr/>
        </p:nvSpPr>
        <p:spPr>
          <a:xfrm>
            <a:off x="2560320" y="3337560"/>
            <a:ext cx="1965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66"/>
          <p:cNvSpPr txBox="1"/>
          <p:nvPr/>
        </p:nvSpPr>
        <p:spPr>
          <a:xfrm>
            <a:off x="2697480" y="3447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 launcher</a:t>
            </a:r>
            <a:endParaRPr lang="en-US" sz="1500" dirty="0"/>
          </a:p>
        </p:txBody>
      </p:sp>
      <p:sp>
        <p:nvSpPr>
          <p:cNvPr id="16" name="Text 167"/>
          <p:cNvSpPr txBox="1"/>
          <p:nvPr/>
        </p:nvSpPr>
        <p:spPr>
          <a:xfrm>
            <a:off x="2697480" y="37764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Picks between installed versions</a:t>
            </a:r>
            <a:endParaRPr lang="en-US" sz="1400" dirty="0"/>
          </a:p>
        </p:txBody>
      </p:sp>
      <p:sp>
        <p:nvSpPr>
          <p:cNvPr id="17" name="Text 168"/>
          <p:cNvSpPr txBox="1"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How to install</a:t>
            </a:r>
            <a:endParaRPr lang="en-US" sz="1400" dirty="0"/>
          </a:p>
        </p:txBody>
      </p:sp>
      <p:sp>
        <p:nvSpPr>
          <p:cNvPr id="18" name="Badge 169"/>
          <p:cNvSpPr/>
          <p:nvPr/>
        </p:nvSpPr>
        <p:spPr>
          <a:xfrm>
            <a:off x="4937760" y="216712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0"/>
          <p:cNvSpPr txBox="1"/>
          <p:nvPr/>
        </p:nvSpPr>
        <p:spPr>
          <a:xfrm>
            <a:off x="493776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1"/>
          <p:cNvSpPr txBox="1"/>
          <p:nvPr/>
        </p:nvSpPr>
        <p:spPr>
          <a:xfrm>
            <a:off x="5394960" y="21488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Download Python 3 from python.org/downloads</a:t>
            </a:r>
            <a:endParaRPr lang="en-US" sz="1400" dirty="0"/>
          </a:p>
        </p:txBody>
      </p:sp>
      <p:sp>
        <p:nvSpPr>
          <p:cNvPr id="21" name="Badge 172"/>
          <p:cNvSpPr/>
          <p:nvPr/>
        </p:nvSpPr>
        <p:spPr>
          <a:xfrm>
            <a:off x="4937760" y="264261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3"/>
          <p:cNvSpPr txBox="1"/>
          <p:nvPr/>
        </p:nvSpPr>
        <p:spPr>
          <a:xfrm>
            <a:off x="493776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74"/>
          <p:cNvSpPr txBox="1"/>
          <p:nvPr/>
        </p:nvSpPr>
        <p:spPr>
          <a:xfrm>
            <a:off x="5394960" y="26243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installer</a:t>
            </a:r>
            <a:endParaRPr lang="en-US" sz="1400" dirty="0"/>
          </a:p>
        </p:txBody>
      </p:sp>
      <p:sp>
        <p:nvSpPr>
          <p:cNvPr id="24" name="Card 175"/>
          <p:cNvSpPr/>
          <p:nvPr/>
        </p:nvSpPr>
        <p:spPr>
          <a:xfrm>
            <a:off x="4846320" y="3063240"/>
            <a:ext cx="3840480" cy="4389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 176"/>
          <p:cNvSpPr/>
          <p:nvPr/>
        </p:nvSpPr>
        <p:spPr>
          <a:xfrm>
            <a:off x="4937760" y="311810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177"/>
          <p:cNvSpPr txBox="1"/>
          <p:nvPr/>
        </p:nvSpPr>
        <p:spPr>
          <a:xfrm>
            <a:off x="493776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178"/>
          <p:cNvSpPr txBox="1"/>
          <p:nvPr/>
        </p:nvSpPr>
        <p:spPr>
          <a:xfrm>
            <a:off x="5394960" y="30998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Tick “Add python.exe to PATH”</a:t>
            </a:r>
            <a:endParaRPr lang="en-US" sz="1400" dirty="0"/>
          </a:p>
        </p:txBody>
      </p:sp>
      <p:sp>
        <p:nvSpPr>
          <p:cNvPr id="28" name="Badge 179"/>
          <p:cNvSpPr/>
          <p:nvPr/>
        </p:nvSpPr>
        <p:spPr>
          <a:xfrm>
            <a:off x="4937760" y="359359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180"/>
          <p:cNvSpPr txBox="1"/>
          <p:nvPr/>
        </p:nvSpPr>
        <p:spPr>
          <a:xfrm>
            <a:off x="493776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181"/>
          <p:cNvSpPr txBox="1"/>
          <p:nvPr/>
        </p:nvSpPr>
        <p:spPr>
          <a:xfrm>
            <a:off x="5394960" y="3575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Click Install Now</a:t>
            </a:r>
            <a:endParaRPr lang="en-US" sz="1400" dirty="0"/>
          </a:p>
        </p:txBody>
      </p:sp>
      <p:sp>
        <p:nvSpPr>
          <p:cNvPr id="31" name="Badge 182"/>
          <p:cNvSpPr/>
          <p:nvPr/>
        </p:nvSpPr>
        <p:spPr>
          <a:xfrm>
            <a:off x="4937760" y="40690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183"/>
          <p:cNvSpPr txBox="1"/>
          <p:nvPr/>
        </p:nvSpPr>
        <p:spPr>
          <a:xfrm>
            <a:off x="493776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184"/>
          <p:cNvSpPr txBox="1"/>
          <p:nvPr/>
        </p:nvSpPr>
        <p:spPr>
          <a:xfrm>
            <a:off x="5394960" y="40507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Reopen PowerShell and run python --version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Add Python to PATH?</a:t>
            </a:r>
            <a:endParaRPr lang="en-US" sz="3200" dirty="0"/>
          </a:p>
        </p:txBody>
      </p:sp>
      <p:sp>
        <p:nvSpPr>
          <p:cNvPr id="3" name="Terminal 185"/>
          <p:cNvSpPr/>
          <p:nvPr/>
        </p:nvSpPr>
        <p:spPr>
          <a:xfrm>
            <a:off x="457200" y="1143000"/>
            <a:ext cx="475488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186"/>
          <p:cNvSpPr/>
          <p:nvPr/>
        </p:nvSpPr>
        <p:spPr>
          <a:xfrm>
            <a:off x="6035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187"/>
          <p:cNvSpPr/>
          <p:nvPr/>
        </p:nvSpPr>
        <p:spPr>
          <a:xfrm>
            <a:off x="7589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188"/>
          <p:cNvSpPr/>
          <p:nvPr/>
        </p:nvSpPr>
        <p:spPr>
          <a:xfrm>
            <a:off x="9144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189"/>
          <p:cNvSpPr txBox="1"/>
          <p:nvPr/>
        </p:nvSpPr>
        <p:spPr>
          <a:xfrm>
            <a:off x="1143000" y="12070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Windows finds a command</a:t>
            </a:r>
            <a:endParaRPr lang="en-US" sz="1000" dirty="0"/>
          </a:p>
        </p:txBody>
      </p:sp>
      <p:sp>
        <p:nvSpPr>
          <p:cNvPr id="8" name="Code 190"/>
          <p:cNvSpPr txBox="1"/>
          <p:nvPr/>
        </p:nvSpPr>
        <p:spPr>
          <a:xfrm>
            <a:off x="621792" y="1472184"/>
            <a:ext cx="44805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checks each PATH folder in order: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C:\Windows\System32\              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C:\Windows\                       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...\Programs\Python\Python313\    ✓ run it</a:t>
            </a:r>
            <a:endParaRPr lang="en-US" sz="1100" dirty="0"/>
          </a:p>
        </p:txBody>
      </p:sp>
      <p:sp>
        <p:nvSpPr>
          <p:cNvPr id="9" name="Text 191"/>
          <p:cNvSpPr txBox="1"/>
          <p:nvPr/>
        </p:nvSpPr>
        <p:spPr>
          <a:xfrm>
            <a:off x="45720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Windows never searches the whole disk; that would be far too slow. It only checks the folders on PATH.</a:t>
            </a:r>
            <a:endParaRPr lang="en-US" sz="1400" dirty="0"/>
          </a:p>
        </p:txBody>
      </p:sp>
      <p:sp>
        <p:nvSpPr>
          <p:cNvPr id="10" name="Card 192"/>
          <p:cNvSpPr/>
          <p:nvPr/>
        </p:nvSpPr>
        <p:spPr>
          <a:xfrm>
            <a:off x="5486400" y="114300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193"/>
          <p:cNvSpPr txBox="1"/>
          <p:nvPr/>
        </p:nvSpPr>
        <p:spPr>
          <a:xfrm>
            <a:off x="5669280" y="12344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Environment variable</a:t>
            </a:r>
            <a:endParaRPr lang="en-US" sz="1600" dirty="0"/>
          </a:p>
        </p:txBody>
      </p:sp>
      <p:sp>
        <p:nvSpPr>
          <p:cNvPr id="12" name="Text 194"/>
          <p:cNvSpPr txBox="1"/>
          <p:nvPr/>
        </p:nvSpPr>
        <p:spPr>
          <a:xfrm>
            <a:off x="566928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named setting the system and programs can read</a:t>
            </a:r>
            <a:endParaRPr lang="en-US" sz="1400" dirty="0"/>
          </a:p>
        </p:txBody>
      </p:sp>
      <p:sp>
        <p:nvSpPr>
          <p:cNvPr id="13" name="Card 195"/>
          <p:cNvSpPr/>
          <p:nvPr/>
        </p:nvSpPr>
        <p:spPr>
          <a:xfrm>
            <a:off x="5486400" y="228600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96"/>
          <p:cNvSpPr txBox="1"/>
          <p:nvPr/>
        </p:nvSpPr>
        <p:spPr>
          <a:xfrm>
            <a:off x="5669280" y="23774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PATH</a:t>
            </a:r>
            <a:endParaRPr lang="en-US" sz="1600" dirty="0"/>
          </a:p>
        </p:txBody>
      </p:sp>
      <p:sp>
        <p:nvSpPr>
          <p:cNvPr id="15" name="Text 197"/>
          <p:cNvSpPr txBox="1"/>
          <p:nvPr/>
        </p:nvSpPr>
        <p:spPr>
          <a:xfrm>
            <a:off x="566928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list of folders searched when you type a command</a:t>
            </a:r>
            <a:endParaRPr lang="en-US" sz="1400" dirty="0"/>
          </a:p>
        </p:txBody>
      </p:sp>
      <p:sp>
        <p:nvSpPr>
          <p:cNvPr id="16" name="Card 198"/>
          <p:cNvSpPr/>
          <p:nvPr/>
        </p:nvSpPr>
        <p:spPr>
          <a:xfrm>
            <a:off x="5486400" y="342900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99"/>
          <p:cNvSpPr txBox="1"/>
          <p:nvPr/>
        </p:nvSpPr>
        <p:spPr>
          <a:xfrm>
            <a:off x="5669280" y="34747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checkbox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adds Python's install folder, which isn't on PATH by default.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PATH Problems: Spot, Check, Fix</a:t>
            </a:r>
            <a:endParaRPr lang="en-US" sz="3200" dirty="0"/>
          </a:p>
        </p:txBody>
      </p:sp>
      <p:sp>
        <p:nvSpPr>
          <p:cNvPr id="3" name="Terminal 200"/>
          <p:cNvSpPr/>
          <p:nvPr/>
        </p:nvSpPr>
        <p:spPr>
          <a:xfrm>
            <a:off x="457200" y="114300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201"/>
          <p:cNvSpPr/>
          <p:nvPr/>
        </p:nvSpPr>
        <p:spPr>
          <a:xfrm>
            <a:off x="6035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202"/>
          <p:cNvSpPr/>
          <p:nvPr/>
        </p:nvSpPr>
        <p:spPr>
          <a:xfrm>
            <a:off x="7589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203"/>
          <p:cNvSpPr/>
          <p:nvPr/>
        </p:nvSpPr>
        <p:spPr>
          <a:xfrm>
            <a:off x="9144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204"/>
          <p:cNvSpPr txBox="1"/>
          <p:nvPr/>
        </p:nvSpPr>
        <p:spPr>
          <a:xfrm>
            <a:off x="1143000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000" dirty="0"/>
          </a:p>
        </p:txBody>
      </p:sp>
      <p:sp>
        <p:nvSpPr>
          <p:cNvPr id="8" name="Code 205"/>
          <p:cNvSpPr txBox="1"/>
          <p:nvPr/>
        </p:nvSpPr>
        <p:spPr>
          <a:xfrm>
            <a:off x="621792" y="1472184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: The term 'python' is 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recognized as the name of a cmdlet...</a:t>
            </a:r>
            <a:endParaRPr lang="en-US" sz="1100" dirty="0"/>
          </a:p>
        </p:txBody>
      </p:sp>
      <p:sp>
        <p:nvSpPr>
          <p:cNvPr id="9" name="Terminal 206"/>
          <p:cNvSpPr/>
          <p:nvPr/>
        </p:nvSpPr>
        <p:spPr>
          <a:xfrm>
            <a:off x="457200" y="260604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ot 207"/>
          <p:cNvSpPr/>
          <p:nvPr/>
        </p:nvSpPr>
        <p:spPr>
          <a:xfrm>
            <a:off x="603504" y="271576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Dot 208"/>
          <p:cNvSpPr/>
          <p:nvPr/>
        </p:nvSpPr>
        <p:spPr>
          <a:xfrm>
            <a:off x="758952" y="27157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ot 209"/>
          <p:cNvSpPr/>
          <p:nvPr/>
        </p:nvSpPr>
        <p:spPr>
          <a:xfrm>
            <a:off x="914400" y="271576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210"/>
          <p:cNvSpPr txBox="1"/>
          <p:nvPr/>
        </p:nvSpPr>
        <p:spPr>
          <a:xfrm>
            <a:off x="1143000" y="2670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000" dirty="0"/>
          </a:p>
        </p:txBody>
      </p:sp>
      <p:sp>
        <p:nvSpPr>
          <p:cNvPr id="14" name="Code 211"/>
          <p:cNvSpPr txBox="1"/>
          <p:nvPr/>
        </p:nvSpPr>
        <p:spPr>
          <a:xfrm>
            <a:off x="621792" y="2935224"/>
            <a:ext cx="37490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where.exe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python.exe is found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$env:Path -split ";"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PATH, one folder per line</a:t>
            </a:r>
            <a:endParaRPr lang="en-US" sz="1100" dirty="0"/>
          </a:p>
        </p:txBody>
      </p:sp>
      <p:sp>
        <p:nvSpPr>
          <p:cNvPr id="15" name="Text 212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Fix it</a:t>
            </a:r>
            <a:endParaRPr lang="en-US" sz="1600" dirty="0"/>
          </a:p>
        </p:txBody>
      </p:sp>
      <p:sp>
        <p:nvSpPr>
          <p:cNvPr id="16" name="Badge 213"/>
          <p:cNvSpPr/>
          <p:nvPr/>
        </p:nvSpPr>
        <p:spPr>
          <a:xfrm>
            <a:off x="4754880" y="158191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214"/>
          <p:cNvSpPr txBox="1"/>
          <p:nvPr/>
        </p:nvSpPr>
        <p:spPr>
          <a:xfrm>
            <a:off x="475488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215"/>
          <p:cNvSpPr txBox="1"/>
          <p:nvPr/>
        </p:nvSpPr>
        <p:spPr>
          <a:xfrm>
            <a:off x="5257800" y="15544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Rerun the Python installer → Modify, or reinstall with the PATH box ticked</a:t>
            </a:r>
            <a:endParaRPr lang="en-US" sz="1400" dirty="0"/>
          </a:p>
        </p:txBody>
      </p:sp>
      <p:sp>
        <p:nvSpPr>
          <p:cNvPr id="19" name="Badge 216"/>
          <p:cNvSpPr/>
          <p:nvPr/>
        </p:nvSpPr>
        <p:spPr>
          <a:xfrm>
            <a:off x="4754880" y="2295144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217"/>
          <p:cNvSpPr txBox="1"/>
          <p:nvPr/>
        </p:nvSpPr>
        <p:spPr>
          <a:xfrm>
            <a:off x="475488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218"/>
          <p:cNvSpPr txBox="1"/>
          <p:nvPr/>
        </p:nvSpPr>
        <p:spPr>
          <a:xfrm>
            <a:off x="5257800" y="22677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Or: Start → “Edit environment variables for your account” → Path → Edit → New</a:t>
            </a:r>
            <a:endParaRPr lang="en-US" sz="1400" dirty="0"/>
          </a:p>
        </p:txBody>
      </p:sp>
      <p:sp>
        <p:nvSpPr>
          <p:cNvPr id="22" name="Badge 219"/>
          <p:cNvSpPr/>
          <p:nvPr/>
        </p:nvSpPr>
        <p:spPr>
          <a:xfrm>
            <a:off x="4754880" y="3008376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20"/>
          <p:cNvSpPr txBox="1"/>
          <p:nvPr/>
        </p:nvSpPr>
        <p:spPr>
          <a:xfrm>
            <a:off x="475488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1"/>
          <p:cNvSpPr txBox="1"/>
          <p:nvPr/>
        </p:nvSpPr>
        <p:spPr>
          <a:xfrm>
            <a:off x="5257800" y="298094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Close and reopen the terminal; it only reads PATH when it starts</a:t>
            </a:r>
            <a:endParaRPr lang="en-US" sz="1400" dirty="0"/>
          </a:p>
        </p:txBody>
      </p:sp>
      <p:sp>
        <p:nvSpPr>
          <p:cNvPr id="25" name="Card 222"/>
          <p:cNvSpPr/>
          <p:nvPr/>
        </p:nvSpPr>
        <p:spPr>
          <a:xfrm>
            <a:off x="4754880" y="374904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3"/>
          <p:cNvSpPr txBox="1"/>
          <p:nvPr/>
        </p:nvSpPr>
        <p:spPr>
          <a:xfrm>
            <a:off x="4937760" y="3794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Workaround: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script.py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usually works even when python doesn't.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Running Code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Writing Python files, passing arguments, and installing packages with pip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Parts 8–9 · Scripts · sys.argv · pip · requirements.txt · venv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Running Python: Two Ways</a:t>
            </a:r>
            <a:endParaRPr lang="en-US" sz="3200" dirty="0"/>
          </a:p>
        </p:txBody>
      </p:sp>
      <p:sp>
        <p:nvSpPr>
          <p:cNvPr id="3" name="Terminal 224"/>
          <p:cNvSpPr/>
          <p:nvPr/>
        </p:nvSpPr>
        <p:spPr>
          <a:xfrm>
            <a:off x="457200" y="11430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225"/>
          <p:cNvSpPr/>
          <p:nvPr/>
        </p:nvSpPr>
        <p:spPr>
          <a:xfrm>
            <a:off x="6035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226"/>
          <p:cNvSpPr/>
          <p:nvPr/>
        </p:nvSpPr>
        <p:spPr>
          <a:xfrm>
            <a:off x="7589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227"/>
          <p:cNvSpPr/>
          <p:nvPr/>
        </p:nvSpPr>
        <p:spPr>
          <a:xfrm>
            <a:off x="9144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228"/>
          <p:cNvSpPr txBox="1"/>
          <p:nvPr/>
        </p:nvSpPr>
        <p:spPr>
          <a:xfrm>
            <a:off x="1143000" y="12070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prompt</a:t>
            </a:r>
            <a:endParaRPr lang="en-US" sz="1000" dirty="0"/>
          </a:p>
        </p:txBody>
      </p:sp>
      <p:sp>
        <p:nvSpPr>
          <p:cNvPr id="8" name="Code 229"/>
          <p:cNvSpPr txBox="1"/>
          <p:nvPr/>
        </p:nvSpPr>
        <p:spPr>
          <a:xfrm>
            <a:off x="621792" y="1472184"/>
            <a:ext cx="3657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print("hi")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exit()</a:t>
            </a:r>
            <a:endParaRPr lang="en-US" sz="1100" dirty="0"/>
          </a:p>
        </p:txBody>
      </p:sp>
      <p:sp>
        <p:nvSpPr>
          <p:cNvPr id="9" name="Text 230"/>
          <p:cNvSpPr txBox="1"/>
          <p:nvPr/>
        </p:nvSpPr>
        <p:spPr>
          <a:xfrm>
            <a:off x="457200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Interactive: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great for quick experiments</a:t>
            </a:r>
            <a:endParaRPr lang="en-US" sz="1400" dirty="0"/>
          </a:p>
        </p:txBody>
      </p:sp>
      <p:sp>
        <p:nvSpPr>
          <p:cNvPr id="10" name="Terminal 231"/>
          <p:cNvSpPr/>
          <p:nvPr/>
        </p:nvSpPr>
        <p:spPr>
          <a:xfrm>
            <a:off x="4754880" y="11430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Dot 232"/>
          <p:cNvSpPr/>
          <p:nvPr/>
        </p:nvSpPr>
        <p:spPr>
          <a:xfrm>
            <a:off x="490118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Dot 233"/>
          <p:cNvSpPr/>
          <p:nvPr/>
        </p:nvSpPr>
        <p:spPr>
          <a:xfrm>
            <a:off x="505663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ot 234"/>
          <p:cNvSpPr/>
          <p:nvPr/>
        </p:nvSpPr>
        <p:spPr>
          <a:xfrm>
            <a:off x="521208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235"/>
          <p:cNvSpPr txBox="1"/>
          <p:nvPr/>
        </p:nvSpPr>
        <p:spPr>
          <a:xfrm>
            <a:off x="5440680" y="12070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file</a:t>
            </a:r>
            <a:endParaRPr lang="en-US" sz="1000" dirty="0"/>
          </a:p>
        </p:txBody>
      </p:sp>
      <p:sp>
        <p:nvSpPr>
          <p:cNvPr id="15" name="Code 236"/>
          <p:cNvSpPr txBox="1"/>
          <p:nvPr/>
        </p:nvSpPr>
        <p:spPr>
          <a:xfrm>
            <a:off x="4919472" y="1472184"/>
            <a:ext cx="36576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mkdir ~\Downloads\signal\practice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cd ~\Downloads\signal\practice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notepad hello.py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paste code, save, then: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hello.py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Ada! Python is working.</a:t>
            </a:r>
            <a:endParaRPr lang="en-US" sz="1100" dirty="0"/>
          </a:p>
        </p:txBody>
      </p:sp>
      <p:sp>
        <p:nvSpPr>
          <p:cNvPr id="16" name="Text 237"/>
          <p:cNvSpPr txBox="1"/>
          <p:nvPr/>
        </p:nvSpPr>
        <p:spPr>
          <a:xfrm>
            <a:off x="4754880" y="3035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Script file: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programs you save and re-run</a:t>
            </a:r>
            <a:endParaRPr lang="en-US" sz="1400" dirty="0"/>
          </a:p>
        </p:txBody>
      </p:sp>
      <p:sp>
        <p:nvSpPr>
          <p:cNvPr id="17" name="Card 238"/>
          <p:cNvSpPr/>
          <p:nvPr/>
        </p:nvSpPr>
        <p:spPr>
          <a:xfrm>
            <a:off x="457200" y="3520440"/>
            <a:ext cx="82296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ard 239"/>
          <p:cNvSpPr/>
          <p:nvPr/>
        </p:nvSpPr>
        <p:spPr>
          <a:xfrm>
            <a:off x="685800" y="3794760"/>
            <a:ext cx="1188720" cy="43891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240"/>
          <p:cNvSpPr txBox="1"/>
          <p:nvPr/>
        </p:nvSpPr>
        <p:spPr>
          <a:xfrm>
            <a:off x="685800" y="37947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600" dirty="0"/>
          </a:p>
        </p:txBody>
      </p:sp>
      <p:sp>
        <p:nvSpPr>
          <p:cNvPr id="20" name="Card 241"/>
          <p:cNvSpPr/>
          <p:nvPr/>
        </p:nvSpPr>
        <p:spPr>
          <a:xfrm>
            <a:off x="1965960" y="3794760"/>
            <a:ext cx="146304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242"/>
          <p:cNvSpPr txBox="1"/>
          <p:nvPr/>
        </p:nvSpPr>
        <p:spPr>
          <a:xfrm>
            <a:off x="1965960" y="3794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22" name="Text 243"/>
          <p:cNvSpPr txBox="1"/>
          <p:nvPr/>
        </p:nvSpPr>
        <p:spPr>
          <a:xfrm>
            <a:off x="3703320" y="3611880"/>
            <a:ext cx="4846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python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the program (the interpreter)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hello.py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the argument (the file to run)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Passing Arguments to a Script</a:t>
            </a:r>
            <a:endParaRPr lang="en-US" sz="3200" dirty="0"/>
          </a:p>
        </p:txBody>
      </p:sp>
      <p:sp>
        <p:nvSpPr>
          <p:cNvPr id="3" name="Terminal 244"/>
          <p:cNvSpPr/>
          <p:nvPr/>
        </p:nvSpPr>
        <p:spPr>
          <a:xfrm>
            <a:off x="457200" y="114300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245"/>
          <p:cNvSpPr/>
          <p:nvPr/>
        </p:nvSpPr>
        <p:spPr>
          <a:xfrm>
            <a:off x="6035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246"/>
          <p:cNvSpPr/>
          <p:nvPr/>
        </p:nvSpPr>
        <p:spPr>
          <a:xfrm>
            <a:off x="7589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247"/>
          <p:cNvSpPr/>
          <p:nvPr/>
        </p:nvSpPr>
        <p:spPr>
          <a:xfrm>
            <a:off x="9144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248"/>
          <p:cNvSpPr txBox="1"/>
          <p:nvPr/>
        </p:nvSpPr>
        <p:spPr>
          <a:xfrm>
            <a:off x="1143000" y="12070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greet.py</a:t>
            </a:r>
            <a:endParaRPr lang="en-US" sz="1000" dirty="0"/>
          </a:p>
        </p:txBody>
      </p:sp>
      <p:sp>
        <p:nvSpPr>
          <p:cNvPr id="8" name="Code 249"/>
          <p:cNvSpPr txBox="1"/>
          <p:nvPr/>
        </p:nvSpPr>
        <p:spPr>
          <a:xfrm>
            <a:off x="621792" y="1472184"/>
            <a:ext cx="3657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print("All:", sys.argv)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print("First:", sys.argv[1])</a:t>
            </a:r>
            <a:endParaRPr lang="en-US" sz="1100" dirty="0"/>
          </a:p>
        </p:txBody>
      </p:sp>
      <p:sp>
        <p:nvSpPr>
          <p:cNvPr id="9" name="Terminal 250"/>
          <p:cNvSpPr/>
          <p:nvPr/>
        </p:nvSpPr>
        <p:spPr>
          <a:xfrm>
            <a:off x="457200" y="260604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ot 251"/>
          <p:cNvSpPr/>
          <p:nvPr/>
        </p:nvSpPr>
        <p:spPr>
          <a:xfrm>
            <a:off x="603504" y="271576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Dot 252"/>
          <p:cNvSpPr/>
          <p:nvPr/>
        </p:nvSpPr>
        <p:spPr>
          <a:xfrm>
            <a:off x="758952" y="27157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ot 253"/>
          <p:cNvSpPr/>
          <p:nvPr/>
        </p:nvSpPr>
        <p:spPr>
          <a:xfrm>
            <a:off x="914400" y="271576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254"/>
          <p:cNvSpPr txBox="1"/>
          <p:nvPr/>
        </p:nvSpPr>
        <p:spPr>
          <a:xfrm>
            <a:off x="1143000" y="2670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14" name="Code 255"/>
          <p:cNvSpPr txBox="1"/>
          <p:nvPr/>
        </p:nvSpPr>
        <p:spPr>
          <a:xfrm>
            <a:off x="621792" y="2935224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greet.py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['greet.py', 'Alice']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First: Alice</a:t>
            </a:r>
            <a:endParaRPr lang="en-US" sz="1100" dirty="0"/>
          </a:p>
        </p:txBody>
      </p:sp>
      <p:sp>
        <p:nvSpPr>
          <p:cNvPr id="15" name="Text 256"/>
          <p:cNvSpPr txBox="1"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sys.argv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the list of words typed after python.</a:t>
            </a:r>
            <a:endParaRPr lang="en-US" sz="1400" dirty="0"/>
          </a:p>
        </p:txBody>
      </p:sp>
      <p:sp>
        <p:nvSpPr>
          <p:cNvPr id="16" name="Text 257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That's exactly how the Signal tool works</a:t>
            </a:r>
            <a:endParaRPr lang="en-US" sz="1600" dirty="0"/>
          </a:p>
        </p:txBody>
      </p:sp>
      <p:sp>
        <p:nvSpPr>
          <p:cNvPr id="17" name="Terminal 258"/>
          <p:cNvSpPr/>
          <p:nvPr/>
        </p:nvSpPr>
        <p:spPr>
          <a:xfrm>
            <a:off x="4754880" y="1554480"/>
            <a:ext cx="39319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Dot 259"/>
          <p:cNvSpPr/>
          <p:nvPr/>
        </p:nvSpPr>
        <p:spPr>
          <a:xfrm>
            <a:off x="4901184" y="16642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Dot 260"/>
          <p:cNvSpPr/>
          <p:nvPr/>
        </p:nvSpPr>
        <p:spPr>
          <a:xfrm>
            <a:off x="5056632" y="16642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ot 261"/>
          <p:cNvSpPr/>
          <p:nvPr/>
        </p:nvSpPr>
        <p:spPr>
          <a:xfrm>
            <a:off x="5212080" y="16642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Code 262"/>
          <p:cNvSpPr txBox="1"/>
          <p:nvPr/>
        </p:nvSpPr>
        <p:spPr>
          <a:xfrm>
            <a:off x="4919472" y="18836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decrypt_backup.py my.backup out</a:t>
            </a:r>
            <a:endParaRPr lang="en-US" sz="1100" dirty="0"/>
          </a:p>
        </p:txBody>
      </p:sp>
      <p:sp>
        <p:nvSpPr>
          <p:cNvPr id="22" name="Card 263"/>
          <p:cNvSpPr/>
          <p:nvPr/>
        </p:nvSpPr>
        <p:spPr>
          <a:xfrm>
            <a:off x="4754880" y="2468880"/>
            <a:ext cx="19202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64"/>
          <p:cNvSpPr txBox="1"/>
          <p:nvPr/>
        </p:nvSpPr>
        <p:spPr>
          <a:xfrm>
            <a:off x="4754880" y="24688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decrypt_backup.py</a:t>
            </a:r>
            <a:endParaRPr lang="en-US" sz="1200" dirty="0"/>
          </a:p>
        </p:txBody>
      </p:sp>
      <p:sp>
        <p:nvSpPr>
          <p:cNvPr id="24" name="Arrow 265"/>
          <p:cNvSpPr/>
          <p:nvPr/>
        </p:nvSpPr>
        <p:spPr>
          <a:xfrm>
            <a:off x="6766560" y="270662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266"/>
          <p:cNvSpPr txBox="1"/>
          <p:nvPr/>
        </p:nvSpPr>
        <p:spPr>
          <a:xfrm>
            <a:off x="7132320" y="2468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script</a:t>
            </a:r>
            <a:endParaRPr lang="en-US" sz="1400" dirty="0"/>
          </a:p>
        </p:txBody>
      </p:sp>
      <p:sp>
        <p:nvSpPr>
          <p:cNvPr id="26" name="Card 267"/>
          <p:cNvSpPr/>
          <p:nvPr/>
        </p:nvSpPr>
        <p:spPr>
          <a:xfrm>
            <a:off x="4754880" y="3108960"/>
            <a:ext cx="19202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68"/>
          <p:cNvSpPr txBox="1"/>
          <p:nvPr/>
        </p:nvSpPr>
        <p:spPr>
          <a:xfrm>
            <a:off x="4754880" y="31089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my.backup</a:t>
            </a:r>
            <a:endParaRPr lang="en-US" sz="1200" dirty="0"/>
          </a:p>
        </p:txBody>
      </p:sp>
      <p:sp>
        <p:nvSpPr>
          <p:cNvPr id="28" name="Arrow 269"/>
          <p:cNvSpPr/>
          <p:nvPr/>
        </p:nvSpPr>
        <p:spPr>
          <a:xfrm>
            <a:off x="6766560" y="334670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Text 270"/>
          <p:cNvSpPr txBox="1"/>
          <p:nvPr/>
        </p:nvSpPr>
        <p:spPr>
          <a:xfrm>
            <a:off x="7132320" y="31089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input: your backup</a:t>
            </a:r>
            <a:endParaRPr lang="en-US" sz="1400" dirty="0"/>
          </a:p>
        </p:txBody>
      </p:sp>
      <p:sp>
        <p:nvSpPr>
          <p:cNvPr id="30" name="Card 271"/>
          <p:cNvSpPr/>
          <p:nvPr/>
        </p:nvSpPr>
        <p:spPr>
          <a:xfrm>
            <a:off x="4754880" y="3749040"/>
            <a:ext cx="19202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72"/>
          <p:cNvSpPr txBox="1"/>
          <p:nvPr/>
        </p:nvSpPr>
        <p:spPr>
          <a:xfrm>
            <a:off x="4754880" y="3749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endParaRPr lang="en-US" sz="1200" dirty="0"/>
          </a:p>
        </p:txBody>
      </p:sp>
      <p:sp>
        <p:nvSpPr>
          <p:cNvPr id="32" name="Arrow 273"/>
          <p:cNvSpPr/>
          <p:nvPr/>
        </p:nvSpPr>
        <p:spPr>
          <a:xfrm>
            <a:off x="6766560" y="398678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Text 274"/>
          <p:cNvSpPr txBox="1"/>
          <p:nvPr/>
        </p:nvSpPr>
        <p:spPr>
          <a:xfrm>
            <a:off x="7132320" y="3749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folder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Packages and pip</a:t>
            </a:r>
            <a:endParaRPr lang="en-US" sz="3200" dirty="0"/>
          </a:p>
        </p:txBody>
      </p:sp>
      <p:sp>
        <p:nvSpPr>
          <p:cNvPr id="3" name="Card 275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76"/>
          <p:cNvSpPr txBox="1"/>
          <p:nvPr/>
        </p:nvSpPr>
        <p:spPr>
          <a:xfrm>
            <a:off x="59436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Package</a:t>
            </a:r>
            <a:endParaRPr lang="en-US" sz="1600" dirty="0"/>
          </a:p>
        </p:txBody>
      </p:sp>
      <p:sp>
        <p:nvSpPr>
          <p:cNvPr id="5" name="Text 277"/>
          <p:cNvSpPr txBox="1"/>
          <p:nvPr/>
        </p:nvSpPr>
        <p:spPr>
          <a:xfrm>
            <a:off x="594360" y="162763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someone else wrote and published for you to reuse</a:t>
            </a:r>
            <a:endParaRPr lang="en-US" sz="1400" dirty="0"/>
          </a:p>
        </p:txBody>
      </p:sp>
      <p:sp>
        <p:nvSpPr>
          <p:cNvPr id="6" name="Card 278"/>
          <p:cNvSpPr/>
          <p:nvPr/>
        </p:nvSpPr>
        <p:spPr>
          <a:xfrm>
            <a:off x="2560320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279"/>
          <p:cNvSpPr txBox="1"/>
          <p:nvPr/>
        </p:nvSpPr>
        <p:spPr>
          <a:xfrm>
            <a:off x="269748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Dependency</a:t>
            </a:r>
            <a:endParaRPr lang="en-US" sz="1600" dirty="0"/>
          </a:p>
        </p:txBody>
      </p:sp>
      <p:sp>
        <p:nvSpPr>
          <p:cNvPr id="8" name="Text 280"/>
          <p:cNvSpPr txBox="1"/>
          <p:nvPr/>
        </p:nvSpPr>
        <p:spPr>
          <a:xfrm>
            <a:off x="2697480" y="162763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package a project needs in order to run</a:t>
            </a:r>
            <a:endParaRPr lang="en-US" sz="1400" dirty="0"/>
          </a:p>
        </p:txBody>
      </p:sp>
      <p:sp>
        <p:nvSpPr>
          <p:cNvPr id="9" name="Card 281"/>
          <p:cNvSpPr/>
          <p:nvPr/>
        </p:nvSpPr>
        <p:spPr>
          <a:xfrm>
            <a:off x="4663440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282"/>
          <p:cNvSpPr txBox="1"/>
          <p:nvPr/>
        </p:nvSpPr>
        <p:spPr>
          <a:xfrm>
            <a:off x="480060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PyPI</a:t>
            </a:r>
            <a:endParaRPr lang="en-US" sz="1600" dirty="0"/>
          </a:p>
        </p:txBody>
      </p:sp>
      <p:sp>
        <p:nvSpPr>
          <p:cNvPr id="11" name="Text 283"/>
          <p:cNvSpPr txBox="1"/>
          <p:nvPr/>
        </p:nvSpPr>
        <p:spPr>
          <a:xfrm>
            <a:off x="4800600" y="162763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pypi.org: the public online store of Python packages</a:t>
            </a:r>
            <a:endParaRPr lang="en-US" sz="1400" dirty="0"/>
          </a:p>
        </p:txBody>
      </p:sp>
      <p:sp>
        <p:nvSpPr>
          <p:cNvPr id="12" name="Card 284"/>
          <p:cNvSpPr/>
          <p:nvPr/>
        </p:nvSpPr>
        <p:spPr>
          <a:xfrm>
            <a:off x="6766560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285"/>
          <p:cNvSpPr txBox="1"/>
          <p:nvPr/>
        </p:nvSpPr>
        <p:spPr>
          <a:xfrm>
            <a:off x="690372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pip</a:t>
            </a:r>
            <a:endParaRPr lang="en-US" sz="1600" dirty="0"/>
          </a:p>
        </p:txBody>
      </p:sp>
      <p:sp>
        <p:nvSpPr>
          <p:cNvPr id="14" name="Text 286"/>
          <p:cNvSpPr txBox="1"/>
          <p:nvPr/>
        </p:nvSpPr>
        <p:spPr>
          <a:xfrm>
            <a:off x="6903720" y="162763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program that downloads and installs packages</a:t>
            </a:r>
            <a:endParaRPr lang="en-US" sz="1400" dirty="0"/>
          </a:p>
        </p:txBody>
      </p:sp>
      <p:sp>
        <p:nvSpPr>
          <p:cNvPr id="15" name="Terminal 287"/>
          <p:cNvSpPr/>
          <p:nvPr/>
        </p:nvSpPr>
        <p:spPr>
          <a:xfrm>
            <a:off x="457200" y="2743200"/>
            <a:ext cx="493776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 288"/>
          <p:cNvSpPr/>
          <p:nvPr/>
        </p:nvSpPr>
        <p:spPr>
          <a:xfrm>
            <a:off x="603504" y="28529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Dot 289"/>
          <p:cNvSpPr/>
          <p:nvPr/>
        </p:nvSpPr>
        <p:spPr>
          <a:xfrm>
            <a:off x="758952" y="28529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ot 290"/>
          <p:cNvSpPr/>
          <p:nvPr/>
        </p:nvSpPr>
        <p:spPr>
          <a:xfrm>
            <a:off x="914400" y="28529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291"/>
          <p:cNvSpPr txBox="1"/>
          <p:nvPr/>
        </p:nvSpPr>
        <p:spPr>
          <a:xfrm>
            <a:off x="1143000" y="28072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commands</a:t>
            </a:r>
            <a:endParaRPr lang="en-US" sz="1000" dirty="0"/>
          </a:p>
        </p:txBody>
      </p:sp>
      <p:sp>
        <p:nvSpPr>
          <p:cNvPr id="20" name="Code 292"/>
          <p:cNvSpPr txBox="1"/>
          <p:nvPr/>
        </p:nvSpPr>
        <p:spPr>
          <a:xfrm>
            <a:off x="621792" y="3072384"/>
            <a:ext cx="4663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install requests    # one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list                # installed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uninstall requests  # remove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-m pip install … # safest form</a:t>
            </a:r>
            <a:endParaRPr lang="en-US" sz="1100" dirty="0"/>
          </a:p>
        </p:txBody>
      </p:sp>
      <p:sp>
        <p:nvSpPr>
          <p:cNvPr id="21" name="Card 293"/>
          <p:cNvSpPr/>
          <p:nvPr/>
        </p:nvSpPr>
        <p:spPr>
          <a:xfrm>
            <a:off x="5577840" y="2743200"/>
            <a:ext cx="3108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94"/>
          <p:cNvSpPr txBox="1"/>
          <p:nvPr/>
        </p:nvSpPr>
        <p:spPr>
          <a:xfrm>
            <a:off x="576072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a dependency?</a:t>
            </a:r>
            <a:endParaRPr lang="en-US" sz="1600" dirty="0"/>
          </a:p>
        </p:txBody>
      </p:sp>
      <p:sp>
        <p:nvSpPr>
          <p:cNvPr id="23" name="Text 295"/>
          <p:cNvSpPr txBox="1"/>
          <p:nvPr/>
        </p:nvSpPr>
        <p:spPr>
          <a:xfrm>
            <a:off x="5760720" y="3218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No module named 'x'</a:t>
            </a:r>
            <a:endParaRPr lang="en-US" sz="1100" dirty="0"/>
          </a:p>
        </p:txBody>
      </p:sp>
      <p:sp>
        <p:nvSpPr>
          <p:cNvPr id="24" name="Text 296"/>
          <p:cNvSpPr txBox="1"/>
          <p:nvPr/>
        </p:nvSpPr>
        <p:spPr>
          <a:xfrm>
            <a:off x="576072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Install it with pip, or activate the project's venv.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requirements.txt and venv</a:t>
            </a:r>
            <a:endParaRPr lang="en-US" sz="3200" dirty="0"/>
          </a:p>
        </p:txBody>
      </p:sp>
      <p:sp>
        <p:nvSpPr>
          <p:cNvPr id="3" name="Text 297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requirements.txt: the shopping list</a:t>
            </a:r>
            <a:endParaRPr lang="en-US" sz="1600" dirty="0"/>
          </a:p>
        </p:txBody>
      </p:sp>
      <p:sp>
        <p:nvSpPr>
          <p:cNvPr id="4" name="Terminal 298"/>
          <p:cNvSpPr/>
          <p:nvPr/>
        </p:nvSpPr>
        <p:spPr>
          <a:xfrm>
            <a:off x="457200" y="15087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 299"/>
          <p:cNvSpPr/>
          <p:nvPr/>
        </p:nvSpPr>
        <p:spPr>
          <a:xfrm>
            <a:off x="603504" y="161848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Dot 300"/>
          <p:cNvSpPr/>
          <p:nvPr/>
        </p:nvSpPr>
        <p:spPr>
          <a:xfrm>
            <a:off x="758952" y="161848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ot 301"/>
          <p:cNvSpPr/>
          <p:nvPr/>
        </p:nvSpPr>
        <p:spPr>
          <a:xfrm>
            <a:off x="914400" y="161848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302"/>
          <p:cNvSpPr txBox="1"/>
          <p:nvPr/>
        </p:nvSpPr>
        <p:spPr>
          <a:xfrm>
            <a:off x="1143000" y="1572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(example)</a:t>
            </a:r>
            <a:endParaRPr lang="en-US" sz="1000" dirty="0"/>
          </a:p>
        </p:txBody>
      </p:sp>
      <p:sp>
        <p:nvSpPr>
          <p:cNvPr id="9" name="Code 303"/>
          <p:cNvSpPr txBox="1"/>
          <p:nvPr/>
        </p:nvSpPr>
        <p:spPr>
          <a:xfrm>
            <a:off x="621792" y="183794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cryptography&gt;=3.0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protobuf==3.20.0</a:t>
            </a:r>
            <a:endParaRPr lang="en-US" sz="1100" dirty="0"/>
          </a:p>
        </p:txBody>
      </p:sp>
      <p:sp>
        <p:nvSpPr>
          <p:cNvPr id="10" name="Text 304"/>
          <p:cNvSpPr txBox="1"/>
          <p:nvPr/>
        </p:nvSpPr>
        <p:spPr>
          <a:xfrm>
            <a:off x="457200" y="25420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exactly this version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this version or newer</a:t>
            </a:r>
            <a:endParaRPr lang="en-US" sz="1400" dirty="0"/>
          </a:p>
        </p:txBody>
      </p:sp>
      <p:sp>
        <p:nvSpPr>
          <p:cNvPr id="11" name="Terminal 305"/>
          <p:cNvSpPr/>
          <p:nvPr/>
        </p:nvSpPr>
        <p:spPr>
          <a:xfrm>
            <a:off x="457200" y="3200400"/>
            <a:ext cx="393192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t 306"/>
          <p:cNvSpPr/>
          <p:nvPr/>
        </p:nvSpPr>
        <p:spPr>
          <a:xfrm>
            <a:off x="603504" y="33101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Dot 307"/>
          <p:cNvSpPr/>
          <p:nvPr/>
        </p:nvSpPr>
        <p:spPr>
          <a:xfrm>
            <a:off x="758952" y="33101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t 308"/>
          <p:cNvSpPr/>
          <p:nvPr/>
        </p:nvSpPr>
        <p:spPr>
          <a:xfrm>
            <a:off x="914400" y="33101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ode 309"/>
          <p:cNvSpPr txBox="1"/>
          <p:nvPr/>
        </p:nvSpPr>
        <p:spPr>
          <a:xfrm>
            <a:off x="621792" y="3529584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install -r requirements.txt</a:t>
            </a:r>
            <a:endParaRPr lang="en-US" sz="1100" dirty="0"/>
          </a:p>
        </p:txBody>
      </p:sp>
      <p:sp>
        <p:nvSpPr>
          <p:cNvPr id="16" name="Text 310"/>
          <p:cNvSpPr txBox="1"/>
          <p:nvPr/>
        </p:nvSpPr>
        <p:spPr>
          <a:xfrm>
            <a:off x="45720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-r = read the package list from this file</a:t>
            </a:r>
            <a:endParaRPr lang="en-US" sz="1400" dirty="0"/>
          </a:p>
        </p:txBody>
      </p:sp>
      <p:sp>
        <p:nvSpPr>
          <p:cNvPr id="17" name="Text 311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venv: a private package box</a:t>
            </a:r>
            <a:endParaRPr lang="en-US" sz="1600" dirty="0"/>
          </a:p>
        </p:txBody>
      </p:sp>
      <p:sp>
        <p:nvSpPr>
          <p:cNvPr id="18" name="Text 312"/>
          <p:cNvSpPr txBox="1"/>
          <p:nvPr/>
        </p:nvSpPr>
        <p:spPr>
          <a:xfrm>
            <a:off x="475488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project gets its own packages, so versions never clash between projects.</a:t>
            </a:r>
            <a:endParaRPr lang="en-US" sz="1400" dirty="0"/>
          </a:p>
        </p:txBody>
      </p:sp>
      <p:sp>
        <p:nvSpPr>
          <p:cNvPr id="19" name="Terminal 313"/>
          <p:cNvSpPr/>
          <p:nvPr/>
        </p:nvSpPr>
        <p:spPr>
          <a:xfrm>
            <a:off x="4754880" y="219456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ot 314"/>
          <p:cNvSpPr/>
          <p:nvPr/>
        </p:nvSpPr>
        <p:spPr>
          <a:xfrm>
            <a:off x="4901184" y="230428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Dot 315"/>
          <p:cNvSpPr/>
          <p:nvPr/>
        </p:nvSpPr>
        <p:spPr>
          <a:xfrm>
            <a:off x="5056632" y="230428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Dot 316"/>
          <p:cNvSpPr/>
          <p:nvPr/>
        </p:nvSpPr>
        <p:spPr>
          <a:xfrm>
            <a:off x="5212080" y="230428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317"/>
          <p:cNvSpPr txBox="1"/>
          <p:nvPr/>
        </p:nvSpPr>
        <p:spPr>
          <a:xfrm>
            <a:off x="5440680" y="22585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environment</a:t>
            </a:r>
            <a:endParaRPr lang="en-US" sz="1000" dirty="0"/>
          </a:p>
        </p:txBody>
      </p:sp>
      <p:sp>
        <p:nvSpPr>
          <p:cNvPr id="24" name="Code 318"/>
          <p:cNvSpPr txBox="1"/>
          <p:nvPr/>
        </p:nvSpPr>
        <p:spPr>
          <a:xfrm>
            <a:off x="4919472" y="2523744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.venv\Scripts\Activate.ps1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pip install -r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deactivate</a:t>
            </a:r>
            <a:endParaRPr lang="en-US" sz="1100" dirty="0"/>
          </a:p>
        </p:txBody>
      </p:sp>
      <p:sp>
        <p:nvSpPr>
          <p:cNvPr id="25" name="Text 319"/>
          <p:cNvSpPr txBox="1"/>
          <p:nvPr/>
        </p:nvSpPr>
        <p:spPr>
          <a:xfrm>
            <a:off x="4754880" y="3913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Blocked? Run once: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Set-ExecutionPolicy -Scope CurrentUser RemoteSigned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Git &amp; GitHub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Track versions, share code, and download projects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Parts 10–12 · Git · GitHub · Cloning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Git: A Time Machine for Code</a:t>
            </a:r>
            <a:endParaRPr lang="en-US" sz="3200" dirty="0"/>
          </a:p>
        </p:txBody>
      </p:sp>
      <p:sp>
        <p:nvSpPr>
          <p:cNvPr id="3" name="Text 320"/>
          <p:cNvSpPr txBox="1"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 is a version control system. It records snapshots of a project folder so you can see what changed, go back in time, and collaborate safely.</a:t>
            </a:r>
            <a:endParaRPr lang="en-US" sz="1500" dirty="0"/>
          </a:p>
        </p:txBody>
      </p:sp>
      <p:sp>
        <p:nvSpPr>
          <p:cNvPr id="4" name="Card 321"/>
          <p:cNvSpPr/>
          <p:nvPr/>
        </p:nvSpPr>
        <p:spPr>
          <a:xfrm>
            <a:off x="45720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22"/>
          <p:cNvSpPr txBox="1"/>
          <p:nvPr/>
        </p:nvSpPr>
        <p:spPr>
          <a:xfrm>
            <a:off x="621792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6" name="Text 323"/>
          <p:cNvSpPr txBox="1"/>
          <p:nvPr/>
        </p:nvSpPr>
        <p:spPr>
          <a:xfrm>
            <a:off x="621792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folder Git tracks. History lives in a hidden .git folder.</a:t>
            </a:r>
            <a:endParaRPr lang="en-US" sz="1400" dirty="0"/>
          </a:p>
        </p:txBody>
      </p:sp>
      <p:sp>
        <p:nvSpPr>
          <p:cNvPr id="7" name="Card 324"/>
          <p:cNvSpPr/>
          <p:nvPr/>
        </p:nvSpPr>
        <p:spPr>
          <a:xfrm>
            <a:off x="3264408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25"/>
          <p:cNvSpPr txBox="1"/>
          <p:nvPr/>
        </p:nvSpPr>
        <p:spPr>
          <a:xfrm>
            <a:off x="342900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Commit</a:t>
            </a:r>
            <a:endParaRPr lang="en-US" sz="1600" dirty="0"/>
          </a:p>
        </p:txBody>
      </p:sp>
      <p:sp>
        <p:nvSpPr>
          <p:cNvPr id="9" name="Text 326"/>
          <p:cNvSpPr txBox="1"/>
          <p:nvPr/>
        </p:nvSpPr>
        <p:spPr>
          <a:xfrm>
            <a:off x="3429000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saved snapshot plus a message describing it.</a:t>
            </a:r>
            <a:endParaRPr lang="en-US" sz="1400" dirty="0"/>
          </a:p>
        </p:txBody>
      </p:sp>
      <p:sp>
        <p:nvSpPr>
          <p:cNvPr id="10" name="Card 327"/>
          <p:cNvSpPr/>
          <p:nvPr/>
        </p:nvSpPr>
        <p:spPr>
          <a:xfrm>
            <a:off x="6071616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328"/>
          <p:cNvSpPr txBox="1"/>
          <p:nvPr/>
        </p:nvSpPr>
        <p:spPr>
          <a:xfrm>
            <a:off x="6236208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Staging</a:t>
            </a:r>
            <a:endParaRPr lang="en-US" sz="1600" dirty="0"/>
          </a:p>
        </p:txBody>
      </p:sp>
      <p:sp>
        <p:nvSpPr>
          <p:cNvPr id="12" name="Text 329"/>
          <p:cNvSpPr txBox="1"/>
          <p:nvPr/>
        </p:nvSpPr>
        <p:spPr>
          <a:xfrm>
            <a:off x="6236208" y="2286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Choosing which changes go into the next commit.</a:t>
            </a:r>
            <a:endParaRPr lang="en-US" sz="1400" dirty="0"/>
          </a:p>
        </p:txBody>
      </p:sp>
      <p:sp>
        <p:nvSpPr>
          <p:cNvPr id="13" name="Card 330"/>
          <p:cNvSpPr/>
          <p:nvPr/>
        </p:nvSpPr>
        <p:spPr>
          <a:xfrm>
            <a:off x="457200" y="32004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331"/>
          <p:cNvSpPr txBox="1"/>
          <p:nvPr/>
        </p:nvSpPr>
        <p:spPr>
          <a:xfrm>
            <a:off x="621792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Branch</a:t>
            </a:r>
            <a:endParaRPr lang="en-US" sz="1600" dirty="0"/>
          </a:p>
        </p:txBody>
      </p:sp>
      <p:sp>
        <p:nvSpPr>
          <p:cNvPr id="15" name="Text 332"/>
          <p:cNvSpPr txBox="1"/>
          <p:nvPr/>
        </p:nvSpPr>
        <p:spPr>
          <a:xfrm>
            <a:off x="621792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separate line of work.</a:t>
            </a:r>
            <a:endParaRPr lang="en-US" sz="1400" dirty="0"/>
          </a:p>
        </p:txBody>
      </p:sp>
      <p:sp>
        <p:nvSpPr>
          <p:cNvPr id="16" name="Card 333"/>
          <p:cNvSpPr/>
          <p:nvPr/>
        </p:nvSpPr>
        <p:spPr>
          <a:xfrm>
            <a:off x="3264408" y="32004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334"/>
          <p:cNvSpPr txBox="1"/>
          <p:nvPr/>
        </p:nvSpPr>
        <p:spPr>
          <a:xfrm>
            <a:off x="34290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Clone</a:t>
            </a:r>
            <a:endParaRPr lang="en-US" sz="1600" dirty="0"/>
          </a:p>
        </p:txBody>
      </p:sp>
      <p:sp>
        <p:nvSpPr>
          <p:cNvPr id="18" name="Text 335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full copy of an existing repo, with all its history.</a:t>
            </a:r>
            <a:endParaRPr lang="en-US" sz="1400" dirty="0"/>
          </a:p>
        </p:txBody>
      </p:sp>
      <p:sp>
        <p:nvSpPr>
          <p:cNvPr id="19" name="Card 336"/>
          <p:cNvSpPr/>
          <p:nvPr/>
        </p:nvSpPr>
        <p:spPr>
          <a:xfrm>
            <a:off x="6071616" y="320040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337"/>
          <p:cNvSpPr txBox="1"/>
          <p:nvPr/>
        </p:nvSpPr>
        <p:spPr>
          <a:xfrm>
            <a:off x="6236208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Remote</a:t>
            </a:r>
            <a:endParaRPr lang="en-US" sz="1600" dirty="0"/>
          </a:p>
        </p:txBody>
      </p:sp>
      <p:sp>
        <p:nvSpPr>
          <p:cNvPr id="21" name="Text 338"/>
          <p:cNvSpPr txBox="1"/>
          <p:nvPr/>
        </p:nvSpPr>
        <p:spPr>
          <a:xfrm>
            <a:off x="6236208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online copy, usually named origin.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Git Workflow</a:t>
            </a:r>
            <a:endParaRPr lang="en-US" sz="3200" dirty="0"/>
          </a:p>
        </p:txBody>
      </p:sp>
      <p:sp>
        <p:nvSpPr>
          <p:cNvPr id="3" name="Card 339"/>
          <p:cNvSpPr/>
          <p:nvPr/>
        </p:nvSpPr>
        <p:spPr>
          <a:xfrm>
            <a:off x="457200" y="11430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340"/>
          <p:cNvSpPr txBox="1"/>
          <p:nvPr/>
        </p:nvSpPr>
        <p:spPr>
          <a:xfrm>
            <a:off x="457200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Edit files</a:t>
            </a:r>
            <a:endParaRPr lang="en-US" sz="1500" dirty="0"/>
          </a:p>
        </p:txBody>
      </p:sp>
      <p:sp>
        <p:nvSpPr>
          <p:cNvPr id="5" name="Text 341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working folder</a:t>
            </a:r>
            <a:endParaRPr lang="en-US" sz="1200" dirty="0"/>
          </a:p>
        </p:txBody>
      </p:sp>
      <p:sp>
        <p:nvSpPr>
          <p:cNvPr id="6" name="Arrow 342"/>
          <p:cNvSpPr/>
          <p:nvPr/>
        </p:nvSpPr>
        <p:spPr>
          <a:xfrm>
            <a:off x="2240280" y="146304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Card 343"/>
          <p:cNvSpPr/>
          <p:nvPr/>
        </p:nvSpPr>
        <p:spPr>
          <a:xfrm>
            <a:off x="2624328" y="11430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344"/>
          <p:cNvSpPr txBox="1"/>
          <p:nvPr/>
        </p:nvSpPr>
        <p:spPr>
          <a:xfrm>
            <a:off x="2624328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500" dirty="0"/>
          </a:p>
        </p:txBody>
      </p:sp>
      <p:sp>
        <p:nvSpPr>
          <p:cNvPr id="9" name="Text 345"/>
          <p:cNvSpPr txBox="1"/>
          <p:nvPr/>
        </p:nvSpPr>
        <p:spPr>
          <a:xfrm>
            <a:off x="2624328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staging</a:t>
            </a:r>
            <a:endParaRPr lang="en-US" sz="1200" dirty="0"/>
          </a:p>
        </p:txBody>
      </p:sp>
      <p:sp>
        <p:nvSpPr>
          <p:cNvPr id="10" name="Arrow 346"/>
          <p:cNvSpPr/>
          <p:nvPr/>
        </p:nvSpPr>
        <p:spPr>
          <a:xfrm>
            <a:off x="4407408" y="146304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Card 347"/>
          <p:cNvSpPr/>
          <p:nvPr/>
        </p:nvSpPr>
        <p:spPr>
          <a:xfrm>
            <a:off x="4791456" y="11430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348"/>
          <p:cNvSpPr txBox="1"/>
          <p:nvPr/>
        </p:nvSpPr>
        <p:spPr>
          <a:xfrm>
            <a:off x="4791456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500" dirty="0"/>
          </a:p>
        </p:txBody>
      </p:sp>
      <p:sp>
        <p:nvSpPr>
          <p:cNvPr id="13" name="Text 349"/>
          <p:cNvSpPr txBox="1"/>
          <p:nvPr/>
        </p:nvSpPr>
        <p:spPr>
          <a:xfrm>
            <a:off x="4791456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history</a:t>
            </a:r>
            <a:endParaRPr lang="en-US" sz="1200" dirty="0"/>
          </a:p>
        </p:txBody>
      </p:sp>
      <p:sp>
        <p:nvSpPr>
          <p:cNvPr id="14" name="Arrow 350"/>
          <p:cNvSpPr/>
          <p:nvPr/>
        </p:nvSpPr>
        <p:spPr>
          <a:xfrm>
            <a:off x="6574536" y="1463040"/>
            <a:ext cx="33832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ard 351"/>
          <p:cNvSpPr/>
          <p:nvPr/>
        </p:nvSpPr>
        <p:spPr>
          <a:xfrm>
            <a:off x="6958584" y="1143000"/>
            <a:ext cx="173736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352"/>
          <p:cNvSpPr txBox="1"/>
          <p:nvPr/>
        </p:nvSpPr>
        <p:spPr>
          <a:xfrm>
            <a:off x="6958584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500" dirty="0"/>
          </a:p>
        </p:txBody>
      </p:sp>
      <p:sp>
        <p:nvSpPr>
          <p:cNvPr id="17" name="Text 353"/>
          <p:cNvSpPr txBox="1"/>
          <p:nvPr/>
        </p:nvSpPr>
        <p:spPr>
          <a:xfrm>
            <a:off x="6958584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 GitHub</a:t>
            </a:r>
            <a:endParaRPr lang="en-US" sz="1200" dirty="0"/>
          </a:p>
        </p:txBody>
      </p:sp>
      <p:sp>
        <p:nvSpPr>
          <p:cNvPr id="18" name="Terminal 354"/>
          <p:cNvSpPr/>
          <p:nvPr/>
        </p:nvSpPr>
        <p:spPr>
          <a:xfrm>
            <a:off x="457200" y="2331720"/>
            <a:ext cx="393192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Dot 355"/>
          <p:cNvSpPr/>
          <p:nvPr/>
        </p:nvSpPr>
        <p:spPr>
          <a:xfrm>
            <a:off x="603504" y="24414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Dot 356"/>
          <p:cNvSpPr/>
          <p:nvPr/>
        </p:nvSpPr>
        <p:spPr>
          <a:xfrm>
            <a:off x="758952" y="24414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ot 357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358"/>
          <p:cNvSpPr txBox="1"/>
          <p:nvPr/>
        </p:nvSpPr>
        <p:spPr>
          <a:xfrm>
            <a:off x="1143000" y="23957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23" name="Code 359"/>
          <p:cNvSpPr txBox="1"/>
          <p:nvPr/>
        </p:nvSpPr>
        <p:spPr>
          <a:xfrm>
            <a:off x="621792" y="2660904"/>
            <a:ext cx="36576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config --global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user.name "Your Name"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config --global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user.email "you@x.com"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--global = all your repos</a:t>
            </a:r>
            <a:endParaRPr lang="en-US" sz="1100" dirty="0"/>
          </a:p>
        </p:txBody>
      </p:sp>
      <p:sp>
        <p:nvSpPr>
          <p:cNvPr id="24" name="Terminal 360"/>
          <p:cNvSpPr/>
          <p:nvPr/>
        </p:nvSpPr>
        <p:spPr>
          <a:xfrm>
            <a:off x="4754880" y="2331720"/>
            <a:ext cx="393192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Dot 361"/>
          <p:cNvSpPr/>
          <p:nvPr/>
        </p:nvSpPr>
        <p:spPr>
          <a:xfrm>
            <a:off x="4901184" y="24414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Dot 362"/>
          <p:cNvSpPr/>
          <p:nvPr/>
        </p:nvSpPr>
        <p:spPr>
          <a:xfrm>
            <a:off x="5056632" y="24414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Dot 363"/>
          <p:cNvSpPr/>
          <p:nvPr/>
        </p:nvSpPr>
        <p:spPr>
          <a:xfrm>
            <a:off x="5212080" y="244144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364"/>
          <p:cNvSpPr txBox="1"/>
          <p:nvPr/>
        </p:nvSpPr>
        <p:spPr>
          <a:xfrm>
            <a:off x="5440680" y="23957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1000" dirty="0"/>
          </a:p>
        </p:txBody>
      </p:sp>
      <p:sp>
        <p:nvSpPr>
          <p:cNvPr id="29" name="Code 365"/>
          <p:cNvSpPr txBox="1"/>
          <p:nvPr/>
        </p:nvSpPr>
        <p:spPr>
          <a:xfrm>
            <a:off x="4919472" y="2660904"/>
            <a:ext cx="36576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add hello.py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commit -m "Add hello"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diff        # changes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log --oneline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 vs GitHub</a:t>
            </a:r>
            <a:endParaRPr lang="en-US" sz="3200" dirty="0"/>
          </a:p>
        </p:txBody>
      </p:sp>
      <p:sp>
        <p:nvSpPr>
          <p:cNvPr id="3" name="Card 366"/>
          <p:cNvSpPr/>
          <p:nvPr/>
        </p:nvSpPr>
        <p:spPr>
          <a:xfrm>
            <a:off x="457200" y="11430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367"/>
          <p:cNvSpPr txBox="1"/>
          <p:nvPr/>
        </p:nvSpPr>
        <p:spPr>
          <a:xfrm>
            <a:off x="640080" y="1252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5" name="Text 368"/>
          <p:cNvSpPr txBox="1"/>
          <p:nvPr/>
        </p:nvSpPr>
        <p:spPr>
          <a:xfrm>
            <a:off x="640080" y="16642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program on your computer that records versions.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Like your camera's photo history.</a:t>
            </a:r>
            <a:endParaRPr lang="en-US" sz="1400" dirty="0"/>
          </a:p>
        </p:txBody>
      </p:sp>
      <p:sp>
        <p:nvSpPr>
          <p:cNvPr id="6" name="Card 369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70"/>
          <p:cNvSpPr txBox="1"/>
          <p:nvPr/>
        </p:nvSpPr>
        <p:spPr>
          <a:xfrm>
            <a:off x="64008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8" name="Text 371"/>
          <p:cNvSpPr txBox="1"/>
          <p:nvPr/>
        </p:nvSpPr>
        <p:spPr>
          <a:xfrm>
            <a:off x="640080" y="326440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website that hosts Git repos so people can share and collaborate. No account needed to download.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Like a photo-sharing site.</a:t>
            </a:r>
            <a:endParaRPr lang="en-US" sz="1400" dirty="0"/>
          </a:p>
        </p:txBody>
      </p:sp>
      <p:sp>
        <p:nvSpPr>
          <p:cNvPr id="9" name="Text 372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Reading a repo page</a:t>
            </a:r>
            <a:endParaRPr lang="en-US" sz="1600" dirty="0"/>
          </a:p>
        </p:txBody>
      </p:sp>
      <p:sp>
        <p:nvSpPr>
          <p:cNvPr id="10" name="Badge 373"/>
          <p:cNvSpPr/>
          <p:nvPr/>
        </p:nvSpPr>
        <p:spPr>
          <a:xfrm>
            <a:off x="4754880" y="160934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374"/>
          <p:cNvSpPr txBox="1"/>
          <p:nvPr/>
        </p:nvSpPr>
        <p:spPr>
          <a:xfrm>
            <a:off x="475488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375"/>
          <p:cNvSpPr txBox="1"/>
          <p:nvPr/>
        </p:nvSpPr>
        <p:spPr>
          <a:xfrm>
            <a:off x="5212080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Owner / name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who made it</a:t>
            </a:r>
            <a:endParaRPr lang="en-US" sz="1400" dirty="0"/>
          </a:p>
        </p:txBody>
      </p:sp>
      <p:sp>
        <p:nvSpPr>
          <p:cNvPr id="13" name="Badge 376"/>
          <p:cNvSpPr/>
          <p:nvPr/>
        </p:nvSpPr>
        <p:spPr>
          <a:xfrm>
            <a:off x="4754880" y="209397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377"/>
          <p:cNvSpPr txBox="1"/>
          <p:nvPr/>
        </p:nvSpPr>
        <p:spPr>
          <a:xfrm>
            <a:off x="47548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378"/>
          <p:cNvSpPr txBox="1"/>
          <p:nvPr/>
        </p:nvSpPr>
        <p:spPr>
          <a:xfrm>
            <a:off x="5212080" y="20574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File list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the project's files</a:t>
            </a:r>
            <a:endParaRPr lang="en-US" sz="1400" dirty="0"/>
          </a:p>
        </p:txBody>
      </p:sp>
      <p:sp>
        <p:nvSpPr>
          <p:cNvPr id="16" name="Badge 379"/>
          <p:cNvSpPr/>
          <p:nvPr/>
        </p:nvSpPr>
        <p:spPr>
          <a:xfrm>
            <a:off x="4754880" y="257860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380"/>
          <p:cNvSpPr txBox="1"/>
          <p:nvPr/>
        </p:nvSpPr>
        <p:spPr>
          <a:xfrm>
            <a:off x="475488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381"/>
          <p:cNvSpPr txBox="1"/>
          <p:nvPr/>
        </p:nvSpPr>
        <p:spPr>
          <a:xfrm>
            <a:off x="5212080" y="2542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README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instructions; read it first</a:t>
            </a:r>
            <a:endParaRPr lang="en-US" sz="1400" dirty="0"/>
          </a:p>
        </p:txBody>
      </p:sp>
      <p:sp>
        <p:nvSpPr>
          <p:cNvPr id="19" name="Badge 382"/>
          <p:cNvSpPr/>
          <p:nvPr/>
        </p:nvSpPr>
        <p:spPr>
          <a:xfrm>
            <a:off x="4754880" y="30632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383"/>
          <p:cNvSpPr txBox="1"/>
          <p:nvPr/>
        </p:nvSpPr>
        <p:spPr>
          <a:xfrm>
            <a:off x="475488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384"/>
          <p:cNvSpPr txBox="1"/>
          <p:nvPr/>
        </p:nvSpPr>
        <p:spPr>
          <a:xfrm>
            <a:off x="5212080" y="30266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Green Code button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download</a:t>
            </a:r>
            <a:endParaRPr lang="en-US" sz="1400" dirty="0"/>
          </a:p>
        </p:txBody>
      </p:sp>
      <p:sp>
        <p:nvSpPr>
          <p:cNvPr id="22" name="Badge 385"/>
          <p:cNvSpPr/>
          <p:nvPr/>
        </p:nvSpPr>
        <p:spPr>
          <a:xfrm>
            <a:off x="4754880" y="35478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386"/>
          <p:cNvSpPr txBox="1"/>
          <p:nvPr/>
        </p:nvSpPr>
        <p:spPr>
          <a:xfrm>
            <a:off x="475488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387"/>
          <p:cNvSpPr txBox="1"/>
          <p:nvPr/>
        </p:nvSpPr>
        <p:spPr>
          <a:xfrm>
            <a:off x="5212080" y="3511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Issues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bug reports; check when stuck</a:t>
            </a:r>
            <a:endParaRPr lang="en-US" sz="1400" dirty="0"/>
          </a:p>
        </p:txBody>
      </p:sp>
      <p:sp>
        <p:nvSpPr>
          <p:cNvPr id="25" name="Badge 388"/>
          <p:cNvSpPr/>
          <p:nvPr/>
        </p:nvSpPr>
        <p:spPr>
          <a:xfrm>
            <a:off x="4754880" y="403250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389"/>
          <p:cNvSpPr txBox="1"/>
          <p:nvPr/>
        </p:nvSpPr>
        <p:spPr>
          <a:xfrm>
            <a:off x="47548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390"/>
          <p:cNvSpPr txBox="1"/>
          <p:nvPr/>
        </p:nvSpPr>
        <p:spPr>
          <a:xfrm>
            <a:off x="5212080" y="3995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Commits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the project's history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Getting the Code: ZIP or Clone</a:t>
            </a:r>
            <a:endParaRPr lang="en-US" sz="3200" dirty="0"/>
          </a:p>
        </p:txBody>
      </p:sp>
      <p:sp>
        <p:nvSpPr>
          <p:cNvPr id="3" name="Card 391"/>
          <p:cNvSpPr/>
          <p:nvPr/>
        </p:nvSpPr>
        <p:spPr>
          <a:xfrm>
            <a:off x="457200" y="11430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392"/>
          <p:cNvSpPr txBox="1"/>
          <p:nvPr/>
        </p:nvSpPr>
        <p:spPr>
          <a:xfrm>
            <a:off x="640080" y="1252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ZIP</a:t>
            </a:r>
            <a:endParaRPr lang="en-US" sz="1800" dirty="0"/>
          </a:p>
        </p:txBody>
      </p:sp>
      <p:sp>
        <p:nvSpPr>
          <p:cNvPr id="5" name="Text 393"/>
          <p:cNvSpPr txBox="1"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Green Code button → Download ZIP → extract</a:t>
            </a:r>
            <a:endParaRPr lang="en-US" sz="1400" dirty="0"/>
          </a:p>
        </p:txBody>
      </p:sp>
      <p:sp>
        <p:nvSpPr>
          <p:cNvPr id="6" name="Text 394"/>
          <p:cNvSpPr txBox="1"/>
          <p:nvPr/>
        </p:nvSpPr>
        <p:spPr>
          <a:xfrm>
            <a:off x="64008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Quick, no Git needed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✗  No history, no easy updates</a:t>
            </a:r>
            <a:endParaRPr lang="en-US" sz="1400" dirty="0"/>
          </a:p>
        </p:txBody>
      </p:sp>
      <p:sp>
        <p:nvSpPr>
          <p:cNvPr id="7" name="Card 395"/>
          <p:cNvSpPr/>
          <p:nvPr/>
        </p:nvSpPr>
        <p:spPr>
          <a:xfrm>
            <a:off x="4754880" y="1143000"/>
            <a:ext cx="39319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396"/>
          <p:cNvSpPr txBox="1"/>
          <p:nvPr/>
        </p:nvSpPr>
        <p:spPr>
          <a:xfrm>
            <a:off x="4937760" y="1252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clone</a:t>
            </a:r>
            <a:endParaRPr lang="en-US" sz="1800" dirty="0"/>
          </a:p>
        </p:txBody>
      </p:sp>
      <p:sp>
        <p:nvSpPr>
          <p:cNvPr id="9" name="Text 397"/>
          <p:cNvSpPr txBox="1"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 clone &lt;url&gt; from a terminal</a:t>
            </a:r>
            <a:endParaRPr lang="en-US" sz="1400" dirty="0"/>
          </a:p>
        </p:txBody>
      </p:sp>
      <p:sp>
        <p:nvSpPr>
          <p:cNvPr id="10" name="Text 398"/>
          <p:cNvSpPr txBox="1"/>
          <p:nvPr/>
        </p:nvSpPr>
        <p:spPr>
          <a:xfrm>
            <a:off x="493776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Full history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  Update later with git pull</a:t>
            </a:r>
            <a:endParaRPr lang="en-US" sz="1400" dirty="0"/>
          </a:p>
        </p:txBody>
      </p:sp>
      <p:sp>
        <p:nvSpPr>
          <p:cNvPr id="11" name="Terminal 399"/>
          <p:cNvSpPr/>
          <p:nvPr/>
        </p:nvSpPr>
        <p:spPr>
          <a:xfrm>
            <a:off x="457200" y="3154680"/>
            <a:ext cx="822960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t 400"/>
          <p:cNvSpPr/>
          <p:nvPr/>
        </p:nvSpPr>
        <p:spPr>
          <a:xfrm>
            <a:off x="603504" y="32644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Dot 401"/>
          <p:cNvSpPr/>
          <p:nvPr/>
        </p:nvSpPr>
        <p:spPr>
          <a:xfrm>
            <a:off x="758952" y="32644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ot 402"/>
          <p:cNvSpPr/>
          <p:nvPr/>
        </p:nvSpPr>
        <p:spPr>
          <a:xfrm>
            <a:off x="914400" y="32644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403"/>
          <p:cNvSpPr txBox="1"/>
          <p:nvPr/>
        </p:nvSpPr>
        <p:spPr>
          <a:xfrm>
            <a:off x="1143000" y="321868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</a:t>
            </a:r>
            <a:endParaRPr lang="en-US" sz="1000" dirty="0"/>
          </a:p>
        </p:txBody>
      </p:sp>
      <p:sp>
        <p:nvSpPr>
          <p:cNvPr id="16" name="Code 404"/>
          <p:cNvSpPr txBox="1"/>
          <p:nvPr/>
        </p:nvSpPr>
        <p:spPr>
          <a:xfrm>
            <a:off x="621792" y="3483864"/>
            <a:ext cx="7955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cd ~\Downloads\signal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clone https://github.com/mossblaser/signal_for_android_decryption.git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creates the folder signal_for_android_decryption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pull   # later: download any new commits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After Cloning: The Routine</a:t>
            </a:r>
            <a:endParaRPr lang="en-US" sz="3200" dirty="0"/>
          </a:p>
        </p:txBody>
      </p:sp>
      <p:sp>
        <p:nvSpPr>
          <p:cNvPr id="3" name="Badge 405"/>
          <p:cNvSpPr/>
          <p:nvPr/>
        </p:nvSpPr>
        <p:spPr>
          <a:xfrm>
            <a:off x="457200" y="11704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406"/>
          <p:cNvSpPr txBox="1"/>
          <p:nvPr/>
        </p:nvSpPr>
        <p:spPr>
          <a:xfrm>
            <a:off x="45720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407"/>
          <p:cNvSpPr txBox="1"/>
          <p:nvPr/>
        </p:nvSpPr>
        <p:spPr>
          <a:xfrm>
            <a:off x="96012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into the folder</a:t>
            </a:r>
            <a:endParaRPr lang="en-US" sz="1500" dirty="0"/>
          </a:p>
        </p:txBody>
      </p:sp>
      <p:sp>
        <p:nvSpPr>
          <p:cNvPr id="6" name="Text 408"/>
          <p:cNvSpPr txBox="1"/>
          <p:nvPr/>
        </p:nvSpPr>
        <p:spPr>
          <a:xfrm>
            <a:off x="960120" y="1490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signal_for_android_decryption</a:t>
            </a:r>
            <a:endParaRPr lang="en-US" sz="1200" dirty="0"/>
          </a:p>
        </p:txBody>
      </p:sp>
      <p:sp>
        <p:nvSpPr>
          <p:cNvPr id="7" name="Badge 409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10"/>
          <p:cNvSpPr txBox="1"/>
          <p:nvPr/>
        </p:nvSpPr>
        <p:spPr>
          <a:xfrm>
            <a:off x="4572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411"/>
          <p:cNvSpPr txBox="1"/>
          <p:nvPr/>
        </p:nvSpPr>
        <p:spPr>
          <a:xfrm>
            <a:off x="96012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Look around</a:t>
            </a:r>
            <a:endParaRPr lang="en-US" sz="1500" dirty="0"/>
          </a:p>
        </p:txBody>
      </p:sp>
      <p:sp>
        <p:nvSpPr>
          <p:cNvPr id="10" name="Text 412"/>
          <p:cNvSpPr txBox="1"/>
          <p:nvPr/>
        </p:nvSpPr>
        <p:spPr>
          <a:xfrm>
            <a:off x="960120" y="2313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200" dirty="0"/>
          </a:p>
        </p:txBody>
      </p:sp>
      <p:sp>
        <p:nvSpPr>
          <p:cNvPr id="11" name="Badge 413"/>
          <p:cNvSpPr/>
          <p:nvPr/>
        </p:nvSpPr>
        <p:spPr>
          <a:xfrm>
            <a:off x="457200" y="28163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414"/>
          <p:cNvSpPr txBox="1"/>
          <p:nvPr/>
        </p:nvSpPr>
        <p:spPr>
          <a:xfrm>
            <a:off x="4572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415"/>
          <p:cNvSpPr txBox="1"/>
          <p:nvPr/>
        </p:nvSpPr>
        <p:spPr>
          <a:xfrm>
            <a:off x="960120" y="2788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the README</a:t>
            </a:r>
            <a:endParaRPr lang="en-US" sz="1500" dirty="0"/>
          </a:p>
        </p:txBody>
      </p:sp>
      <p:sp>
        <p:nvSpPr>
          <p:cNvPr id="14" name="Text 416"/>
          <p:cNvSpPr txBox="1"/>
          <p:nvPr/>
        </p:nvSpPr>
        <p:spPr>
          <a:xfrm>
            <a:off x="960120" y="3136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notepad README.md</a:t>
            </a:r>
            <a:endParaRPr lang="en-US" sz="1200" dirty="0"/>
          </a:p>
        </p:txBody>
      </p:sp>
      <p:sp>
        <p:nvSpPr>
          <p:cNvPr id="15" name="Badge 417"/>
          <p:cNvSpPr/>
          <p:nvPr/>
        </p:nvSpPr>
        <p:spPr>
          <a:xfrm>
            <a:off x="457200" y="363931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418"/>
          <p:cNvSpPr txBox="1"/>
          <p:nvPr/>
        </p:nvSpPr>
        <p:spPr>
          <a:xfrm>
            <a:off x="45720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419"/>
          <p:cNvSpPr txBox="1"/>
          <p:nvPr/>
        </p:nvSpPr>
        <p:spPr>
          <a:xfrm>
            <a:off x="960120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the Python version</a:t>
            </a:r>
            <a:endParaRPr lang="en-US" sz="1500" dirty="0"/>
          </a:p>
        </p:txBody>
      </p:sp>
      <p:sp>
        <p:nvSpPr>
          <p:cNvPr id="18" name="Text 420"/>
          <p:cNvSpPr txBox="1"/>
          <p:nvPr/>
        </p:nvSpPr>
        <p:spPr>
          <a:xfrm>
            <a:off x="960120" y="3959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   (needs 3.7+)</a:t>
            </a:r>
            <a:endParaRPr lang="en-US" sz="1200" dirty="0"/>
          </a:p>
        </p:txBody>
      </p:sp>
      <p:sp>
        <p:nvSpPr>
          <p:cNvPr id="19" name="Badge 421"/>
          <p:cNvSpPr/>
          <p:nvPr/>
        </p:nvSpPr>
        <p:spPr>
          <a:xfrm>
            <a:off x="4754880" y="11704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422"/>
          <p:cNvSpPr txBox="1"/>
          <p:nvPr/>
        </p:nvSpPr>
        <p:spPr>
          <a:xfrm>
            <a:off x="475488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423"/>
          <p:cNvSpPr txBox="1"/>
          <p:nvPr/>
        </p:nvSpPr>
        <p:spPr>
          <a:xfrm>
            <a:off x="5257800" y="11430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&amp; activate a venv</a:t>
            </a:r>
            <a:endParaRPr lang="en-US" sz="1500" dirty="0"/>
          </a:p>
        </p:txBody>
      </p:sp>
      <p:sp>
        <p:nvSpPr>
          <p:cNvPr id="22" name="Text 424"/>
          <p:cNvSpPr txBox="1"/>
          <p:nvPr/>
        </p:nvSpPr>
        <p:spPr>
          <a:xfrm>
            <a:off x="5257800" y="149047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.venv\Scripts\Activate.ps1</a:t>
            </a:r>
            <a:endParaRPr lang="en-US" sz="1200" dirty="0"/>
          </a:p>
        </p:txBody>
      </p:sp>
      <p:sp>
        <p:nvSpPr>
          <p:cNvPr id="23" name="Badge 425"/>
          <p:cNvSpPr/>
          <p:nvPr/>
        </p:nvSpPr>
        <p:spPr>
          <a:xfrm>
            <a:off x="4754880" y="222199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426"/>
          <p:cNvSpPr txBox="1"/>
          <p:nvPr/>
        </p:nvSpPr>
        <p:spPr>
          <a:xfrm>
            <a:off x="475488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427"/>
          <p:cNvSpPr txBox="1"/>
          <p:nvPr/>
        </p:nvSpPr>
        <p:spPr>
          <a:xfrm>
            <a:off x="5257800" y="2194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Install dependencies</a:t>
            </a:r>
            <a:endParaRPr lang="en-US" sz="1500" dirty="0"/>
          </a:p>
        </p:txBody>
      </p:sp>
      <p:sp>
        <p:nvSpPr>
          <p:cNvPr id="26" name="Text 428"/>
          <p:cNvSpPr txBox="1"/>
          <p:nvPr/>
        </p:nvSpPr>
        <p:spPr>
          <a:xfrm>
            <a:off x="5257800" y="25420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27" name="Badge 429"/>
          <p:cNvSpPr/>
          <p:nvPr/>
        </p:nvSpPr>
        <p:spPr>
          <a:xfrm>
            <a:off x="4754880" y="304495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430"/>
          <p:cNvSpPr txBox="1"/>
          <p:nvPr/>
        </p:nvSpPr>
        <p:spPr>
          <a:xfrm>
            <a:off x="475488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431"/>
          <p:cNvSpPr txBox="1"/>
          <p:nvPr/>
        </p:nvSpPr>
        <p:spPr>
          <a:xfrm>
            <a:off x="5257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the main script</a:t>
            </a:r>
            <a:endParaRPr lang="en-US" sz="1500" dirty="0"/>
          </a:p>
        </p:txBody>
      </p:sp>
      <p:sp>
        <p:nvSpPr>
          <p:cNvPr id="30" name="Text 432"/>
          <p:cNvSpPr txBox="1"/>
          <p:nvPr/>
        </p:nvSpPr>
        <p:spPr>
          <a:xfrm>
            <a:off x="5257800" y="33649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exactly as the README says</a:t>
            </a:r>
            <a:endParaRPr lang="en-US" sz="1200" dirty="0"/>
          </a:p>
        </p:txBody>
      </p:sp>
      <p:sp>
        <p:nvSpPr>
          <p:cNvPr id="31" name="Card 433"/>
          <p:cNvSpPr/>
          <p:nvPr/>
        </p:nvSpPr>
        <p:spPr>
          <a:xfrm>
            <a:off x="4754880" y="3840480"/>
            <a:ext cx="39319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434"/>
          <p:cNvSpPr txBox="1"/>
          <p:nvPr/>
        </p:nvSpPr>
        <p:spPr>
          <a:xfrm>
            <a:off x="4937760" y="3840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This routine works for almost any Python project on GitHub.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Final Task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Unlock your own Signal Android backup, using everything so far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Part 13 · Backup → copy → clone → install → run → explore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We're Doing</a:t>
            </a:r>
            <a:endParaRPr lang="en-US" sz="3200" dirty="0"/>
          </a:p>
        </p:txBody>
      </p:sp>
      <p:sp>
        <p:nvSpPr>
          <p:cNvPr id="3" name="Card 435"/>
          <p:cNvSpPr/>
          <p:nvPr/>
        </p:nvSpPr>
        <p:spPr>
          <a:xfrm>
            <a:off x="457200" y="114300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436"/>
          <p:cNvSpPr txBox="1"/>
          <p:nvPr/>
        </p:nvSpPr>
        <p:spPr>
          <a:xfrm>
            <a:off x="566928" y="12344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Signal app</a:t>
            </a:r>
            <a:endParaRPr lang="en-US" sz="1500" dirty="0"/>
          </a:p>
        </p:txBody>
      </p:sp>
      <p:sp>
        <p:nvSpPr>
          <p:cNvPr id="5" name="Text 437"/>
          <p:cNvSpPr txBox="1"/>
          <p:nvPr/>
        </p:nvSpPr>
        <p:spPr>
          <a:xfrm>
            <a:off x="566928" y="164592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Private messaging. On Android it can save everything to one file</a:t>
            </a:r>
            <a:endParaRPr lang="en-US" sz="1400" dirty="0"/>
          </a:p>
        </p:txBody>
      </p:sp>
      <p:sp>
        <p:nvSpPr>
          <p:cNvPr id="6" name="Arrow 438"/>
          <p:cNvSpPr/>
          <p:nvPr/>
        </p:nvSpPr>
        <p:spPr>
          <a:xfrm>
            <a:off x="2286000" y="1874520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Card 439"/>
          <p:cNvSpPr/>
          <p:nvPr/>
        </p:nvSpPr>
        <p:spPr>
          <a:xfrm>
            <a:off x="2587752" y="114300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40"/>
          <p:cNvSpPr txBox="1"/>
          <p:nvPr/>
        </p:nvSpPr>
        <p:spPr>
          <a:xfrm>
            <a:off x="2697480" y="12344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.backup</a:t>
            </a:r>
            <a:endParaRPr lang="en-US" sz="1100" dirty="0"/>
          </a:p>
        </p:txBody>
      </p:sp>
      <p:sp>
        <p:nvSpPr>
          <p:cNvPr id="9" name="Text 441"/>
          <p:cNvSpPr txBox="1"/>
          <p:nvPr/>
        </p:nvSpPr>
        <p:spPr>
          <a:xfrm>
            <a:off x="2697480" y="164592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Encrypted with a key from a 30-digit passphrase</a:t>
            </a:r>
            <a:endParaRPr lang="en-US" sz="1400" dirty="0"/>
          </a:p>
        </p:txBody>
      </p:sp>
      <p:sp>
        <p:nvSpPr>
          <p:cNvPr id="10" name="Arrow 442"/>
          <p:cNvSpPr/>
          <p:nvPr/>
        </p:nvSpPr>
        <p:spPr>
          <a:xfrm>
            <a:off x="4416552" y="1874520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Card 443"/>
          <p:cNvSpPr/>
          <p:nvPr/>
        </p:nvSpPr>
        <p:spPr>
          <a:xfrm>
            <a:off x="4718304" y="114300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444"/>
          <p:cNvSpPr txBox="1"/>
          <p:nvPr/>
        </p:nvSpPr>
        <p:spPr>
          <a:xfrm>
            <a:off x="4828032" y="12344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decrypt_backup.py</a:t>
            </a:r>
            <a:endParaRPr lang="en-US" sz="1100" dirty="0"/>
          </a:p>
        </p:txBody>
      </p:sp>
      <p:sp>
        <p:nvSpPr>
          <p:cNvPr id="13" name="Text 445"/>
          <p:cNvSpPr txBox="1"/>
          <p:nvPr/>
        </p:nvSpPr>
        <p:spPr>
          <a:xfrm>
            <a:off x="4828032" y="164592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Uses crypto packages + your passphrase</a:t>
            </a:r>
            <a:endParaRPr lang="en-US" sz="1400" dirty="0"/>
          </a:p>
        </p:txBody>
      </p:sp>
      <p:sp>
        <p:nvSpPr>
          <p:cNvPr id="14" name="Arrow 446"/>
          <p:cNvSpPr/>
          <p:nvPr/>
        </p:nvSpPr>
        <p:spPr>
          <a:xfrm>
            <a:off x="6547104" y="1874520"/>
            <a:ext cx="2560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ard 447"/>
          <p:cNvSpPr/>
          <p:nvPr/>
        </p:nvSpPr>
        <p:spPr>
          <a:xfrm>
            <a:off x="6848856" y="1143000"/>
            <a:ext cx="1783080" cy="146304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448"/>
          <p:cNvSpPr txBox="1"/>
          <p:nvPr/>
        </p:nvSpPr>
        <p:spPr>
          <a:xfrm>
            <a:off x="6958584" y="12344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unlocked\</a:t>
            </a:r>
            <a:endParaRPr lang="en-US" sz="1100" dirty="0"/>
          </a:p>
        </p:txBody>
      </p:sp>
      <p:sp>
        <p:nvSpPr>
          <p:cNvPr id="17" name="Text 449"/>
          <p:cNvSpPr txBox="1"/>
          <p:nvPr/>
        </p:nvSpPr>
        <p:spPr>
          <a:xfrm>
            <a:off x="6958584" y="1645920"/>
            <a:ext cx="1563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Messages, photos, stickers, settings</a:t>
            </a:r>
            <a:endParaRPr lang="en-US" sz="1400" dirty="0"/>
          </a:p>
        </p:txBody>
      </p:sp>
      <p:sp>
        <p:nvSpPr>
          <p:cNvPr id="18" name="Card 450"/>
          <p:cNvSpPr/>
          <p:nvPr/>
        </p:nvSpPr>
        <p:spPr>
          <a:xfrm>
            <a:off x="457200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 451"/>
          <p:cNvSpPr/>
          <p:nvPr/>
        </p:nvSpPr>
        <p:spPr>
          <a:xfrm>
            <a:off x="621792" y="297180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452"/>
          <p:cNvSpPr txBox="1"/>
          <p:nvPr/>
        </p:nvSpPr>
        <p:spPr>
          <a:xfrm>
            <a:off x="621792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453"/>
          <p:cNvSpPr txBox="1"/>
          <p:nvPr/>
        </p:nvSpPr>
        <p:spPr>
          <a:xfrm>
            <a:off x="1078992" y="2971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own backup only</a:t>
            </a:r>
            <a:endParaRPr lang="en-US" sz="1400" dirty="0"/>
          </a:p>
        </p:txBody>
      </p:sp>
      <p:sp>
        <p:nvSpPr>
          <p:cNvPr id="22" name="Text 454"/>
          <p:cNvSpPr txBox="1"/>
          <p:nvPr/>
        </p:nvSpPr>
        <p:spPr>
          <a:xfrm>
            <a:off x="621792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Needs your passphrase. It can't break into anyone else's messages.</a:t>
            </a:r>
            <a:endParaRPr lang="en-US" sz="1400" dirty="0"/>
          </a:p>
        </p:txBody>
      </p:sp>
      <p:sp>
        <p:nvSpPr>
          <p:cNvPr id="23" name="Card 455"/>
          <p:cNvSpPr/>
          <p:nvPr/>
        </p:nvSpPr>
        <p:spPr>
          <a:xfrm>
            <a:off x="3264408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456"/>
          <p:cNvSpPr/>
          <p:nvPr/>
        </p:nvSpPr>
        <p:spPr>
          <a:xfrm>
            <a:off x="3429000" y="297180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457"/>
          <p:cNvSpPr txBox="1"/>
          <p:nvPr/>
        </p:nvSpPr>
        <p:spPr>
          <a:xfrm>
            <a:off x="34290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458"/>
          <p:cNvSpPr txBox="1"/>
          <p:nvPr/>
        </p:nvSpPr>
        <p:spPr>
          <a:xfrm>
            <a:off x="3886200" y="2971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Made around 2021</a:t>
            </a:r>
            <a:endParaRPr lang="en-US" sz="1400" dirty="0"/>
          </a:p>
        </p:txBody>
      </p:sp>
      <p:sp>
        <p:nvSpPr>
          <p:cNvPr id="27" name="Text 459"/>
          <p:cNvSpPr txBox="1"/>
          <p:nvPr/>
        </p:nvSpPr>
        <p:spPr>
          <a:xfrm>
            <a:off x="3429000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Newer Signal versions may create backups it can't read.</a:t>
            </a:r>
            <a:endParaRPr lang="en-US" sz="1400" dirty="0"/>
          </a:p>
        </p:txBody>
      </p:sp>
      <p:sp>
        <p:nvSpPr>
          <p:cNvPr id="28" name="Card 460"/>
          <p:cNvSpPr/>
          <p:nvPr/>
        </p:nvSpPr>
        <p:spPr>
          <a:xfrm>
            <a:off x="6071616" y="283464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 461"/>
          <p:cNvSpPr/>
          <p:nvPr/>
        </p:nvSpPr>
        <p:spPr>
          <a:xfrm>
            <a:off x="6236208" y="297180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462"/>
          <p:cNvSpPr txBox="1"/>
          <p:nvPr/>
        </p:nvSpPr>
        <p:spPr>
          <a:xfrm>
            <a:off x="6236208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31" name="Text 463"/>
          <p:cNvSpPr txBox="1"/>
          <p:nvPr/>
        </p:nvSpPr>
        <p:spPr>
          <a:xfrm>
            <a:off x="6693408" y="2971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 is unencrypted</a:t>
            </a:r>
            <a:endParaRPr lang="en-US" sz="1400" dirty="0"/>
          </a:p>
        </p:txBody>
      </p:sp>
      <p:sp>
        <p:nvSpPr>
          <p:cNvPr id="32" name="Text 464"/>
          <p:cNvSpPr txBox="1"/>
          <p:nvPr/>
        </p:nvSpPr>
        <p:spPr>
          <a:xfrm>
            <a:off x="6236208" y="3429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it private and delete it when you're done.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Steps 1–2: Get the Backup</a:t>
            </a:r>
            <a:endParaRPr lang="en-US" sz="3200" dirty="0"/>
          </a:p>
        </p:txBody>
      </p:sp>
      <p:sp>
        <p:nvSpPr>
          <p:cNvPr id="3" name="Card 465"/>
          <p:cNvSpPr/>
          <p:nvPr/>
        </p:nvSpPr>
        <p:spPr>
          <a:xfrm>
            <a:off x="457200" y="114300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 466"/>
          <p:cNvSpPr/>
          <p:nvPr/>
        </p:nvSpPr>
        <p:spPr>
          <a:xfrm>
            <a:off x="640080" y="129844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467"/>
          <p:cNvSpPr txBox="1"/>
          <p:nvPr/>
        </p:nvSpPr>
        <p:spPr>
          <a:xfrm>
            <a:off x="64008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68"/>
          <p:cNvSpPr txBox="1"/>
          <p:nvPr/>
        </p:nvSpPr>
        <p:spPr>
          <a:xfrm>
            <a:off x="118872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Create it on your phone</a:t>
            </a:r>
            <a:endParaRPr lang="en-US" sz="1700" dirty="0"/>
          </a:p>
        </p:txBody>
      </p:sp>
      <p:sp>
        <p:nvSpPr>
          <p:cNvPr id="7" name="Text 469"/>
          <p:cNvSpPr txBox="1"/>
          <p:nvPr/>
        </p:nvSpPr>
        <p:spPr>
          <a:xfrm>
            <a:off x="640080" y="187452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Signal: profile picture → Settings → Chats → Chat backups → Turn 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Write the 30-digit passphrase on paper. Without it nobody can unlock the backup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Tap Create backup and wait; lots of media can take hours</a:t>
            </a:r>
            <a:endParaRPr lang="en-US" sz="1400" dirty="0"/>
          </a:p>
        </p:txBody>
      </p:sp>
      <p:sp>
        <p:nvSpPr>
          <p:cNvPr id="8" name="Card 470"/>
          <p:cNvSpPr/>
          <p:nvPr/>
        </p:nvSpPr>
        <p:spPr>
          <a:xfrm>
            <a:off x="4754880" y="114300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471"/>
          <p:cNvSpPr/>
          <p:nvPr/>
        </p:nvSpPr>
        <p:spPr>
          <a:xfrm>
            <a:off x="4937760" y="129844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472"/>
          <p:cNvSpPr txBox="1"/>
          <p:nvPr/>
        </p:nvSpPr>
        <p:spPr>
          <a:xfrm>
            <a:off x="493776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473"/>
          <p:cNvSpPr txBox="1"/>
          <p:nvPr/>
        </p:nvSpPr>
        <p:spPr>
          <a:xfrm>
            <a:off x="5486400" y="1298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Copy it to the PC</a:t>
            </a:r>
            <a:endParaRPr lang="en-US" sz="1700" dirty="0"/>
          </a:p>
        </p:txBody>
      </p:sp>
      <p:sp>
        <p:nvSpPr>
          <p:cNvPr id="12" name="Text 474"/>
          <p:cNvSpPr txBox="1"/>
          <p:nvPr/>
        </p:nvSpPr>
        <p:spPr>
          <a:xfrm>
            <a:off x="4937760" y="187452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Connect with USB and choose File transfer on the phone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Open the backup folder shown on Signal's Chat backups screen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Copy signal-YYYY-MM-DD-….backup to C:\Users\HP\Downloads\signal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Steps 3–5: Prepare the Tool</a:t>
            </a:r>
            <a:endParaRPr lang="en-US" sz="3200" dirty="0"/>
          </a:p>
        </p:txBody>
      </p:sp>
      <p:sp>
        <p:nvSpPr>
          <p:cNvPr id="3" name="Terminal 475"/>
          <p:cNvSpPr/>
          <p:nvPr/>
        </p:nvSpPr>
        <p:spPr>
          <a:xfrm>
            <a:off x="457200" y="109728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476"/>
          <p:cNvSpPr/>
          <p:nvPr/>
        </p:nvSpPr>
        <p:spPr>
          <a:xfrm>
            <a:off x="603504" y="12070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477"/>
          <p:cNvSpPr/>
          <p:nvPr/>
        </p:nvSpPr>
        <p:spPr>
          <a:xfrm>
            <a:off x="758952" y="12070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478"/>
          <p:cNvSpPr/>
          <p:nvPr/>
        </p:nvSpPr>
        <p:spPr>
          <a:xfrm>
            <a:off x="914400" y="12070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79"/>
          <p:cNvSpPr txBox="1"/>
          <p:nvPr/>
        </p:nvSpPr>
        <p:spPr>
          <a:xfrm>
            <a:off x="1143000" y="116128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8" name="Code 480"/>
          <p:cNvSpPr txBox="1"/>
          <p:nvPr/>
        </p:nvSpPr>
        <p:spPr>
          <a:xfrm>
            <a:off x="621792" y="1426464"/>
            <a:ext cx="795528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check your tools (Parts 6, 7, 10)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--version        # must be 3.7 or newer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--version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clone the tool (Parts 11-12)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cd ~\Downloads\signal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git clone https://github.com/mossblaser/signal_for_android_decryption.git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cd signal_for_android_decryption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5: environment + dependencies (Part 9)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-m venv .venv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.venv\Scripts\Activate.ps1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pip install -r requirements.txt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6: Run It</a:t>
            </a:r>
            <a:endParaRPr lang="en-US" sz="3200" dirty="0"/>
          </a:p>
        </p:txBody>
      </p:sp>
      <p:sp>
        <p:nvSpPr>
          <p:cNvPr id="3" name="Terminal 48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482"/>
          <p:cNvSpPr/>
          <p:nvPr/>
        </p:nvSpPr>
        <p:spPr>
          <a:xfrm>
            <a:off x="603504" y="120700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Dot 483"/>
          <p:cNvSpPr/>
          <p:nvPr/>
        </p:nvSpPr>
        <p:spPr>
          <a:xfrm>
            <a:off x="758952" y="12070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ot 484"/>
          <p:cNvSpPr/>
          <p:nvPr/>
        </p:nvSpPr>
        <p:spPr>
          <a:xfrm>
            <a:off x="914400" y="120700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de 485"/>
          <p:cNvSpPr txBox="1"/>
          <p:nvPr/>
        </p:nvSpPr>
        <p:spPr>
          <a:xfrm>
            <a:off x="621792" y="1426464"/>
            <a:ext cx="7955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python decrypt_backup.py ..\signal-YYYY-...backup ..\unlocked</a:t>
            </a:r>
            <a:endParaRPr lang="en-US" sz="1400" dirty="0"/>
          </a:p>
        </p:txBody>
      </p:sp>
      <p:sp>
        <p:nvSpPr>
          <p:cNvPr id="8" name="Card 486"/>
          <p:cNvSpPr/>
          <p:nvPr/>
        </p:nvSpPr>
        <p:spPr>
          <a:xfrm>
            <a:off x="457200" y="21488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487"/>
          <p:cNvSpPr txBox="1"/>
          <p:nvPr/>
        </p:nvSpPr>
        <p:spPr>
          <a:xfrm>
            <a:off x="45720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decrypt_backup.py</a:t>
            </a:r>
            <a:endParaRPr lang="en-US" sz="1200" dirty="0"/>
          </a:p>
        </p:txBody>
      </p:sp>
      <p:sp>
        <p:nvSpPr>
          <p:cNvPr id="10" name="Text 488"/>
          <p:cNvSpPr txBox="1"/>
          <p:nvPr/>
        </p:nvSpPr>
        <p:spPr>
          <a:xfrm>
            <a:off x="502920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Python script to run</a:t>
            </a:r>
            <a:endParaRPr lang="en-US" sz="1400" dirty="0"/>
          </a:p>
        </p:txBody>
      </p:sp>
      <p:sp>
        <p:nvSpPr>
          <p:cNvPr id="11" name="Card 489"/>
          <p:cNvSpPr/>
          <p:nvPr/>
        </p:nvSpPr>
        <p:spPr>
          <a:xfrm>
            <a:off x="3264408" y="21488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490"/>
          <p:cNvSpPr txBox="1"/>
          <p:nvPr/>
        </p:nvSpPr>
        <p:spPr>
          <a:xfrm>
            <a:off x="3264408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..\signal-….backup</a:t>
            </a:r>
            <a:endParaRPr lang="en-US" sz="1200" dirty="0"/>
          </a:p>
        </p:txBody>
      </p:sp>
      <p:sp>
        <p:nvSpPr>
          <p:cNvPr id="13" name="Text 491"/>
          <p:cNvSpPr txBox="1"/>
          <p:nvPr/>
        </p:nvSpPr>
        <p:spPr>
          <a:xfrm>
            <a:off x="3310128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Input: .. means one folder up, where you saved the backup</a:t>
            </a:r>
            <a:endParaRPr lang="en-US" sz="1400" dirty="0"/>
          </a:p>
        </p:txBody>
      </p:sp>
      <p:sp>
        <p:nvSpPr>
          <p:cNvPr id="14" name="Card 492"/>
          <p:cNvSpPr/>
          <p:nvPr/>
        </p:nvSpPr>
        <p:spPr>
          <a:xfrm>
            <a:off x="6071616" y="21488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493"/>
          <p:cNvSpPr txBox="1"/>
          <p:nvPr/>
        </p:nvSpPr>
        <p:spPr>
          <a:xfrm>
            <a:off x="6071616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..\unlocked</a:t>
            </a:r>
            <a:endParaRPr lang="en-US" sz="1200" dirty="0"/>
          </a:p>
        </p:txBody>
      </p:sp>
      <p:sp>
        <p:nvSpPr>
          <p:cNvPr id="16" name="Text 494"/>
          <p:cNvSpPr txBox="1"/>
          <p:nvPr/>
        </p:nvSpPr>
        <p:spPr>
          <a:xfrm>
            <a:off x="6117336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Output: the folder the tool will fill with your data</a:t>
            </a:r>
            <a:endParaRPr lang="en-US" sz="1400" dirty="0"/>
          </a:p>
        </p:txBody>
      </p:sp>
      <p:sp>
        <p:nvSpPr>
          <p:cNvPr id="17" name="Card 495"/>
          <p:cNvSpPr/>
          <p:nvPr/>
        </p:nvSpPr>
        <p:spPr>
          <a:xfrm>
            <a:off x="45720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496"/>
          <p:cNvSpPr txBox="1"/>
          <p:nvPr/>
        </p:nvSpPr>
        <p:spPr>
          <a:xfrm>
            <a:off x="640080" y="3657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Passphrase prompt</a:t>
            </a:r>
            <a:endParaRPr lang="en-US" sz="1600" dirty="0"/>
          </a:p>
        </p:txBody>
      </p:sp>
      <p:sp>
        <p:nvSpPr>
          <p:cNvPr id="19" name="Text 497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Type your 30 digits (spaces optional), press Enter</a:t>
            </a:r>
            <a:endParaRPr lang="en-US" sz="1400" dirty="0"/>
          </a:p>
        </p:txBody>
      </p:sp>
      <p:sp>
        <p:nvSpPr>
          <p:cNvPr id="20" name="Card 498"/>
          <p:cNvSpPr/>
          <p:nvPr/>
        </p:nvSpPr>
        <p:spPr>
          <a:xfrm>
            <a:off x="466344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499"/>
          <p:cNvSpPr txBox="1"/>
          <p:nvPr/>
        </p:nvSpPr>
        <p:spPr>
          <a:xfrm>
            <a:off x="484632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 ..\sig and press Tab to auto-complete the long file name.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Steps 7–8: Explore and Clean Up</a:t>
            </a:r>
            <a:endParaRPr lang="en-US" sz="3200" dirty="0"/>
          </a:p>
        </p:txBody>
      </p:sp>
      <p:graphicFrame>
        <p:nvGraphicFramePr>
          <p:cNvPr id="32" name="Table 5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212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you'll find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database.sqlite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messages and metadata. Open with DB Browser for SQLite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attachments\*.bin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Photos, videos, files. Rename to .jpg / .mp4 to open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stickers\, avatars\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Stickers and profile pictures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preferences.json, key_value.json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settings. Open in Notepad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rminal 501"/>
          <p:cNvSpPr/>
          <p:nvPr/>
        </p:nvSpPr>
        <p:spPr>
          <a:xfrm>
            <a:off x="5943600" y="1143000"/>
            <a:ext cx="274320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 502"/>
          <p:cNvSpPr/>
          <p:nvPr/>
        </p:nvSpPr>
        <p:spPr>
          <a:xfrm>
            <a:off x="6089904" y="125272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Dot 503"/>
          <p:cNvSpPr/>
          <p:nvPr/>
        </p:nvSpPr>
        <p:spPr>
          <a:xfrm>
            <a:off x="6245352" y="12527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ot 504"/>
          <p:cNvSpPr/>
          <p:nvPr/>
        </p:nvSpPr>
        <p:spPr>
          <a:xfrm>
            <a:off x="6400800" y="1252728"/>
            <a:ext cx="91440" cy="91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05"/>
          <p:cNvSpPr txBox="1"/>
          <p:nvPr/>
        </p:nvSpPr>
        <p:spPr>
          <a:xfrm>
            <a:off x="6629400" y="12070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1000" dirty="0"/>
          </a:p>
        </p:txBody>
      </p:sp>
      <p:sp>
        <p:nvSpPr>
          <p:cNvPr id="9" name="Code 506"/>
          <p:cNvSpPr txBox="1"/>
          <p:nvPr/>
        </p:nvSpPr>
        <p:spPr>
          <a:xfrm>
            <a:off x="6108192" y="1472184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cd ..\unlocked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explorer .</a:t>
            </a:r>
            <a:endParaRPr lang="en-US" sz="1100" dirty="0"/>
          </a:p>
        </p:txBody>
      </p:sp>
      <p:sp>
        <p:nvSpPr>
          <p:cNvPr id="10" name="Card 507"/>
          <p:cNvSpPr/>
          <p:nvPr/>
        </p:nvSpPr>
        <p:spPr>
          <a:xfrm>
            <a:off x="5943600" y="2651760"/>
            <a:ext cx="27432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 508"/>
          <p:cNvSpPr/>
          <p:nvPr/>
        </p:nvSpPr>
        <p:spPr>
          <a:xfrm>
            <a:off x="6108192" y="2788920"/>
            <a:ext cx="347472" cy="3474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509"/>
          <p:cNvSpPr txBox="1"/>
          <p:nvPr/>
        </p:nvSpPr>
        <p:spPr>
          <a:xfrm>
            <a:off x="6108192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13" name="Text 510"/>
          <p:cNvSpPr txBox="1"/>
          <p:nvPr/>
        </p:nvSpPr>
        <p:spPr>
          <a:xfrm>
            <a:off x="6565392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up</a:t>
            </a:r>
            <a:endParaRPr lang="en-US" sz="1600" dirty="0"/>
          </a:p>
        </p:txBody>
      </p:sp>
      <p:sp>
        <p:nvSpPr>
          <p:cNvPr id="14" name="Text 511"/>
          <p:cNvSpPr txBox="1"/>
          <p:nvPr/>
        </p:nvSpPr>
        <p:spPr>
          <a:xfrm>
            <a:off x="6108192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deactivate. When finished, delete the unlocked folder and empty the Recycle Bin. The data is unprotected.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Troubleshooting</a:t>
            </a:r>
            <a:endParaRPr lang="en-US" sz="3200" dirty="0"/>
          </a:p>
        </p:txBody>
      </p:sp>
      <p:graphicFrame>
        <p:nvGraphicFramePr>
          <p:cNvPr id="33" name="Table 5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731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python / git “not recognized”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on PATH: reinstall with PATH ticked, reopen the terminal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python opens the Microsoft Store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Turn off App execution aliases in Settings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“running scripts is disabled”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Set-ExecutionPolicy -Scope CurrentUser RemoteSigned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ModuleNotFoundError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Activate .venv, rerun pip install -r requirements.txt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 such file or directory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Wrong path: check with pwd and ls, use Tab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Passphrase / MAC error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Wrong passphrase: re-check every digit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Crashes partway through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Backup newer than the 2021 tool: check Issues, or try signalbackup-tools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You Now Understand</a:t>
            </a:r>
            <a:endParaRPr lang="en-US" sz="3200" dirty="0"/>
          </a:p>
        </p:txBody>
      </p:sp>
      <p:sp>
        <p:nvSpPr>
          <p:cNvPr id="3" name="Badge 513"/>
          <p:cNvSpPr/>
          <p:nvPr/>
        </p:nvSpPr>
        <p:spPr>
          <a:xfrm>
            <a:off x="457200" y="11795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514"/>
          <p:cNvSpPr txBox="1"/>
          <p:nvPr/>
        </p:nvSpPr>
        <p:spPr>
          <a:xfrm>
            <a:off x="457200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515"/>
          <p:cNvSpPr txBox="1"/>
          <p:nvPr/>
        </p:nvSpPr>
        <p:spPr>
          <a:xfrm>
            <a:off x="960120" y="11430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Python is interpreted: bytecode run by the PVM in python.exe</a:t>
            </a:r>
            <a:endParaRPr lang="en-US" sz="1400" dirty="0"/>
          </a:p>
        </p:txBody>
      </p:sp>
      <p:sp>
        <p:nvSpPr>
          <p:cNvPr id="6" name="Badge 516"/>
          <p:cNvSpPr/>
          <p:nvPr/>
        </p:nvSpPr>
        <p:spPr>
          <a:xfrm>
            <a:off x="457200" y="1929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17"/>
          <p:cNvSpPr txBox="1"/>
          <p:nvPr/>
        </p:nvSpPr>
        <p:spPr>
          <a:xfrm>
            <a:off x="45720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518"/>
          <p:cNvSpPr txBox="1"/>
          <p:nvPr/>
        </p:nvSpPr>
        <p:spPr>
          <a:xfrm>
            <a:off x="960120" y="18928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Unlike C or Java: dynamic types, indentation, quicker to write</a:t>
            </a:r>
            <a:endParaRPr lang="en-US" sz="1400" dirty="0"/>
          </a:p>
        </p:txBody>
      </p:sp>
      <p:sp>
        <p:nvSpPr>
          <p:cNvPr id="9" name="Badge 519"/>
          <p:cNvSpPr/>
          <p:nvPr/>
        </p:nvSpPr>
        <p:spPr>
          <a:xfrm>
            <a:off x="457200" y="26791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20"/>
          <p:cNvSpPr txBox="1"/>
          <p:nvPr/>
        </p:nvSpPr>
        <p:spPr>
          <a:xfrm>
            <a:off x="45720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521"/>
          <p:cNvSpPr txBox="1"/>
          <p:nvPr/>
        </p:nvSpPr>
        <p:spPr>
          <a:xfrm>
            <a:off x="960120" y="26426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Windows needs Python installed; it has no interpreter</a:t>
            </a:r>
            <a:endParaRPr lang="en-US" sz="1400" dirty="0"/>
          </a:p>
        </p:txBody>
      </p:sp>
      <p:sp>
        <p:nvSpPr>
          <p:cNvPr id="12" name="Badge 522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523"/>
          <p:cNvSpPr txBox="1"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524"/>
          <p:cNvSpPr txBox="1"/>
          <p:nvPr/>
        </p:nvSpPr>
        <p:spPr>
          <a:xfrm>
            <a:off x="960120" y="339242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PATH: the folders Windows searches for commands</a:t>
            </a:r>
            <a:endParaRPr lang="en-US" sz="1400" dirty="0"/>
          </a:p>
        </p:txBody>
      </p:sp>
      <p:sp>
        <p:nvSpPr>
          <p:cNvPr id="15" name="Badge 525"/>
          <p:cNvSpPr/>
          <p:nvPr/>
        </p:nvSpPr>
        <p:spPr>
          <a:xfrm>
            <a:off x="4754880" y="11795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526"/>
          <p:cNvSpPr txBox="1"/>
          <p:nvPr/>
        </p:nvSpPr>
        <p:spPr>
          <a:xfrm>
            <a:off x="4754880" y="1179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527"/>
          <p:cNvSpPr txBox="1"/>
          <p:nvPr/>
        </p:nvSpPr>
        <p:spPr>
          <a:xfrm>
            <a:off x="5257800" y="11430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 a file: python file.py arg1 arg2 → sys.argv</a:t>
            </a:r>
            <a:endParaRPr lang="en-US" sz="1400" dirty="0"/>
          </a:p>
        </p:txBody>
      </p:sp>
      <p:sp>
        <p:nvSpPr>
          <p:cNvPr id="18" name="Badge 528"/>
          <p:cNvSpPr/>
          <p:nvPr/>
        </p:nvSpPr>
        <p:spPr>
          <a:xfrm>
            <a:off x="4754880" y="1929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529"/>
          <p:cNvSpPr txBox="1"/>
          <p:nvPr/>
        </p:nvSpPr>
        <p:spPr>
          <a:xfrm>
            <a:off x="475488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530"/>
          <p:cNvSpPr txBox="1"/>
          <p:nvPr/>
        </p:nvSpPr>
        <p:spPr>
          <a:xfrm>
            <a:off x="5257800" y="189280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pip + requirements.txt install dependencies; venv isolates them</a:t>
            </a:r>
            <a:endParaRPr lang="en-US" sz="1400" dirty="0"/>
          </a:p>
        </p:txBody>
      </p:sp>
      <p:sp>
        <p:nvSpPr>
          <p:cNvPr id="21" name="Badge 531"/>
          <p:cNvSpPr/>
          <p:nvPr/>
        </p:nvSpPr>
        <p:spPr>
          <a:xfrm>
            <a:off x="4754880" y="267919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532"/>
          <p:cNvSpPr txBox="1"/>
          <p:nvPr/>
        </p:nvSpPr>
        <p:spPr>
          <a:xfrm>
            <a:off x="475488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533"/>
          <p:cNvSpPr txBox="1"/>
          <p:nvPr/>
        </p:nvSpPr>
        <p:spPr>
          <a:xfrm>
            <a:off x="5257800" y="264261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 tracks versions; GitHub hosts them; clone copies, pull updates</a:t>
            </a:r>
            <a:endParaRPr lang="en-US" sz="1400" dirty="0"/>
          </a:p>
        </p:txBody>
      </p:sp>
      <p:sp>
        <p:nvSpPr>
          <p:cNvPr id="24" name="Badge 534"/>
          <p:cNvSpPr/>
          <p:nvPr/>
        </p:nvSpPr>
        <p:spPr>
          <a:xfrm>
            <a:off x="4754880" y="3429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535"/>
          <p:cNvSpPr txBox="1"/>
          <p:nvPr/>
        </p:nvSpPr>
        <p:spPr>
          <a:xfrm>
            <a:off x="47548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536"/>
          <p:cNvSpPr txBox="1"/>
          <p:nvPr/>
        </p:nvSpPr>
        <p:spPr>
          <a:xfrm>
            <a:off x="5257800" y="339242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After cloning: cd → README → venv → install → run</a:t>
            </a:r>
            <a:endParaRPr lang="en-US" sz="1400" dirty="0"/>
          </a:p>
        </p:txBody>
      </p:sp>
      <p:sp>
        <p:nvSpPr>
          <p:cNvPr id="27" name="Text 53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From “what is Python?” to running a real open-source tool.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 Lesson">
  <a:themeElements>
    <a:clrScheme name="Terminal Lesson">
      <a:dk1>
        <a:srgbClr val="161B26"/>
      </a:dk1>
      <a:lt1>
        <a:srgbClr val="FFFFFF"/>
      </a:lt1>
      <a:dk2>
        <a:srgbClr val="2B3445"/>
      </a:dk2>
      <a:lt2>
        <a:srgbClr val="EEF1F5"/>
      </a:lt2>
      <a:accent1>
        <a:srgbClr val="FFD43B"/>
      </a:accent1>
      <a:accent2>
        <a:srgbClr val="306998"/>
      </a:accent2>
      <a:accent3>
        <a:srgbClr val="2A9D8F"/>
      </a:accent3>
      <a:accent4>
        <a:srgbClr val="E76F51"/>
      </a:accent4>
      <a:accent5>
        <a:srgbClr val="8E9AAF"/>
      </a:accent5>
      <a:accent6>
        <a:srgbClr val="6C5CE7"/>
      </a:accent6>
      <a:hlink>
        <a:srgbClr val="306998"/>
      </a:hlink>
      <a:folHlink>
        <a:srgbClr val="6C5CE7"/>
      </a:folHlink>
    </a:clrScheme>
    <a:fontScheme name="Terminal Less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Zero to Running Code</dc:title>
  <dc:subject>PptxGenJS Presentation</dc:subject>
  <dc:creator>Lesson</dc:creator>
  <cp:lastModifiedBy>Lesson</cp:lastModifiedBy>
  <cp:revision>1</cp:revision>
  <dcterms:created xsi:type="dcterms:W3CDTF">2026-10-06T05:08:09Z</dcterms:created>
  <dcterms:modified xsi:type="dcterms:W3CDTF">2026-10-06T05:08:09Z</dcterms:modified>
</cp:coreProperties>
</file>